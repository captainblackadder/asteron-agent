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charts/chart1.xml" ContentType="application/vnd.openxmlformats-officedocument.drawingml.chart+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2.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charts/chart3.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4.xml" ContentType="application/vnd.openxmlformats-officedocument.drawingml.chart+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Volume (lakh)</c:v>
                </c:pt>
              </c:strCache>
            </c:strRef>
          </c:tx>
          <c:spPr>
            <a:solidFill>
              <a:srgbClr val="A100FF"/>
            </a:solidFill>
            <a:effectLst/>
          </c:spPr>
          <c:invertIfNegative val="0"/>
          <c:dLbls>
            <c:numFmt formatCode="0.0" sourceLinked="0"/>
            <c:txPr>
              <a:bodyPr/>
              <a:lstStyle/>
              <a:p>
                <a:pPr>
                  <a:defRPr b="0" i="0" strike="noStrike" sz="1200" u="none">
                    <a:solidFill>
                      <a:srgbClr val="2A0A45"/>
                    </a:solidFill>
                    <a:latin typeface="Arial"/>
                  </a:defRPr>
                </a:pPr>
              </a:p>
            </c:txPr>
            <c:showLegendKey val="0"/>
            <c:showVal val="1"/>
            <c:showCatName val="0"/>
            <c:showSerName val="0"/>
            <c:showPercent val="0"/>
            <c:showBubbleSize val="0"/>
            <c:showLeaderLines val="0"/>
          </c:dLbls>
          <c:cat>
            <c:multiLvlStrRef>
              <c:f>Sheet1!$A$2:$A$8</c:f>
              <c:multiLvlStrCache>
                <c:ptCount val="7"/>
                <c:lvl>
                  <c:pt idx="0">
                    <c:v>Retail</c:v>
                  </c:pt>
                  <c:pt idx="1">
                    <c:v>Booking</c:v>
                  </c:pt>
                  <c:pt idx="2">
                    <c:v>Test drive</c:v>
                  </c:pt>
                  <c:pt idx="3">
                    <c:v>Showroom</c:v>
                  </c:pt>
                  <c:pt idx="4">
                    <c:v>Contacted</c:v>
                  </c:pt>
                  <c:pt idx="5">
                    <c:v>Qualified</c:v>
                  </c:pt>
                  <c:pt idx="6">
                    <c:v>Leads</c:v>
                  </c:pt>
                </c:lvl>
              </c:multiLvlStrCache>
            </c:multiLvlStrRef>
          </c:cat>
          <c:val>
            <c:numRef>
              <c:f>Sheet1!$B$2:$B$8</c:f>
              <c:numCache>
                <c:formatCode>General</c:formatCode>
                <c:ptCount val="7"/>
                <c:pt idx="0">
                  <c:v>2.17</c:v>
                </c:pt>
                <c:pt idx="1">
                  <c:v>2.47</c:v>
                </c:pt>
                <c:pt idx="2">
                  <c:v>6.5</c:v>
                </c:pt>
                <c:pt idx="3">
                  <c:v>9.55</c:v>
                </c:pt>
                <c:pt idx="4">
                  <c:v>16.47</c:v>
                </c:pt>
                <c:pt idx="5">
                  <c:v>18.72</c:v>
                </c:pt>
                <c:pt idx="6">
                  <c:v>24</c:v>
                </c:pt>
              </c:numCache>
            </c:numRef>
          </c:val>
        </c:ser>
        <c:dLbls>
          <c:numFmt formatCode="0.0" sourceLinked="0"/>
          <c:txPr>
            <a:bodyPr/>
            <a:lstStyle/>
            <a:p>
              <a:pPr>
                <a:defRPr b="0" i="0" strike="noStrike" sz="1200" u="none">
                  <a:solidFill>
                    <a:srgbClr val="2A0A45"/>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3A3838"/>
                </a:solidFill>
                <a:latin typeface="Arial"/>
              </a:defRPr>
            </a:pPr>
            <a:endParaRPr lang="en-US"/>
          </a:p>
        </c:txPr>
        <c:crossAx val="2094734552"/>
        <c:crosses val="autoZero"/>
        <c:auto val="1"/>
        <c:lblAlgn val="ctr"/>
        <c:noMultiLvlLbl val="1"/>
      </c:catAx>
      <c:valAx>
        <c:axId val="2094734552"/>
        <c:scaling>
          <c:orientation val="minMax"/>
          <c:max val="27"/>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Units</c:v>
                </c:pt>
              </c:strCache>
            </c:strRef>
          </c:tx>
          <c:spPr>
            <a:solidFill>
              <a:srgbClr val="C98CFF">
                <a:alpha val="100000"/>
              </a:srgbClr>
            </a:solidFill>
            <a:effectLst/>
          </c:spPr>
          <c:invertIfNegative val="0"/>
          <c:dLbls>
            <c:numFmt formatCode="#,##0" sourceLinked="0"/>
            <c:txPr>
              <a:bodyPr/>
              <a:lstStyle/>
              <a:p>
                <a:pPr>
                  <a:defRPr b="0" i="0" strike="noStrike" sz="1200" u="none">
                    <a:solidFill>
                      <a:srgbClr val="2A0A45"/>
                    </a:solidFill>
                    <a:latin typeface="Arial"/>
                  </a:defRPr>
                </a:pPr>
              </a:p>
            </c:txPr>
            <c:showLegendKey val="0"/>
            <c:showVal val="1"/>
            <c:showCatName val="0"/>
            <c:showSerName val="0"/>
            <c:showPercent val="0"/>
            <c:showBubbleSize val="0"/>
            <c:showLeaderLines val="0"/>
          </c:dLbls>
          <c:dPt>
            <c:idx val="0"/>
            <c:invertIfNegative val="0"/>
            <c:bubble3D val="0"/>
            <c:spPr>
              <a:solidFill>
                <a:srgbClr val="C98CFF"/>
              </a:solidFill>
              <a:effectLst/>
            </c:spPr>
          </c:dPt>
          <c:dPt>
            <c:idx val="1"/>
            <c:invertIfNegative val="0"/>
            <c:bubble3D val="0"/>
            <c:spPr>
              <a:solidFill>
                <a:srgbClr val="6A00B8"/>
              </a:solidFill>
              <a:effectLst/>
            </c:spPr>
          </c:dPt>
          <c:dPt>
            <c:idx val="2"/>
            <c:invertIfNegative val="0"/>
            <c:bubble3D val="0"/>
            <c:spPr>
              <a:solidFill>
                <a:srgbClr val="A100FF"/>
              </a:solidFill>
              <a:effectLst/>
            </c:spPr>
          </c:dPt>
          <c:cat>
            <c:multiLvlStrRef>
              <c:f>Sheet1!$A$2:$A$4</c:f>
              <c:multiLvlStrCache>
                <c:ptCount val="3"/>
                <c:lvl>
                  <c:pt idx="0">
                    <c:v>Contact rate (process)</c:v>
                  </c:pt>
                  <c:pt idx="1">
                    <c:v>Showroom 58→65%</c:v>
                  </c:pt>
                  <c:pt idx="2">
                    <c:v>TD→booking 38→44%</c:v>
                  </c:pt>
                </c:lvl>
              </c:multiLvlStrCache>
            </c:multiLvlStrRef>
          </c:cat>
          <c:val>
            <c:numRef>
              <c:f>Sheet1!$B$2:$B$4</c:f>
              <c:numCache>
                <c:formatCode>General</c:formatCode>
                <c:ptCount val="3"/>
                <c:pt idx="0">
                  <c:v>17300</c:v>
                </c:pt>
                <c:pt idx="1">
                  <c:v>26200</c:v>
                </c:pt>
                <c:pt idx="2">
                  <c:v>34300</c:v>
                </c:pt>
              </c:numCache>
            </c:numRef>
          </c:val>
        </c:ser>
        <c:dLbls>
          <c:numFmt formatCode="#,##0" sourceLinked="0"/>
          <c:txPr>
            <a:bodyPr/>
            <a:lstStyle/>
            <a:p>
              <a:pPr>
                <a:defRPr b="0" i="0" strike="noStrike" sz="1200" u="none">
                  <a:solidFill>
                    <a:srgbClr val="2A0A45"/>
                  </a:solidFill>
                  <a:latin typeface="Arial"/>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3A3838"/>
                </a:solidFill>
                <a:latin typeface="Arial"/>
              </a:defRPr>
            </a:pPr>
            <a:endParaRPr lang="en-US"/>
          </a:p>
        </c:txPr>
        <c:crossAx val="2094734552"/>
        <c:crosses val="autoZero"/>
        <c:auto val="1"/>
        <c:lblAlgn val="ctr"/>
        <c:noMultiLvlLbl val="1"/>
      </c:catAx>
      <c:valAx>
        <c:axId val="2094734552"/>
        <c:scaling>
          <c:orientation val="minMax"/>
          <c:max val="4000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 of onboarded outlets active weekly</c:v>
                </c:pt>
              </c:strCache>
            </c:strRef>
          </c:tx>
          <c:spPr>
            <a:solidFill>
              <a:srgbClr val="A100FF"/>
            </a:solidFill>
            <a:ln w="38100" cap="flat">
              <a:solidFill>
                <a:srgbClr val="A100FF"/>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5"/>
            <c:spPr>
              <a:solidFill>
                <a:srgbClr val="A100FF"/>
              </a:solidFill>
              <a:ln w="9525" cap="flat">
                <a:solidFill>
                  <a:srgbClr val="A100FF"/>
                </a:solidFill>
                <a:prstDash val="solid"/>
                <a:round/>
              </a:ln>
              <a:effectLst/>
            </c:spPr>
          </c:marker>
          <c:cat>
            <c:multiLvlStrRef>
              <c:f>Sheet1!$A$2:$A$13</c:f>
              <c:multiLvlStrCache>
                <c:ptCount val="12"/>
                <c:lvl>
                  <c:pt idx="0">
                    <c:v>Q1</c:v>
                  </c:pt>
                  <c:pt idx="1">
                    <c:v>Q2</c:v>
                  </c:pt>
                  <c:pt idx="2">
                    <c:v>Q3</c:v>
                  </c:pt>
                  <c:pt idx="3">
                    <c:v>Q4</c:v>
                  </c:pt>
                  <c:pt idx="4">
                    <c:v>Q5</c:v>
                  </c:pt>
                  <c:pt idx="5">
                    <c:v>Q6</c:v>
                  </c:pt>
                  <c:pt idx="6">
                    <c:v>Q7</c:v>
                  </c:pt>
                  <c:pt idx="7">
                    <c:v>Q8</c:v>
                  </c:pt>
                  <c:pt idx="8">
                    <c:v>Q9</c:v>
                  </c:pt>
                  <c:pt idx="9">
                    <c:v>Q10</c:v>
                  </c:pt>
                  <c:pt idx="10">
                    <c:v>Q11</c:v>
                  </c:pt>
                  <c:pt idx="11">
                    <c:v>Q12</c:v>
                  </c:pt>
                </c:lvl>
              </c:multiLvlStrCache>
            </c:multiLvlStrRef>
          </c:cat>
          <c:val>
            <c:numRef>
              <c:f>Sheet1!$B$2:$B$13</c:f>
              <c:numCache>
                <c:formatCode>General</c:formatCode>
                <c:ptCount val="12"/>
                <c:pt idx="0">
                  <c:v>34</c:v>
                </c:pt>
                <c:pt idx="1">
                  <c:v>38</c:v>
                </c:pt>
                <c:pt idx="2">
                  <c:v>50</c:v>
                </c:pt>
                <c:pt idx="3">
                  <c:v>65</c:v>
                </c:pt>
                <c:pt idx="4">
                  <c:v>70</c:v>
                </c:pt>
                <c:pt idx="5">
                  <c:v>74</c:v>
                </c:pt>
                <c:pt idx="6">
                  <c:v>78</c:v>
                </c:pt>
                <c:pt idx="7">
                  <c:v>80</c:v>
                </c:pt>
                <c:pt idx="8">
                  <c:v>86</c:v>
                </c:pt>
                <c:pt idx="9">
                  <c:v>90</c:v>
                </c:pt>
                <c:pt idx="10">
                  <c:v>93</c:v>
                </c:pt>
                <c:pt idx="11">
                  <c:v>95</c:v>
                </c:pt>
              </c:numCache>
            </c:numRef>
          </c:val>
          <c:smooth val="1"/>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3A3838"/>
                </a:solidFill>
                <a:latin typeface="Arial"/>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6350" cap="flat">
              <a:solidFill>
                <a:srgbClr val="DCD4E8"/>
              </a:solidFill>
              <a:prstDash val="solid"/>
              <a:round/>
            </a:ln>
          </c:spPr>
        </c:majorGridlines>
        <c:numFmt formatCode="0&quot;%&quot;"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E6875"/>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Yr-3 contribution (₹ cr)</c:v>
                </c:pt>
              </c:strCache>
            </c:strRef>
          </c:tx>
          <c:spPr>
            <a:solidFill>
              <a:srgbClr val="C98CFF"/>
            </a:solidFill>
            <a:effectLst/>
          </c:spPr>
          <c:invertIfNegative val="0"/>
          <c:dLbls>
            <c:numFmt formatCode="#,##0" sourceLinked="0"/>
            <c:txPr>
              <a:bodyPr/>
              <a:lstStyle/>
              <a:p>
                <a:pPr>
                  <a:defRPr b="0" i="0" strike="noStrike" sz="1200" u="none">
                    <a:solidFill>
                      <a:srgbClr val="2A0A45"/>
                    </a:solidFill>
                    <a:latin typeface="Arial"/>
                  </a:defRPr>
                </a:pPr>
              </a:p>
            </c:txPr>
            <c:showLegendKey val="0"/>
            <c:showVal val="1"/>
            <c:showCatName val="0"/>
            <c:showSerName val="0"/>
            <c:showPercent val="0"/>
            <c:showBubbleSize val="0"/>
            <c:showLeaderLines val="0"/>
          </c:dLbls>
          <c:dPt>
            <c:idx val="0"/>
            <c:invertIfNegative val="0"/>
            <c:bubble3D val="0"/>
            <c:spPr>
              <a:solidFill>
                <a:srgbClr val="C98CFF"/>
              </a:solidFill>
              <a:effectLst/>
            </c:spPr>
          </c:dPt>
          <c:dPt>
            <c:idx val="1"/>
            <c:invertIfNegative val="0"/>
            <c:bubble3D val="0"/>
            <c:spPr>
              <a:solidFill>
                <a:srgbClr val="A100FF"/>
              </a:solidFill>
              <a:effectLst/>
            </c:spPr>
          </c:dPt>
          <c:dPt>
            <c:idx val="2"/>
            <c:invertIfNegative val="0"/>
            <c:bubble3D val="0"/>
            <c:spPr>
              <a:solidFill>
                <a:srgbClr val="6A00B8"/>
              </a:solidFill>
              <a:effectLst/>
            </c:spPr>
          </c:dPt>
          <c:cat>
            <c:multiLvlStrRef>
              <c:f>Sheet1!$A$2:$A$4</c:f>
              <c:multiLvlStrCache>
                <c:ptCount val="3"/>
                <c:lvl>
                  <c:pt idx="0">
                    <c:v>80% adoption</c:v>
                  </c:pt>
                  <c:pt idx="1">
                    <c:v>Base · flat market</c:v>
                  </c:pt>
                  <c:pt idx="2">
                    <c:v>Market +5%/yr</c:v>
                  </c:pt>
                </c:lvl>
              </c:multiLvlStrCache>
            </c:multiLvlStrRef>
          </c:cat>
          <c:val>
            <c:numRef>
              <c:f>Sheet1!$B$2:$B$4</c:f>
              <c:numCache>
                <c:formatCode>General</c:formatCode>
                <c:ptCount val="3"/>
                <c:pt idx="0">
                  <c:v>810</c:v>
                </c:pt>
                <c:pt idx="1">
                  <c:v>943</c:v>
                </c:pt>
                <c:pt idx="2">
                  <c:v>1090</c:v>
                </c:pt>
              </c:numCache>
            </c:numRef>
          </c:val>
        </c:ser>
        <c:dLbls>
          <c:numFmt formatCode="#,##0" sourceLinked="0"/>
          <c:txPr>
            <a:bodyPr/>
            <a:lstStyle/>
            <a:p>
              <a:pPr>
                <a:defRPr b="0" i="0" strike="noStrike" sz="1200" u="none">
                  <a:solidFill>
                    <a:srgbClr val="2A0A45"/>
                  </a:solidFill>
                  <a:latin typeface="Arial"/>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3A3838"/>
                </a:solidFill>
                <a:latin typeface="Arial"/>
              </a:defRPr>
            </a:pPr>
            <a:endParaRPr lang="en-US"/>
          </a:p>
        </c:txPr>
        <c:crossAx val="2094734552"/>
        <c:crosses val="autoZero"/>
        <c:auto val="1"/>
        <c:lblAlgn val="ctr"/>
        <c:noMultiLvlLbl val="1"/>
      </c:catAx>
      <c:valAx>
        <c:axId val="2094734552"/>
        <c:scaling>
          <c:orientation val="minMax"/>
          <c:max val="125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 — THE ANSWER. Delivery: 60-75 seconds. This slide is a complete stand-alone summary — if a judge only reads this one, they should have the whole argument.
WHY "OPERATING SYSTEM, NOT THE 33rd AI PILOT": the case tells us Asteron already ran 32 AI initiatives across 11 vendors and got 4 verified wins. Presenting a 33rd tool would be the single most dangerous thing we could do. "Operating system" signals the unit of change is the whole system, not another point tool.
THE FUNNEL CHART — how every number is built, stage by stage (all from case Exhibit 1b):
Leads 24,00,000 -&gt; x78% qualified = 18,72,000 -&gt; x88% dealer-contacted = 16,47,360 -&gt; x58% showroom visit = 9,55,469 -&gt; x68% test drive = 6,49,719 -&gt; x38% booking = 2,46,893 -&gt; x88% booking-to-retail = 2,17,266 final retail sales. End-to-end conversion = 2,17,266 / 24,00,000 = 9.05%. If asked "why test-drive-to-booking and not the bigger absolute drop at contacted-to-showroom (6.9 lakh lost vs 4.0 lakh lost)": test-drivers are the most expensive, most qualified prospects Asteron has already paid to acquire twice over (via marketing, then via a physical drive), so per rupee of prior investment this is the more valuable leak to fix.
THE FIVE STAT-STRIP NUMBERS:
- 13.0% share = 11.2% baseline + 1.8 percentage points (pp) of committed gain (bridge is fully built out on Slide 7).
- &gt;2.5% dealer margin = recovery target from today's 1.6%. Note: the case says margin WAS 2.8% two years ago. We deliberately target above 2.5%, not a full return to 2.8% — 2.5% is "enough to fund the experience," not a promise to recreate pre-competition conditions that may not return. This is a defensible, conservative choice — say so if asked why not 2.8%.
- 95% weekly active outlets, from today's 34% (case-stated) — an adoption commitment, not an aspiration; see Slide 5 for how it's engineered.
- ₹750 cr = the case's own budget (₹250 cr/yr x 3 years), restated so nobody thinks we invented extra funding.
- 2.2x = cumulative contribution of ₹1,677 cr divided by ₹750 cr spend, rounded down conservatively. Full derivation on Slide 7.
THE FIVE-BLOCK BUILD: only block 03 (the Agent) is AI. Blocks 01, 02, 04 and 05 are the conditions that make AI work — identity data, standardised process, paid/coached adoption, and a proof mechanism. Say explicitly: "two of five blocks are AI; three are why AI works this time and didn't last time."
WHY WE SOFTENED "AT RISK" TO "COMMITTED": ₹85 cr is real money if the pilot fails — calling it "at risk" like a free option undersells the seriousness of the ask to the board. The honest framing is: ₹85 cr (11% of the ₹750 cr programme) is committed before any evidence; the remaining 89% is released only against matched-control proof. This is more defensible under a rigorous financial question and equally reassuring.
IF ASKED "ISN'T THIS A DEALER STRATEGY, NOT A CUSTOMER-GROWTH STRATEGY?": Agreed the customer is the objective — but dealers own the customer relationship (the case says so explicitly) and dealer margin has halved. A dealer at 1.6% margin cannot fund the follow-up, the showroom experience, or the service transparency the customer is asking for. We are not solving FOR the dealer; we are removing the constraint that stops the customer being served.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 — OPERATING MODEL. Delivery: 60-75 seconds. This is the depth slide — it should sound like it comes from someone who has actually redesigned an operating model, not read about one.
WHY THIS SLIDE EXISTS: the case's Reality 3 asks almost word for word: what must change in how Asteron and its dealers choose investments, own outcomes, manage risk, track value and learn from frontline feedback? This slide is a direct, structural answer — decision rights, roles and the dealer boundary move BEFORE any AI is deployed, not alongside it.
ORGANISATION PYRAMID — where each number comes from:
- OEM core = 9 roles = 4 Journey Owners (one each for Enquiry, Purchase, Care, Service — the four domains the case names) + 3 Value Controllers (report to the CFO, not the programme sponsor — this independence is deliberate, explained below) + 2 Platform/Adoption leads.
- 120 Digital Coaches: 1,050 outlets divided by ~9 outlets per coach = a ratio where a coach can realistically be on the floor of every outlet at least monthly.
- 1,050 Dealer Champions: exactly one per outlet, paid by the dealer but certified by Asteron, so every outlet has a local, accountable owner of adoption.
- 420 Reactivation Desks: this equals the case's own count of EV-ready metro outlets — we are re-using an existing case number, not inventing a new one, deliberately overlapping with where Vega will launch.
WHY VALUE CONTROLLERS REPORT TO THE CFO, NOT THE SPONSOR: the case tells us only 36% of the last 32 AI initiatives had a documented baseline. If the people measuring benefit report to the person who championed the project, that is grading your own homework. Structural independence — a finance reporting line — is what fixes that, not a policy statement.
THE FOUR-TIER DECISION GRID — the sorting test in plain words we should actually SAY out loud if asked how a use case gets sorted: "Is it easy to undo a mistake? Would getting it wrong cost customer trust? Is there one clearly correct answer? If any answer is no, a person decides, not the machine." A 16-hour first response fails none of those tests in a way that needs AI — it's a management and staffing failure, which is exactly why it sits in "Fix the process," not "Automate." This is the answer to Reality 2's middle, most commonly skipped question — most teams will only cover "where AI helps" and "where humans decide," and skip "where simpler process change is the better answer."
THE DEALER BOUNDARY (Asteron mandates vs dealers keep): the principle is — standardise what the CUSTOMER notices (response time, data capture, transparency, escalation); leave what the DEALER competes on (price, negotiation, local relationships, staffing) alone. This is deliberately the same argument twice — it is both the governance answer to "enterprise consistency vs dealer autonomy" AND the adoption argument, because naming what we are NOT taking is what earns a dealer's trust that we won't quietly encroach on their business.
ON "RACI" / "TOM": we deliberately kept these off the slide in favour of "clear owners" and "operating-model layers" — the ideas are standard consulting shorthand (RACI = Responsible/Accountable/Consulted/Informed; TOM = Target Operating Model) but a mixed panel with people from finance, engineering or HR backgrounds shouldn't need to know the acronym to follow the logic. If a judge uses the term "RACI" first, it's fine to use it back to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 — FOUNDATIONS. Delivery: 60-75 seconds. This slide answers Reality 1 — proving the two foundational fixes (identity, process) don't require the two-year data programme most teams will assume is needed.
IDENTITY COVERAGE BUILD — exact arithmetic: 38% (today's baseline, case-stated) + 14pp (Rule 1: exact 10-digit mobile number match between CRM and dealer DMS) + 16pp (Rule 2: VIN matched to owner record via workshop job cards) + 7pp (Rule 3: name + PIN code + model match, drawing on finance &amp; insurance records) = 75% by end of Quarter 2. The remaining 25% goes into a manual review queue worked by the outlet champion — not abandoned, just handled by a person rather than an automated rule. These specific uplift numbers (14/16/7) are a team-modelled estimate based on typical match-rate improvements from each data source, not case-given figures — say so plainly if pressed: "these are our modelled estimates for what each linkage rule typically recovers; we will calibrate them against real data in Q1."
IMPORTANT NUANCE — WHAT "WE LINK IDENTITY ONLY" ACTUALLY MEANS, AND WHY IT MATTERS: our match engine reads from the dealer's own CRM, DMS and workshop systems (that's where mobile numbers and VINs live). This could sound like we are centralising the dealer's data — a dealer's customer list is their single biggest competitive asset, and OEM-vs-dealer data ownership is one of the most sensitive live issues in this industry. Be precise here: we are NOT copying the dealer's commercial records (their deal terms, their local prospect list, their margins) into a central database. We are building an INDEX — a pointer that says "this enquiry, this test drive and this service visit belong to the same person" — which lets us route the right information to the right consultant. The underlying commercial data stays where it is. This is why the slide now explicitly separates "identity" from "commerce," and why we've added a DPDP reference: the Digital Personal Data Protection Act (India, 2023) requires clear consent for exactly this kind of data linkage, and our design is opt-in at first customer contact, governed by a charter dealers help write — not something imposed on them. If a judge pushes on this, this is the single most important paragraph in the whole deck to get right, because it is the most realistic, most likely real-world objection a dealer principal or a data-privacy-literate judge will raise.
FOUR JOURNEY STANDARDS AND THEIR CLOCKS (15 min / same day / 48 hrs / per visit): these clocks are team design choices, not figures from the case — we set them at levels that are operationally realistic for an outlet-based network while still representing a large improvement over today's 16-hour average first response. Be ready to defend the 15-minute enquiry-acknowledgement clock specifically — it doesn't mean a human calls in 15 minutes, it means the system acknowledges receipt and queues it; the human follow-up SLA is the separate 24-hour scorecard metric.
WEEKLY SCORECARD numbers (68-&gt;98% contacted in 24 hrs, 58-&gt;90% record completeness, 34-&gt;90% outcome captured): baselines are case-stated; targets are team-set ambitions chosen to be aggressive but plausible within a quarter of network-wide rollout, because this is a process/management fix, not a technology build — it should move fast. The claim "worth +17,300 units a year" comes from the contact-rate improvement alone (88%-&gt;95%), carried through the rest of the funnel — full working is on Slide 7's notes.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4 — THE AGENT. Delivery: 75-90 seconds — this is the slide the submission rules make mandatory, so take the time. Demo recording plays alongside or right after this slide.
THE SEVEN-STEP WORKFLOW IN PLAIN LANGUAGE (say this out loud, it is the clearest explanation of what the agent does): "A customer test-drives a car and doesn't book. The agent joins that event to their phone number and any workshop history it can find (Resolve). It works out why the drive didn't convert — a finance question, an exchange-value concern, mention of a competitor, or simply no follow-up at all (Detect). It writes a short briefing note for a human consultant — never a decision, just useful context (Assemble). It finds a slot in the golden 48-hour window and books a human call (Sequence). At that point a person takes over completely and owns the price, the exchange, the negotiation and the close (the human Gate). The same system also runs a second, separate journey — reminding and re-engaging customers whose service is due (Reactivate) — and every single action it takes is written to a log with a named owner (Log)."
WHY THE WARM END, NOT THE FRONT DOOR (the most contestable choice in the whole deck — defend it actively if challenged): the obvious first instinct is to put AI at the 16-hour-response problem, because it's the most visible number in the case exhibits. We deliberately did not. A slow first response is a management and staffing failure — fixable with a scorecard and a manager who cares, which is exactly what Slide 3's process fix does, credited at +17,300 units. Spending AI budget there would be solving a discipline problem with a technology solution. What the warm end genuinely needs is DISCRIMINATION at a scale no human team can do manually — working out which of 6.5 lakh test-drivers is finance-constrained versus exchange-blocked versus comparing a named rival, inside a 48-hour window. That is a real inference problem, and it's where a model earns its cost.
THE UNITS BRIDGE ON THIS SLIDE (chart values: +34,300 from test-drive-to-booking, +26,200 from showroom-visit rate, +17,300 from contact rate — total theoretical +77,800; "we bank +45,000" after a -32,800 haircut): this exact bridge, with every line of arithmetic behind it, is fully worked out in the Slide 7 notes — read those before Q&amp;A, because this is the number most likely to be probed line by line.
THE "30-40 MINUTES A DAY" CLAIM — IMPORTANT HONESTY POINT: we changed this from "measured in the pilot" to "an early estimate, to be confirmed in the Q2 pilot." The programme hasn't launched yet, so nothing has actually been measured — claiming it as already-measured evidence is a small but real overstatement that an alert judge could catch and use to question everything else in the deck. The corrected, honest version still does its job: it's the single sentence that will determine whether a sales consultant actually opens the tool, because nobody adopts a system because it lifts corporate market share — they adopt it because it gives them their afternoon back.
THE ABSTAIN LIST AND THE REFUSAL DEMO: every item on the "never" list (price, discount, exchange valuation, negotiation, complaints, delivery, credit, staffing) is drawn directly from the case's own language about decisions that depend on trusted human relationships — quoting the case's boundary back to the jury is what earns permission for everything else the agent does. The demo should show TWO runs: one happy-path conversion, and one where the agent detects a hardship or complaint signal and refuses to act, routing immediately to a person. The refusal is the more persuasive thirty seconds of the whole presentation — anyone can demo a capability; showing a system decline to act proves the boundary is real, not a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5 — ADOPTION. Delivery: 60-75 seconds. This slide exists because the case gives us a specific failure statistic — 34% weekly user adoption — not "34% of value delivered." The last ₹225 cr programme mostly failed because people didn't use what was built, not because the technology didn't work. If we don't have a slide answering this, we haven't actually answered the case.
THE ADOPTION S-CURVE (34 -&gt; 38 -&gt; 50 -&gt; 65 -&gt; 70 -&gt; 74 -&gt; 78 -&gt; 80 -&gt; 86 -&gt; 90 -&gt; 93 -&gt; 95% across twelve quarters): this is a MODELLED trajectory, not a case-given number — it follows the classic shape of technology adoption (slow start, fast middle, plateau near saturation), calibrated so it clears our own committed gate floors at the right points: 65% by Q4 (Gate 2), 80% by Q8 (Gate 3), 95% by Q12 (Gate 4). Gate 1 at Q2 carries no adoption-percentage floor of its own — it is a readiness gate (see Slide 6), not a usage gate. IMPORTANT LABELLING NOTE: this curve measures the percentage of ALREADY-ONBOARDED outlets that are weekly active — NOT the percentage of the full 1,050-outlet network. Outlets onboarded (19% / 57% / 100% across Y1/Y2/Y3, per Slide 7) and weekly-active-of-onboarded (65% / 80% / 95%) are two different denominators. The true NETWORK-WIDE weekly-active figure is the product of the two: roughly 12% in Y1 (19% x 65%), 46% in Y2 (57% x 80%), and 95% in Y3 (100% x 95%, since onboarding is complete by then — this is why the two measures converge only at the end). If asked "why does the chart show 65% in Year 1 when only 19% of outlets are even onboarded," this is the answer: the chart tracks engagement AMONG outlets that have already gone live, which is the correct way to measure whether the ones we've trained are actually using the system — network-wide reach is a separate, slower-moving number, shown on Slide 7.
WHY LEAD PRIORITY, NOT LEAD EXCLUSIVITY — an important correction from an earlier draft: we changed the language so that Gold-certified outlets get PRIORITY on OEM digital leads in their catchment, while every outlet — including lower-tier and financially weaker ones — keeps its baseline lead flow regardless of certification status. The reason this distinction matters: 27% of Asteron's outlets are already losing money on new-vehicle sales. If certification were read as an all-or-nothing gate that could cut off leads entirely, our own adoption engine would accelerate exactly the dealer-network collapse the whole strategy is trying to reverse. Priority-not-exclusivity keeps the incentive real (certified outlets do better) without punishing the outlets that most need support.
TRAINING HOURS BY ROLE (12 / 10 / 24 / 6 hours): these are proportional to how much a role's day-to-day work changes. A consultant learns to work a new queue and capture outcomes (12h). A service advisor learns a narrower single journey (10h). A Dealer Champion needs to be able to teach everyone else, so they get the deepest course (24h). A principal doesn't operate the tool at all — they need to understand what it does to their P&amp;L, so 6 hours is deliberately short and commercial, not technical.
THE "70/20/10" LEARNING SPLIT: 70% learned in-flow on real, live leads; 20% floor-coached by the Champion; 10% classroom. This is a standard, well-evidenced learning-design principle, and it also happens to be the only training model a dealer principal will actually agree to — pulling a consultant off the floor for a multi-day course costs the dealer real money and guarantees resistance.
ON THE OBJECTIONS TABLE — WHY THE ANSWERS CHANGED: the previous version said flatly "dealer data stays with the dealer," which directly contradicted the fact that our own identity match engine reads from the dealer's CRM and DMS (see Slide 3 notes for the full explanation). The corrected answer — "we link identity only; deal terms and prospects stay with you" — is the precise, defensible version and must be kept consistent with Slide 3's wording if asked about it there too. Similarly, "40 minutes a day back, measured in the pilot" was corrected to an honest estimate pending confirmation, since the pilot hasn't run yet.
THE ADOPTION-DEBT MECHANISM: an outlet below 60% weekly active use for two consecutive quarters loses enablement funding until recertified. Every incentive system needs a genuine downside or it is simply a giveaway — two quarters, not one, is a fair warning period rather than a trap.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6 — ROADMAP &amp; CAPITAL. Delivery: 60-75 seconds. This slide's job is to make the board's downside feel small and the upside feel earned, not assumed.
CAPITAL RELEASE SCHEDULE ARITHMETIC: ₹85 cr committed at the start (Q1-Q2, funds the build and the 40-outlet pilot) + ₹165 cr released at Gate 1 (Q4, funds Wave 1's 200 outlets) + ₹250 cr released at Gate 2 (Q8, funds Wave 2's 600 outlets and the Vega launch) + ₹250 cr released at Gate 3/4 (funds Wave 3's full 1,050-outlet network and hand-over) = ₹85+165+250+250 = ₹750 cr exactly, matching the case's own three-year budget. The point to say out loud: "Only ₹85 crore — 11% of the total — is committed before we have any proof it works. Everything else is released against evidence."
WHY GATE 1 AND GATE 2 ARE DIFFERENT TESTS — an important correction from an earlier draft: Gate 1 used to carry the same conversion-and-margin test as Gate 2, but that is not realistic — Gate 1 falls in Q2, the SAME quarter the 40-outlet pilot launches, so there hasn't been time to generate a statistically readable conversion delta or move a dealer margin. Gate 1 is now a READINESS gate: are both journeys actually live, are the 40 pilot and 40 control outlets matched and baselined, are at least 70% of pilot consultants certified. Passing this unlocks the ₹165 cr for Wave 1 (200 outlets) — a scale-up on operational proof, not yet a proven result. Gate 2, at Q4, is the PERFORMANCE gate: by then the pilot cohort (plus early Wave 1 outlets) has had two full quarters to generate a real read, so THIS is where we test "cohort beats controls by ≥3pp test-drive conversion and margin ≥1.9%" — our full three-year target is +6pp of conversion improvement (38%-&gt;44%), so achieving half of that by Q4 is demanding but achievable, not a token gate. The margin threshold (1.9%) sits slightly BELOW the full Year 1 target of 2.0% deliberately, so a small, explainable miss doesn't kill an otherwise-working programme, while a real miss still stops Wave 2 (and with it, the ₹250 cr commitment to Vega).
BUDGET ALLOCATION TABLE — how each year sums to exactly ₹250 cr: Year 1 = ₹80 cr (foundations/process) + ₹55 cr (agent platform) + ₹35 cr (adoption engine) + ₹30 cr (dealer co-investment) + ₹50 cr (care, vendors, value office, loyalty combined) = ₹250 cr. Year 2 = ₹40+₹80+₹45+₹50+₹35 = ₹250 cr. Year 3 = ₹20+₹75+₹35+₹50+₹70 = ₹250 cr. The shape of the shift — foundations spend falls from ₹80 cr to ₹20 cr while loyalty/EV-aftersales spend rises from ₹50 cr to ₹70 cr — visually tells the "foundation first, compounding value later" story without needing a word of explanation.
WHY VENDOR CONSOLIDATION MATTERS (11 vendors down to 4 by Quarter 6): the case tells us 32 AI initiatives ran across 11 different vendors — that fragmentation is part of why nobody could get a clean, comparable read on value. Fewer vendors also means fewer integration points for the identity spine to maintain.
WHY VEGA LAUNCHES "ON THE NEW MODEL, NOT BESIDE IT" (Q5-Q6, matching the case's stated 15-month timeline): launching Asteron's compact EV on the old, fragmented operating model while the new one runs in parallel would tell every dealer in the network that the new system is optional. Running Vega through the new model from day one is both a forcing function (a fixed external deadline we don't control) and a stress test at peak commercial pressure.
HOW VALUE IS PROVED, NOT CLAIMED — matched control groups explained simply: every wave of outlets going live is compared against a matched set of outlets that look similar (same city tier, similar model mix, similar starting conversion rate) but haven't gone live yet. The benefit we claim is the DIFFERENCE between the two groups, not the live group's before-and-after change — because a before-and-after number can't tell you whether the improvement came from our programme or just a good month in the market. This is the direct, structural fix for a case where only 4 of 32 past initiatives had independently verified benefit.
GATE COMPLIANCE (100%) VS VERIFIED VALUE (12.5% -&gt; 60% target): these are deliberately two different numbers. Gate compliance is a PROCESS rule we can enforce absolutely — every initiative either has an owner, baseline and adoption target, or it doesn't get funded; that can genuinely be 100%. Verified value is an OUTCOME rate we can only try to improve, because no real portfolio of 30-plus initiatives ever bats 1.000. Targeting 60% against today's 12.5% is roughly a five-times improvement — ambitious, but a claim of 100% verified value would tell the jury we don't actually believe in our own governance.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7 — TARGETS, BRIDGE, RISK. Delivery: 75-90 seconds. Because the submission is capped at 7 slides total, THIS NOTE IS THE APPENDIX — a full, line-by-line derivation of every number in the deck. Read this before Q&amp;A; almost every hard question will be answerable directly from what's below.
=== 1. THE BASE UNIT: HOW MANY CARS IS "ONE POINT OF SHARE" ===
Case data: 5,65,000 domestic units sold at 11.2% share. Total addressable market = 5,65,000 / 0.112 = 50,44,643, rounded to 50.4 lakh units. One percentage point of share = 50,44,643 / 100 = 50,446, rounded to a clean 50,400 for all arithmetic in the deck. This 50,400 figure is the single conversion constant used everywhere a "pp of share" is turned into a unit number.
=== 2. THE SHARE-TO-UNIT BRIDGE (+1.8pp, Year 3) ===
+0.9pp funnel conversion = 0.9 x 50,400 = 45,360, rounded to 45,000 — this is the SAME number as the "we bank 45,000" line on Slide 4; the two slides are describing the identical funnel improvement from two angles.
+0.6pp loyalty, care and referral = 0.6 x 50,400 = 30,240, rounded to 30,000 — this comes from combined gains in service retention (46%-&gt;64%), repeat purchase (27%-&gt;35%) and referral, not itemised further at this level of the deck.
+0.3pp Vega-enabled EV volume = stated as 15,700 units. Note the small, deliberate looseness here: pure pp-arithmetic would give 0.3 x 50,400 = 15,120, but the actual Vega number is built bottom-up (see section 6 below) and comes to ~15,700 — close enough to round to the same 0.3pp bucket, but sourced differently. If a judge cross-multiplies and gets a slightly different number, this is why — say so plainly rather than let it look like an error.
Total: 45,000 + 30,000 + 15,700 = 90,700, rounded to 90,720 (the exact 1.8 x 50,400 figure) for headline consistency.
=== 3. WHY YEAR 1/2/3 SHARE TARGETS ARE 11.6% / 12.2% / 13.0% ===
This is a deliberately back-loaded phasing of +0.4pp / +0.6pp / +0.8pp (summing to +1.8pp), matching Reality 1's warning that value is back-loaded and organisations quit before it arrives. Year 1 is smallest because the year is mostly absorbed by foundation-building and the 40-outlet pilot; Year 2 is larger as Wave 1 and Wave 2 scale; Year 3 is largest because the full network is live and loyalty effects compound.
=== 4. WHY DEALER MARGIN TARGETS ARE 2.0% / 2.4% / &gt;2.5%, NOT A RETURN TO 2.8% ===
The case states dealer margin was 2.8% two years ago and has fallen to 1.6% today. We target recovery to ABOVE 2.5%, not all the way back to 2.8%. This is deliberate: 2.5% is set as "sufficient to fund the customer experience we're asking for," a threshold we can defend with the service-and-parts economics in the case. Promising a full return to a historical peak achieved under different competitive conditions would be over-promising; 2.5% is the more credible, defensible number.
=== 5. THE FULL UNIT BRIDGE FROM 77,800 (THEORETICAL) TO 45,000 (BANKED) ===
Line-by-line, all three funnel improvements applied to the CASE'S OWN stage volumes:
- Test drive -&gt; booking, 38% -&gt; 44% (+6pp), applied to 6,49,719 test drives = 6,49,719 x 0.06 = 38,983 additional bookings; carried through the booking-to-retail rate of 88% = 38,983 x 0.88 = 34,305, rounded to 34,300.
- Showroom visit rate, 58% -&gt; 65% (+7pp), applied to 16,47,360 contacted customers = 16,47,360 x 0.07 = 1,15,315 additional showroom visits; carried through the remaining funnel (test drive 68% x booking 38% x retail 88% = 22.75% combined pull-through) = 1,15,315 x 0.2275 = 26,234, rounded to 26,200.
- Dealer contact rate, 88% -&gt; 95% (+7pp), applied to 18,72,000 qualified leads = 18,72,000 x 0.07 = 1,31,040 additional contacts; carried through the remaining funnel (58% x 68% x 38% x 88% = 13.19% combined pull-through) = 1,31,040 x 0.1319 = 17,284, rounded to 17,300.
Sum: 34,300 + 26,200 + 17,300 = 77,800 — this is the exact "theoretical, whole network" figure on both Slide 4 and Slide 7.
THE HAIRCUT, EXPLAINED PRECISELY (this exact wording matters if challenged, since an earlier draft mislabelled it):
  -28,900 "metro at full effect, rest at ~40%": our strategy concentrates fully on the top-20 metro cities (which the case says carry ~38% of volume and nearly all of the share loss), so those funnel gains land at full strength there. The remaining ~62% of the network still gets a partial pull-through effect — best practices, the process-tier scorecard, and some spillover — modelled at roughly 40% of full effect, not zero. Combined capture rate = (0.38 x 1.00) + (0.62 x 0.40) = 0.38 + 0.248 = 0.628, meaning we capture 62.8% of the theoretical total network-wide. The haircut = 77,800 x (1 - 0.628) = 77,800 x 0.372 = 28,942, rounded to 28,900.
  -2,400 "adoption at 95%, not 100%": even within our metro-concentrated scope, we assume 95% rather than 100% of outlets are actively live when these gains are measured — a further ~5% reduction applied to the metro-scope portion (77,800 x 0.628 = 48,856; x 5% = 2,443, rounded to 2,400).
  -1,500 "conversion realisation": a final, smaller conservatism buffer for measurement noise and attribution uncertainty — the residual needed to land cleanly on the stated 45,000 (77,800 - 28,900 - 2,400 - 1,500 = 45,000 exactly).
THE LINE TO SAY: "We show the number our own maths produces, and we don't claim it. The 32,800-unit gap is the honest price of choosing to concentrate on 20 cities instead of spreading thin across the network."
=== 6. THE VEGA CALCULATION (15,700 UNITS) ===
EV baseline: 5,65,000 domestic units x 7% (case-stated current EV share of sales) = 39,550 units. We model Vega, launching in its first full year (Year 3, since it launches at month 15 per the case), delivering a +40% uplift on that EV base: 39,550 x 0.40 = 15,820, rounded to 15,720 for headline consistency (see section 2). The 40% figure is a team assumption for a new, well-timed compact EV SUV in a growing segment — aggressive but defensible, and should be labelled as our own modelling assumption if asked, not a case-given number. IMPORTANT CAVEAT TO VOLUNTEER: this volume comes substantially from a NEW PRODUCT, not purely from our operating-model changes — if a judge asks "wouldn't you have sold those anyway," the honest answer is that the new operating model is what makes the network EV-ready (420 outlets) and able to capture the launch demand at all; we are not claiming the product itself as our invention, only the readiness to sell it well.
=== 7. RETURN CALCULATION (₹1,677 CR CUMULATIVE, 2.2x) ===
Contribution per unit = ₹1.04 lakh, derived as: average realisation = ₹74,000 cr revenue / 6,40,000 total units sold (case Exhibit 1b) = ₹11.5625 lakh per unit; team-assumed OEM contribution margin of ~9% (a reasonable industry-typical band, and the case explicitly permits "clearly stated, consistently applied assumptions") = ₹11.5625 lakh x 0.09 = ₹1.04 lakh per unit.
Year 1: 20,160 units (0.4pp x 50,400) x ₹1.04 lakh = ₹209.7 cr, rounded to ₹210 cr.
Year 2: 50,400 units (1.0pp x 50,400) x ₹1.04 lakh = ₹524.2 cr, rounded to ₹524 cr.
Year 3: 90,720 units (1.8pp x 50,400) x ₹1.04 lakh = ₹943.5 cr, rounded to ₹943 cr.
Cumulative: 210 + 524 + 943 = ₹1,677 cr. Against ₹750 cr spend: 1,677 / 750 = 2.236, rounded down conservatively to 2.2x.
The ₹943 cr Year 3 figure is a RUN-RATE, meaning it recurs annually once the programme is embedded — it does not stop when the three-year programme ends, which is worth saying explicitly as the "annuity" point.
=== 8. SENSITIVITY SCENARIOS ===
80% adoption shortfall = ₹810 cr: if weekly-active adoption caps at 80% instead of the committed 95%, we do NOT scale the value down purely proportionally (which would give roughly ₹943 x (80/95) = ₹794 cr), because some gains — particularly the process-tier scorecard fixes — don't depend on agent adoption and hold up regardless. ₹810 cr reflects that partial resilience; call this a team-modelled scenario, not a precise formula.
Market +5%/year = ₹1,090 cr: if the underlying passenger-vehicle market itself grows 5% annually, compounding over three years gives a market roughly 1.05^3 = 1.157, or 15.7% larger by Year 3. Applying the same +1.8pp share capture to that larger base: ₹943 cr x 1.157 = ₹1,091 cr, rounded to ₹1,090 cr. Our BASE CASE deliberately assumes a flat market — a conservative choice we should state proactively, since India's PV market has historically grown.
=== 9. OTHER TARGET-TABLE ROWS, BRIEFLY ===
- Outlets onboarded 19% / 57% / 100%: exactly 200 / 600 / 1,050 outlets divided by 1,050 total — ties precisely to the Slide 6 rollout numbers.
- First-contact fix 66% -&gt; 80%: baseline is case-stated; 80% is a team-set ambition, phased evenly, chosen to meaningfully close the gap without claiming an unrealistic ceiling.
- NPS 24 -&gt; 36 against a benchmark of 39: we deliberately do NOT target beating or matching 39. Two reasons: closing the full gap in three years from a materially worse operational starting point isn't credible, and the competitor's own NPS is presumably also improving, not standing still. 36 represents closing roughly two-thirds of TODAY's gap — an honest, non-inflated number.
- Repeat purchase 27% -&gt; 35%: this applies specifically to the roughly 1.9 lakh owners entering their vehicle-replacement cycle in Year 3, NOT to the entire customer base. State this denominator explicitly if asked — it's an easy number to accidentally misstate as applying to everyone.
- Initiatives verified 12.5% -&gt; 60%: baseline is exactly 4 of 32 past pilots (case-stated); the target trajectory (35% -&gt; 50% -&gt; 60%) is a team-modelled ramp reflecting the gates and control-group discipline taking hold progressively, not immediately.
=== 10. CLOSING LINE ===
"The largest risk is repeating the last programme — many initiatives, no proven value. Gates, matched controls, and a CFO-owned ledger exist to prevent exactly that." This is deliberately both the deck's final claim and its first design principle — say it as the close.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chart" Target="/ppt/charts/chart1.xml"/><Relationship Id="rId1" Type="http://schemas.openxmlformats.org/officeDocument/2006/relationships/image" Target="../media/image-1-1.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2" Type="http://schemas.openxmlformats.org/officeDocument/2006/relationships/chart" Target="/ppt/charts/chart2.xml"/><Relationship Id="rId1" Type="http://schemas.openxmlformats.org/officeDocument/2006/relationships/image" Target="../media/image-4-1.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2" Type="http://schemas.openxmlformats.org/officeDocument/2006/relationships/chart" Target="/ppt/charts/chart3.xml"/><Relationship Id="rId1" Type="http://schemas.openxmlformats.org/officeDocument/2006/relationships/image" Target="../media/image-5-1.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2" Type="http://schemas.openxmlformats.org/officeDocument/2006/relationships/chart" Target="/ppt/charts/chart4.xml"/><Relationship Id="rId1" Type="http://schemas.openxmlformats.org/officeDocument/2006/relationships/image" Target="../media/image-7-1.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137160" y="155448"/>
            <a:ext cx="1874520" cy="41148"/>
          </a:xfrm>
          <a:prstGeom prst="rect">
            <a:avLst/>
          </a:prstGeom>
          <a:solidFill>
            <a:srgbClr val="2A0A45"/>
          </a:solidFill>
          <a:ln w="12700">
            <a:solidFill>
              <a:srgbClr val="333333"/>
            </a:solidFill>
            <a:prstDash val="solid"/>
          </a:ln>
        </p:spPr>
      </p:sp>
      <p:sp>
        <p:nvSpPr>
          <p:cNvPr id="3" name="Shape 1"/>
          <p:cNvSpPr/>
          <p:nvPr/>
        </p:nvSpPr>
        <p:spPr>
          <a:xfrm>
            <a:off x="137160" y="246888"/>
            <a:ext cx="1453896" cy="41148"/>
          </a:xfrm>
          <a:prstGeom prst="rect">
            <a:avLst/>
          </a:prstGeom>
          <a:solidFill>
            <a:srgbClr val="2A0A45"/>
          </a:solidFill>
          <a:ln w="12700">
            <a:solidFill>
              <a:srgbClr val="333333"/>
            </a:solidFill>
            <a:prstDash val="solid"/>
          </a:ln>
        </p:spPr>
      </p:sp>
      <p:sp>
        <p:nvSpPr>
          <p:cNvPr id="4" name="Shape 2"/>
          <p:cNvSpPr/>
          <p:nvPr/>
        </p:nvSpPr>
        <p:spPr>
          <a:xfrm>
            <a:off x="137160" y="338328"/>
            <a:ext cx="1874520" cy="41148"/>
          </a:xfrm>
          <a:prstGeom prst="rect">
            <a:avLst/>
          </a:prstGeom>
          <a:solidFill>
            <a:srgbClr val="2A0A45"/>
          </a:solidFill>
          <a:ln w="12700">
            <a:solidFill>
              <a:srgbClr val="333333"/>
            </a:solidFill>
            <a:prstDash val="solid"/>
          </a:ln>
        </p:spPr>
      </p:sp>
      <p:sp>
        <p:nvSpPr>
          <p:cNvPr id="5" name="Shape 3"/>
          <p:cNvSpPr/>
          <p:nvPr/>
        </p:nvSpPr>
        <p:spPr>
          <a:xfrm>
            <a:off x="10177272" y="155448"/>
            <a:ext cx="1874520" cy="41148"/>
          </a:xfrm>
          <a:prstGeom prst="rect">
            <a:avLst/>
          </a:prstGeom>
          <a:solidFill>
            <a:srgbClr val="2A0A45"/>
          </a:solidFill>
          <a:ln w="12700">
            <a:solidFill>
              <a:srgbClr val="333333"/>
            </a:solidFill>
            <a:prstDash val="solid"/>
          </a:ln>
        </p:spPr>
      </p:sp>
      <p:sp>
        <p:nvSpPr>
          <p:cNvPr id="6" name="Shape 4"/>
          <p:cNvSpPr/>
          <p:nvPr/>
        </p:nvSpPr>
        <p:spPr>
          <a:xfrm>
            <a:off x="10597896" y="246888"/>
            <a:ext cx="1453896" cy="41148"/>
          </a:xfrm>
          <a:prstGeom prst="rect">
            <a:avLst/>
          </a:prstGeom>
          <a:solidFill>
            <a:srgbClr val="2A0A45"/>
          </a:solidFill>
          <a:ln w="12700">
            <a:solidFill>
              <a:srgbClr val="333333"/>
            </a:solidFill>
            <a:prstDash val="solid"/>
          </a:ln>
        </p:spPr>
      </p:sp>
      <p:sp>
        <p:nvSpPr>
          <p:cNvPr id="7" name="Shape 5"/>
          <p:cNvSpPr/>
          <p:nvPr/>
        </p:nvSpPr>
        <p:spPr>
          <a:xfrm>
            <a:off x="10177272" y="338328"/>
            <a:ext cx="1874520" cy="41148"/>
          </a:xfrm>
          <a:prstGeom prst="rect">
            <a:avLst/>
          </a:prstGeom>
          <a:solidFill>
            <a:srgbClr val="2A0A45"/>
          </a:solidFill>
          <a:ln w="12700">
            <a:solidFill>
              <a:srgbClr val="333333"/>
            </a:solidFill>
            <a:prstDash val="solid"/>
          </a:ln>
        </p:spPr>
      </p:sp>
      <p:sp>
        <p:nvSpPr>
          <p:cNvPr id="8" name="Text 6"/>
          <p:cNvSpPr/>
          <p:nvPr/>
        </p:nvSpPr>
        <p:spPr>
          <a:xfrm>
            <a:off x="2057400" y="0"/>
            <a:ext cx="8092440" cy="530352"/>
          </a:xfrm>
          <a:prstGeom prst="rect">
            <a:avLst/>
          </a:prstGeom>
          <a:noFill/>
          <a:ln/>
        </p:spPr>
        <p:txBody>
          <a:bodyPr wrap="square" lIns="0" tIns="0" rIns="0" bIns="0" rtlCol="0" anchor="ctr"/>
          <a:lstStyle/>
          <a:p>
            <a:pPr algn="ctr" indent="0" marL="0">
              <a:buNone/>
            </a:pPr>
            <a:r>
              <a:rPr lang="en-US" sz="2600" b="1" dirty="0">
                <a:solidFill>
                  <a:srgbClr val="000000"/>
                </a:solidFill>
                <a:latin typeface="Calibri" pitchFamily="34" charset="0"/>
                <a:ea typeface="Calibri" pitchFamily="34" charset="-122"/>
                <a:cs typeface="Calibri" pitchFamily="34" charset="-120"/>
              </a:rPr>
              <a:t>A DEALER OPERATING SYSTEM, NOT THE 33rd AI PILOT</a:t>
            </a:r>
            <a:endParaRPr lang="en-US" sz="2600" dirty="0"/>
          </a:p>
        </p:txBody>
      </p:sp>
      <p:sp>
        <p:nvSpPr>
          <p:cNvPr id="9" name="Text 7"/>
          <p:cNvSpPr/>
          <p:nvPr/>
        </p:nvSpPr>
        <p:spPr>
          <a:xfrm>
            <a:off x="0" y="548640"/>
            <a:ext cx="12191695" cy="310896"/>
          </a:xfrm>
          <a:prstGeom prst="rect">
            <a:avLst/>
          </a:prstGeom>
          <a:solidFill>
            <a:srgbClr val="A100FF"/>
          </a:solid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ASTERON'S CARS COMPETE — ITS DEALER NETWORK CANNOT AFFORD TO SELL THEM. FIX THE TRANSMISSION MECHANISM, THEN SCALE AI ON IT</a:t>
            </a:r>
            <a:endParaRPr lang="en-US" sz="1300" dirty="0"/>
          </a:p>
        </p:txBody>
      </p:sp>
      <p:sp>
        <p:nvSpPr>
          <p:cNvPr id="10" name="Shape 8"/>
          <p:cNvSpPr/>
          <p:nvPr/>
        </p:nvSpPr>
        <p:spPr>
          <a:xfrm>
            <a:off x="0" y="859536"/>
            <a:ext cx="12191695" cy="27432"/>
          </a:xfrm>
          <a:prstGeom prst="rect">
            <a:avLst/>
          </a:prstGeom>
          <a:solidFill>
            <a:srgbClr val="2A0A45"/>
          </a:solidFill>
          <a:ln w="12700">
            <a:solidFill>
              <a:srgbClr val="333333"/>
            </a:solidFill>
            <a:prstDash val="solid"/>
          </a:ln>
        </p:spPr>
      </p:sp>
      <p:sp>
        <p:nvSpPr>
          <p:cNvPr id="11" name="Shape 9"/>
          <p:cNvSpPr/>
          <p:nvPr/>
        </p:nvSpPr>
        <p:spPr>
          <a:xfrm>
            <a:off x="0" y="1783080"/>
            <a:ext cx="12191695" cy="27432"/>
          </a:xfrm>
          <a:prstGeom prst="rect">
            <a:avLst/>
          </a:prstGeom>
          <a:solidFill>
            <a:srgbClr val="2A0A45"/>
          </a:solidFill>
          <a:ln w="12700">
            <a:solidFill>
              <a:srgbClr val="333333"/>
            </a:solidFill>
            <a:prstDash val="solid"/>
          </a:ln>
        </p:spPr>
      </p:sp>
      <p:sp>
        <p:nvSpPr>
          <p:cNvPr id="12" name="Shape 10"/>
          <p:cNvSpPr/>
          <p:nvPr/>
        </p:nvSpPr>
        <p:spPr>
          <a:xfrm>
            <a:off x="0" y="6528816"/>
            <a:ext cx="12191695" cy="329184"/>
          </a:xfrm>
          <a:prstGeom prst="rect">
            <a:avLst/>
          </a:prstGeom>
          <a:solidFill>
            <a:srgbClr val="2A0A45"/>
          </a:solidFill>
          <a:ln w="12700">
            <a:solidFill>
              <a:srgbClr val="333333"/>
            </a:solidFill>
            <a:prstDash val="solid"/>
          </a:ln>
        </p:spPr>
      </p:sp>
      <p:sp>
        <p:nvSpPr>
          <p:cNvPr id="13" name="Text 11"/>
          <p:cNvSpPr/>
          <p:nvPr/>
        </p:nvSpPr>
        <p:spPr>
          <a:xfrm>
            <a:off x="137160" y="6528816"/>
            <a:ext cx="9601200" cy="329184"/>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Team [Name] · IIM Calcutta · Industry &amp; Enterprise track · Agent demo: [paste link]</a:t>
            </a:r>
            <a:endParaRPr lang="en-US" sz="1200" dirty="0"/>
          </a:p>
        </p:txBody>
      </p:sp>
      <p:sp>
        <p:nvSpPr>
          <p:cNvPr id="14" name="Text 12"/>
          <p:cNvSpPr/>
          <p:nvPr/>
        </p:nvSpPr>
        <p:spPr>
          <a:xfrm>
            <a:off x="10789920" y="6528816"/>
            <a:ext cx="1280160" cy="329184"/>
          </a:xfrm>
          <a:prstGeom prst="rect">
            <a:avLst/>
          </a:prstGeom>
          <a:noFill/>
          <a:ln/>
        </p:spPr>
        <p:txBody>
          <a:bodyPr wrap="square" lIns="0" tIns="0" rIns="0" bIns="0" rtlCol="0" anchor="ctr"/>
          <a:lstStyle/>
          <a:p>
            <a:pPr algn="r" indent="0" marL="0">
              <a:buNone/>
            </a:pPr>
            <a:r>
              <a:rPr lang="en-US" sz="1200" dirty="0">
                <a:solidFill>
                  <a:srgbClr val="FFFFFF"/>
                </a:solidFill>
                <a:latin typeface="Calibri" pitchFamily="34" charset="0"/>
                <a:ea typeface="Calibri" pitchFamily="34" charset="-122"/>
                <a:cs typeface="Calibri" pitchFamily="34" charset="-120"/>
              </a:rPr>
              <a:t>1 / 7</a:t>
            </a:r>
            <a:endParaRPr lang="en-US" sz="1200" dirty="0"/>
          </a:p>
        </p:txBody>
      </p:sp>
      <p:sp>
        <p:nvSpPr>
          <p:cNvPr id="15" name="Shape 13"/>
          <p:cNvSpPr/>
          <p:nvPr/>
        </p:nvSpPr>
        <p:spPr>
          <a:xfrm>
            <a:off x="0" y="886968"/>
            <a:ext cx="1938528" cy="896112"/>
          </a:xfrm>
          <a:prstGeom prst="homePlate">
            <a:avLst/>
          </a:prstGeom>
          <a:solidFill>
            <a:srgbClr val="2A0A45"/>
          </a:solidFill>
          <a:ln w="12700">
            <a:solidFill>
              <a:srgbClr val="333333"/>
            </a:solidFill>
            <a:prstDash val="solid"/>
          </a:ln>
        </p:spPr>
      </p:sp>
      <p:pic>
        <p:nvPicPr>
          <p:cNvPr id="16" name="Image 0" descr="preencoded.png">    </p:cNvPr>
          <p:cNvPicPr>
            <a:picLocks noChangeAspect="1"/>
          </p:cNvPicPr>
          <p:nvPr/>
        </p:nvPicPr>
        <p:blipFill>
          <a:blip r:embed="rId1"/>
          <a:stretch>
            <a:fillRect/>
          </a:stretch>
        </p:blipFill>
        <p:spPr>
          <a:xfrm>
            <a:off x="128016" y="1005840"/>
            <a:ext cx="274320" cy="274320"/>
          </a:xfrm>
          <a:prstGeom prst="rect">
            <a:avLst/>
          </a:prstGeom>
        </p:spPr>
      </p:pic>
      <p:sp>
        <p:nvSpPr>
          <p:cNvPr id="17" name="Text 14"/>
          <p:cNvSpPr/>
          <p:nvPr/>
        </p:nvSpPr>
        <p:spPr>
          <a:xfrm>
            <a:off x="457200" y="905256"/>
            <a:ext cx="1325880" cy="859536"/>
          </a:xfrm>
          <a:prstGeom prst="rect">
            <a:avLst/>
          </a:prstGeom>
          <a:noFill/>
          <a:ln/>
        </p:spPr>
        <p:txBody>
          <a:bodyPr wrap="square" lIns="0" tIns="0" rIns="0" bIns="0" rtlCol="0" anchor="ctr"/>
          <a:lstStyle/>
          <a:p>
            <a:pPr indent="0" marL="0">
              <a:lnSpc>
                <a:spcPct val="100000"/>
              </a:lnSpc>
              <a:buNone/>
            </a:pPr>
            <a:r>
              <a:rPr lang="en-US" sz="1200" b="1" dirty="0">
                <a:solidFill>
                  <a:srgbClr val="FFFFFF"/>
                </a:solidFill>
                <a:latin typeface="Calibri" pitchFamily="34" charset="0"/>
                <a:ea typeface="Calibri" pitchFamily="34" charset="-122"/>
                <a:cs typeface="Calibri" pitchFamily="34" charset="-120"/>
              </a:rPr>
              <a:t>THE COMMITMENT</a:t>
            </a:r>
            <a:pPr indent="0" marL="0">
              <a:lnSpc>
                <a:spcPct val="100000"/>
              </a:lnSpc>
              <a:buNone/>
            </a:pPr>
            <a:endParaRPr lang="en-US" sz="1200" dirty="0"/>
          </a:p>
          <a:p>
            <a:pPr indent="0" marL="0">
              <a:lnSpc>
                <a:spcPct val="100000"/>
              </a:lnSpc>
              <a:buNone/>
            </a:pPr>
            <a:r>
              <a:rPr lang="en-US" sz="1200" b="1" dirty="0">
                <a:solidFill>
                  <a:srgbClr val="C98CFF"/>
                </a:solidFill>
                <a:latin typeface="Calibri" pitchFamily="34" charset="0"/>
                <a:ea typeface="Calibri" pitchFamily="34" charset="-122"/>
                <a:cs typeface="Calibri" pitchFamily="34" charset="-120"/>
              </a:rPr>
              <a:t>by Year 3</a:t>
            </a:r>
            <a:endParaRPr lang="en-US" sz="1200" dirty="0"/>
          </a:p>
        </p:txBody>
      </p:sp>
      <p:sp>
        <p:nvSpPr>
          <p:cNvPr id="18" name="Text 15"/>
          <p:cNvSpPr/>
          <p:nvPr/>
        </p:nvSpPr>
        <p:spPr>
          <a:xfrm>
            <a:off x="2011680" y="932688"/>
            <a:ext cx="2011680" cy="384048"/>
          </a:xfrm>
          <a:prstGeom prst="rect">
            <a:avLst/>
          </a:prstGeom>
          <a:noFill/>
          <a:ln/>
        </p:spPr>
        <p:txBody>
          <a:bodyPr wrap="square" lIns="0" tIns="0" rIns="0" bIns="0" rtlCol="0" anchor="ctr"/>
          <a:lstStyle/>
          <a:p>
            <a:pPr algn="ctr" indent="0" marL="0">
              <a:buNone/>
            </a:pPr>
            <a:r>
              <a:rPr lang="en-US" sz="2200" b="1" dirty="0">
                <a:solidFill>
                  <a:srgbClr val="A100FF"/>
                </a:solidFill>
                <a:latin typeface="Calibri" pitchFamily="34" charset="0"/>
                <a:ea typeface="Calibri" pitchFamily="34" charset="-122"/>
                <a:cs typeface="Calibri" pitchFamily="34" charset="-120"/>
              </a:rPr>
              <a:t>13.0%</a:t>
            </a:r>
            <a:endParaRPr lang="en-US" sz="2200" dirty="0"/>
          </a:p>
        </p:txBody>
      </p:sp>
      <p:sp>
        <p:nvSpPr>
          <p:cNvPr id="19" name="Text 16"/>
          <p:cNvSpPr/>
          <p:nvPr/>
        </p:nvSpPr>
        <p:spPr>
          <a:xfrm>
            <a:off x="2011680" y="1316736"/>
            <a:ext cx="2011680" cy="457200"/>
          </a:xfrm>
          <a:prstGeom prst="rect">
            <a:avLst/>
          </a:prstGeom>
          <a:noFill/>
          <a:ln/>
        </p:spPr>
        <p:txBody>
          <a:bodyPr wrap="square" lIns="0" tIns="0" rIns="0" bIns="0" rtlCol="0" anchor="ctr"/>
          <a:lstStyle/>
          <a:p>
            <a:pPr algn="ctr" indent="0" marL="0">
              <a:lnSpc>
                <a:spcPct val="96000"/>
              </a:lnSpc>
              <a:buNone/>
            </a:pPr>
            <a:r>
              <a:rPr lang="en-US" sz="1200" dirty="0">
                <a:solidFill>
                  <a:srgbClr val="3A3838"/>
                </a:solidFill>
                <a:latin typeface="Calibri" pitchFamily="34" charset="0"/>
                <a:ea typeface="Calibri" pitchFamily="34" charset="-122"/>
                <a:cs typeface="Calibri" pitchFamily="34" charset="-120"/>
              </a:rPr>
              <a:t>Market share, from 11.2%</a:t>
            </a:r>
            <a:endParaRPr lang="en-US" sz="1200" dirty="0"/>
          </a:p>
        </p:txBody>
      </p:sp>
      <p:sp>
        <p:nvSpPr>
          <p:cNvPr id="20" name="Text 17"/>
          <p:cNvSpPr/>
          <p:nvPr/>
        </p:nvSpPr>
        <p:spPr>
          <a:xfrm>
            <a:off x="4041648" y="932688"/>
            <a:ext cx="2011680" cy="384048"/>
          </a:xfrm>
          <a:prstGeom prst="rect">
            <a:avLst/>
          </a:prstGeom>
          <a:noFill/>
          <a:ln/>
        </p:spPr>
        <p:txBody>
          <a:bodyPr wrap="square" lIns="0" tIns="0" rIns="0" bIns="0" rtlCol="0" anchor="ctr"/>
          <a:lstStyle/>
          <a:p>
            <a:pPr algn="ctr" indent="0" marL="0">
              <a:buNone/>
            </a:pPr>
            <a:r>
              <a:rPr lang="en-US" sz="2200" b="1" dirty="0">
                <a:solidFill>
                  <a:srgbClr val="A100FF"/>
                </a:solidFill>
                <a:latin typeface="Calibri" pitchFamily="34" charset="0"/>
                <a:ea typeface="Calibri" pitchFamily="34" charset="-122"/>
                <a:cs typeface="Calibri" pitchFamily="34" charset="-120"/>
              </a:rPr>
              <a:t>&gt;2.5%</a:t>
            </a:r>
            <a:endParaRPr lang="en-US" sz="2200" dirty="0"/>
          </a:p>
        </p:txBody>
      </p:sp>
      <p:sp>
        <p:nvSpPr>
          <p:cNvPr id="21" name="Text 18"/>
          <p:cNvSpPr/>
          <p:nvPr/>
        </p:nvSpPr>
        <p:spPr>
          <a:xfrm>
            <a:off x="4041648" y="1316736"/>
            <a:ext cx="2011680" cy="457200"/>
          </a:xfrm>
          <a:prstGeom prst="rect">
            <a:avLst/>
          </a:prstGeom>
          <a:noFill/>
          <a:ln/>
        </p:spPr>
        <p:txBody>
          <a:bodyPr wrap="square" lIns="0" tIns="0" rIns="0" bIns="0" rtlCol="0" anchor="ctr"/>
          <a:lstStyle/>
          <a:p>
            <a:pPr algn="ctr" indent="0" marL="0">
              <a:lnSpc>
                <a:spcPct val="96000"/>
              </a:lnSpc>
              <a:buNone/>
            </a:pPr>
            <a:r>
              <a:rPr lang="en-US" sz="1200" dirty="0">
                <a:solidFill>
                  <a:srgbClr val="3A3838"/>
                </a:solidFill>
                <a:latin typeface="Calibri" pitchFamily="34" charset="0"/>
                <a:ea typeface="Calibri" pitchFamily="34" charset="-122"/>
                <a:cs typeface="Calibri" pitchFamily="34" charset="-120"/>
              </a:rPr>
              <a:t>Dealer margin, from 1.6%</a:t>
            </a:r>
            <a:endParaRPr lang="en-US" sz="1200" dirty="0"/>
          </a:p>
        </p:txBody>
      </p:sp>
      <p:sp>
        <p:nvSpPr>
          <p:cNvPr id="22" name="Text 19"/>
          <p:cNvSpPr/>
          <p:nvPr/>
        </p:nvSpPr>
        <p:spPr>
          <a:xfrm>
            <a:off x="6071616" y="932688"/>
            <a:ext cx="2011680" cy="384048"/>
          </a:xfrm>
          <a:prstGeom prst="rect">
            <a:avLst/>
          </a:prstGeom>
          <a:noFill/>
          <a:ln/>
        </p:spPr>
        <p:txBody>
          <a:bodyPr wrap="square" lIns="0" tIns="0" rIns="0" bIns="0" rtlCol="0" anchor="ctr"/>
          <a:lstStyle/>
          <a:p>
            <a:pPr algn="ctr" indent="0" marL="0">
              <a:buNone/>
            </a:pPr>
            <a:r>
              <a:rPr lang="en-US" sz="2200" b="1" dirty="0">
                <a:solidFill>
                  <a:srgbClr val="A100FF"/>
                </a:solidFill>
                <a:latin typeface="Calibri" pitchFamily="34" charset="0"/>
                <a:ea typeface="Calibri" pitchFamily="34" charset="-122"/>
                <a:cs typeface="Calibri" pitchFamily="34" charset="-120"/>
              </a:rPr>
              <a:t>95%</a:t>
            </a:r>
            <a:endParaRPr lang="en-US" sz="2200" dirty="0"/>
          </a:p>
        </p:txBody>
      </p:sp>
      <p:sp>
        <p:nvSpPr>
          <p:cNvPr id="23" name="Text 20"/>
          <p:cNvSpPr/>
          <p:nvPr/>
        </p:nvSpPr>
        <p:spPr>
          <a:xfrm>
            <a:off x="6071616" y="1316736"/>
            <a:ext cx="2011680" cy="457200"/>
          </a:xfrm>
          <a:prstGeom prst="rect">
            <a:avLst/>
          </a:prstGeom>
          <a:noFill/>
          <a:ln/>
        </p:spPr>
        <p:txBody>
          <a:bodyPr wrap="square" lIns="0" tIns="0" rIns="0" bIns="0" rtlCol="0" anchor="ctr"/>
          <a:lstStyle/>
          <a:p>
            <a:pPr algn="ctr" indent="0" marL="0">
              <a:lnSpc>
                <a:spcPct val="96000"/>
              </a:lnSpc>
              <a:buNone/>
            </a:pPr>
            <a:r>
              <a:rPr lang="en-US" sz="1200" dirty="0">
                <a:solidFill>
                  <a:srgbClr val="3A3838"/>
                </a:solidFill>
                <a:latin typeface="Calibri" pitchFamily="34" charset="0"/>
                <a:ea typeface="Calibri" pitchFamily="34" charset="-122"/>
                <a:cs typeface="Calibri" pitchFamily="34" charset="-120"/>
              </a:rPr>
              <a:t>Of 1,050 outlets in weekly use</a:t>
            </a:r>
            <a:endParaRPr lang="en-US" sz="1200" dirty="0"/>
          </a:p>
        </p:txBody>
      </p:sp>
      <p:sp>
        <p:nvSpPr>
          <p:cNvPr id="24" name="Text 21"/>
          <p:cNvSpPr/>
          <p:nvPr/>
        </p:nvSpPr>
        <p:spPr>
          <a:xfrm>
            <a:off x="8101584" y="932688"/>
            <a:ext cx="2011680" cy="384048"/>
          </a:xfrm>
          <a:prstGeom prst="rect">
            <a:avLst/>
          </a:prstGeom>
          <a:noFill/>
          <a:ln/>
        </p:spPr>
        <p:txBody>
          <a:bodyPr wrap="square" lIns="0" tIns="0" rIns="0" bIns="0" rtlCol="0" anchor="ctr"/>
          <a:lstStyle/>
          <a:p>
            <a:pPr algn="ctr" indent="0" marL="0">
              <a:buNone/>
            </a:pPr>
            <a:r>
              <a:rPr lang="en-US" sz="2200" b="1" dirty="0">
                <a:solidFill>
                  <a:srgbClr val="A100FF"/>
                </a:solidFill>
                <a:latin typeface="Calibri" pitchFamily="34" charset="0"/>
                <a:ea typeface="Calibri" pitchFamily="34" charset="-122"/>
                <a:cs typeface="Calibri" pitchFamily="34" charset="-120"/>
              </a:rPr>
              <a:t>₹750 cr</a:t>
            </a:r>
            <a:endParaRPr lang="en-US" sz="2200" dirty="0"/>
          </a:p>
        </p:txBody>
      </p:sp>
      <p:sp>
        <p:nvSpPr>
          <p:cNvPr id="25" name="Text 22"/>
          <p:cNvSpPr/>
          <p:nvPr/>
        </p:nvSpPr>
        <p:spPr>
          <a:xfrm>
            <a:off x="8101584" y="1316736"/>
            <a:ext cx="2011680" cy="457200"/>
          </a:xfrm>
          <a:prstGeom prst="rect">
            <a:avLst/>
          </a:prstGeom>
          <a:noFill/>
          <a:ln/>
        </p:spPr>
        <p:txBody>
          <a:bodyPr wrap="square" lIns="0" tIns="0" rIns="0" bIns="0" rtlCol="0" anchor="ctr"/>
          <a:lstStyle/>
          <a:p>
            <a:pPr algn="ctr" indent="0" marL="0">
              <a:lnSpc>
                <a:spcPct val="96000"/>
              </a:lnSpc>
              <a:buNone/>
            </a:pPr>
            <a:r>
              <a:rPr lang="en-US" sz="1200" dirty="0">
                <a:solidFill>
                  <a:srgbClr val="3A3838"/>
                </a:solidFill>
                <a:latin typeface="Calibri" pitchFamily="34" charset="0"/>
                <a:ea typeface="Calibri" pitchFamily="34" charset="-122"/>
                <a:cs typeface="Calibri" pitchFamily="34" charset="-120"/>
              </a:rPr>
              <a:t>Released at four evidence gates</a:t>
            </a:r>
            <a:endParaRPr lang="en-US" sz="1200" dirty="0"/>
          </a:p>
        </p:txBody>
      </p:sp>
      <p:sp>
        <p:nvSpPr>
          <p:cNvPr id="26" name="Text 23"/>
          <p:cNvSpPr/>
          <p:nvPr/>
        </p:nvSpPr>
        <p:spPr>
          <a:xfrm>
            <a:off x="10131552" y="932688"/>
            <a:ext cx="1965960" cy="384048"/>
          </a:xfrm>
          <a:prstGeom prst="rect">
            <a:avLst/>
          </a:prstGeom>
          <a:noFill/>
          <a:ln/>
        </p:spPr>
        <p:txBody>
          <a:bodyPr wrap="square" lIns="0" tIns="0" rIns="0" bIns="0" rtlCol="0" anchor="ctr"/>
          <a:lstStyle/>
          <a:p>
            <a:pPr algn="ctr" indent="0" marL="0">
              <a:buNone/>
            </a:pPr>
            <a:r>
              <a:rPr lang="en-US" sz="2200" b="1" dirty="0">
                <a:solidFill>
                  <a:srgbClr val="A100FF"/>
                </a:solidFill>
                <a:latin typeface="Calibri" pitchFamily="34" charset="0"/>
                <a:ea typeface="Calibri" pitchFamily="34" charset="-122"/>
                <a:cs typeface="Calibri" pitchFamily="34" charset="-120"/>
              </a:rPr>
              <a:t>2.2×</a:t>
            </a:r>
            <a:endParaRPr lang="en-US" sz="2200" dirty="0"/>
          </a:p>
        </p:txBody>
      </p:sp>
      <p:sp>
        <p:nvSpPr>
          <p:cNvPr id="27" name="Text 24"/>
          <p:cNvSpPr/>
          <p:nvPr/>
        </p:nvSpPr>
        <p:spPr>
          <a:xfrm>
            <a:off x="10131552" y="1316736"/>
            <a:ext cx="1965960" cy="457200"/>
          </a:xfrm>
          <a:prstGeom prst="rect">
            <a:avLst/>
          </a:prstGeom>
          <a:noFill/>
          <a:ln/>
        </p:spPr>
        <p:txBody>
          <a:bodyPr wrap="square" lIns="0" tIns="0" rIns="0" bIns="0" rtlCol="0" anchor="ctr"/>
          <a:lstStyle/>
          <a:p>
            <a:pPr algn="ctr" indent="0" marL="0">
              <a:lnSpc>
                <a:spcPct val="96000"/>
              </a:lnSpc>
              <a:buNone/>
            </a:pPr>
            <a:r>
              <a:rPr lang="en-US" sz="1200" dirty="0">
                <a:solidFill>
                  <a:srgbClr val="3A3838"/>
                </a:solidFill>
                <a:latin typeface="Calibri" pitchFamily="34" charset="0"/>
                <a:ea typeface="Calibri" pitchFamily="34" charset="-122"/>
                <a:cs typeface="Calibri" pitchFamily="34" charset="-120"/>
              </a:rPr>
              <a:t>Cumulative return, flat market</a:t>
            </a:r>
            <a:endParaRPr lang="en-US" sz="1200" dirty="0"/>
          </a:p>
        </p:txBody>
      </p:sp>
      <p:sp>
        <p:nvSpPr>
          <p:cNvPr id="28" name="Shape 25"/>
          <p:cNvSpPr/>
          <p:nvPr/>
        </p:nvSpPr>
        <p:spPr>
          <a:xfrm>
            <a:off x="4123944" y="1874520"/>
            <a:ext cx="13716" cy="4526280"/>
          </a:xfrm>
          <a:prstGeom prst="rect">
            <a:avLst/>
          </a:prstGeom>
          <a:solidFill>
            <a:srgbClr val="DCD4E8"/>
          </a:solidFill>
          <a:ln w="12700">
            <a:solidFill>
              <a:srgbClr val="333333"/>
            </a:solidFill>
            <a:prstDash val="solid"/>
          </a:ln>
        </p:spPr>
      </p:sp>
      <p:sp>
        <p:nvSpPr>
          <p:cNvPr id="29" name="Shape 26"/>
          <p:cNvSpPr/>
          <p:nvPr/>
        </p:nvSpPr>
        <p:spPr>
          <a:xfrm>
            <a:off x="8174736" y="1874520"/>
            <a:ext cx="13716" cy="4526280"/>
          </a:xfrm>
          <a:prstGeom prst="rect">
            <a:avLst/>
          </a:prstGeom>
          <a:solidFill>
            <a:srgbClr val="DCD4E8"/>
          </a:solidFill>
          <a:ln w="12700">
            <a:solidFill>
              <a:srgbClr val="333333"/>
            </a:solidFill>
            <a:prstDash val="solid"/>
          </a:ln>
        </p:spPr>
      </p:sp>
      <p:sp>
        <p:nvSpPr>
          <p:cNvPr id="30" name="Shape 27"/>
          <p:cNvSpPr/>
          <p:nvPr/>
        </p:nvSpPr>
        <p:spPr>
          <a:xfrm>
            <a:off x="137160" y="1920240"/>
            <a:ext cx="292608" cy="292608"/>
          </a:xfrm>
          <a:prstGeom prst="ellipse">
            <a:avLst/>
          </a:prstGeom>
          <a:solidFill>
            <a:srgbClr val="A100FF"/>
          </a:solidFill>
          <a:ln w="12700">
            <a:solidFill>
              <a:srgbClr val="333333"/>
            </a:solidFill>
            <a:prstDash val="solid"/>
          </a:ln>
        </p:spPr>
      </p:sp>
      <p:sp>
        <p:nvSpPr>
          <p:cNvPr id="31" name="Text 28"/>
          <p:cNvSpPr/>
          <p:nvPr/>
        </p:nvSpPr>
        <p:spPr>
          <a:xfrm>
            <a:off x="137160" y="1920240"/>
            <a:ext cx="292608" cy="29260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32" name="Text 29"/>
          <p:cNvSpPr/>
          <p:nvPr/>
        </p:nvSpPr>
        <p:spPr>
          <a:xfrm>
            <a:off x="521208" y="1929384"/>
            <a:ext cx="3474720" cy="292608"/>
          </a:xfrm>
          <a:prstGeom prst="rect">
            <a:avLst/>
          </a:prstGeom>
          <a:noFill/>
          <a:ln/>
        </p:spPr>
        <p:txBody>
          <a:bodyPr wrap="square" lIns="0" tIns="0" rIns="0" bIns="0" rtlCol="0" anchor="ctr"/>
          <a:lstStyle/>
          <a:p>
            <a:pPr indent="0" marL="0">
              <a:buNone/>
            </a:pPr>
            <a:r>
              <a:rPr lang="en-US" sz="1350" b="1" dirty="0">
                <a:solidFill>
                  <a:srgbClr val="2A0A45"/>
                </a:solidFill>
                <a:latin typeface="Calibri" pitchFamily="34" charset="0"/>
                <a:ea typeface="Calibri" pitchFamily="34" charset="-122"/>
                <a:cs typeface="Calibri" pitchFamily="34" charset="-120"/>
              </a:rPr>
              <a:t>Four symptoms, four root causes</a:t>
            </a:r>
            <a:endParaRPr lang="en-US" sz="1350" dirty="0"/>
          </a:p>
        </p:txBody>
      </p:sp>
      <p:graphicFrame>
        <p:nvGraphicFramePr>
          <p:cNvPr id="2" name="Table 0"/>
          <p:cNvGraphicFramePr>
            <a:graphicFrameLocks noGrp="1"/>
          </p:cNvGraphicFramePr>
          <p:nvPr>
            <p:extLst>
              <p:ext uri="{D42A27DB-BD31-4B8C-83A1-F6EECF244321}">
                <p14:modId xmlns:p14="http://schemas.microsoft.com/office/powerpoint/2010/main" val="1579011935"/>
              </p:ext>
            </p:extLst>
          </p:nvPr>
        </p:nvGraphicFramePr>
        <p:xfrm>
          <a:off x="137160" y="2304288"/>
          <a:ext cx="3904488" cy="914400"/>
        </p:xfrm>
        <a:graphic>
          <a:graphicData uri="http://schemas.openxmlformats.org/drawingml/2006/table">
            <a:tbl>
              <a:tblPr/>
              <a:tblGrid>
                <a:gridCol w="1481328"/>
                <a:gridCol w="2423160"/>
              </a:tblGrid>
              <a:tr h="228600">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Symptom</a:t>
                      </a:r>
                      <a:endParaRPr lang="en-US" sz="1200" dirty="0">
                        <a:latin typeface="Calibri" charset="0"/>
                        <a:ea typeface="Calibri" charset="0"/>
                        <a:cs typeface="Calibri" charset="0"/>
                      </a:endParaRPr>
                    </a:p>
                  </a:txBody>
                  <a:tcPr marL="36576" marR="36576" marT="36576" marB="36576" anchor="ctr">
                    <a:lnL w="9525" cap="flat" cmpd="sng" algn="ctr">
                      <a:solidFill>
                        <a:srgbClr val="DCD4E8"/>
                      </a:solidFill>
                      <a:prstDash val="solid"/>
                      <a:round/>
                      <a:headEnd type="none" w="med" len="med"/>
                      <a:tailEnd type="none" w="med" len="med"/>
                    </a:lnL>
                    <a:lnR w="9525" cap="flat" cmpd="sng" algn="ctr">
                      <a:solidFill>
                        <a:srgbClr val="DCD4E8"/>
                      </a:solidFill>
                      <a:prstDash val="solid"/>
                      <a:round/>
                      <a:headEnd type="none" w="med" len="med"/>
                      <a:tailEnd type="none" w="med" len="med"/>
                    </a:lnR>
                    <a:lnT w="9525" cap="flat" cmpd="sng" algn="ctr">
                      <a:solidFill>
                        <a:srgbClr val="DCD4E8"/>
                      </a:solidFill>
                      <a:prstDash val="solid"/>
                      <a:round/>
                      <a:headEnd type="none" w="med" len="med"/>
                      <a:tailEnd type="none" w="med" len="med"/>
                    </a:lnT>
                    <a:lnB w="9525" cap="flat" cmpd="sng" algn="ctr">
                      <a:solidFill>
                        <a:srgbClr val="DCD4E8"/>
                      </a:solidFill>
                      <a:prstDash val="solid"/>
                      <a:round/>
                      <a:headEnd type="none" w="med" len="med"/>
                      <a:tailEnd type="none" w="med" len="med"/>
                    </a:lnB>
                    <a:solidFill>
                      <a:srgbClr val="2A0A45"/>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Root cause — from the exhibits</a:t>
                      </a:r>
                      <a:endParaRPr lang="en-US" sz="1200" dirty="0">
                        <a:latin typeface="Calibri" charset="0"/>
                        <a:ea typeface="Calibri" charset="0"/>
                        <a:cs typeface="Calibri" charset="0"/>
                      </a:endParaRPr>
                    </a:p>
                  </a:txBody>
                  <a:tcPr marL="36576" marR="36576" marT="36576" marB="36576" anchor="ctr">
                    <a:lnL w="9525" cap="flat" cmpd="sng" algn="ctr">
                      <a:solidFill>
                        <a:srgbClr val="DCD4E8"/>
                      </a:solidFill>
                      <a:prstDash val="solid"/>
                      <a:round/>
                      <a:headEnd type="none" w="med" len="med"/>
                      <a:tailEnd type="none" w="med" len="med"/>
                    </a:lnL>
                    <a:lnR w="9525" cap="flat" cmpd="sng" algn="ctr">
                      <a:solidFill>
                        <a:srgbClr val="DCD4E8"/>
                      </a:solidFill>
                      <a:prstDash val="solid"/>
                      <a:round/>
                      <a:headEnd type="none" w="med" len="med"/>
                      <a:tailEnd type="none" w="med" len="med"/>
                    </a:lnR>
                    <a:lnT w="9525" cap="flat" cmpd="sng" algn="ctr">
                      <a:solidFill>
                        <a:srgbClr val="DCD4E8"/>
                      </a:solidFill>
                      <a:prstDash val="solid"/>
                      <a:round/>
                      <a:headEnd type="none" w="med" len="med"/>
                      <a:tailEnd type="none" w="med" len="med"/>
                    </a:lnT>
                    <a:lnB w="9525" cap="flat" cmpd="sng" algn="ctr">
                      <a:solidFill>
                        <a:srgbClr val="DCD4E8"/>
                      </a:solidFill>
                      <a:prstDash val="solid"/>
                      <a:round/>
                      <a:headEnd type="none" w="med" len="med"/>
                      <a:tailEnd type="none" w="med" len="med"/>
                    </a:lnB>
                    <a:solidFill>
                      <a:srgbClr val="2A0A45"/>
                    </a:solidFill>
                  </a:tcPr>
                </a:tc>
              </a:tr>
              <a:tr h="228600">
                <a:tc>
                  <a:txBody>
                    <a:bodyPr/>
                    <a:lstStyle/>
                    <a:p>
                      <a:pPr algn="l" indent="0" marL="0">
                        <a:buNone/>
                      </a:pPr>
                      <a:r>
                        <a:rPr lang="en-US" sz="1200" dirty="0">
                          <a:solidFill>
                            <a:srgbClr val="3A3838"/>
                          </a:solidFill>
                          <a:latin typeface="Calibri" pitchFamily="34" charset="0"/>
                          <a:ea typeface="Calibri" pitchFamily="34" charset="-122"/>
                          <a:cs typeface="Calibri" pitchFamily="34" charset="-120"/>
                        </a:rPr>
                        <a:t>Share 13.4% → 11.2%</a:t>
                      </a:r>
                      <a:endParaRPr lang="en-US" sz="1200" dirty="0">
                        <a:latin typeface="Calibri" charset="0"/>
                        <a:ea typeface="Calibri" charset="0"/>
                        <a:cs typeface="Calibri" charset="0"/>
                      </a:endParaRPr>
                    </a:p>
                  </a:txBody>
                  <a:tcPr marL="36576" marR="36576" marT="36576" marB="36576" anchor="ctr">
                    <a:lnL w="9525" cap="flat" cmpd="sng" algn="ctr">
                      <a:solidFill>
                        <a:srgbClr val="DCD4E8"/>
                      </a:solidFill>
                      <a:prstDash val="solid"/>
                      <a:round/>
                      <a:headEnd type="none" w="med" len="med"/>
                      <a:tailEnd type="none" w="med" len="med"/>
                    </a:lnL>
                    <a:lnR w="9525" cap="flat" cmpd="sng" algn="ctr">
                      <a:solidFill>
                        <a:srgbClr val="DCD4E8"/>
                      </a:solidFill>
                      <a:prstDash val="solid"/>
                      <a:round/>
                      <a:headEnd type="none" w="med" len="med"/>
                      <a:tailEnd type="none" w="med" len="med"/>
                    </a:lnR>
                    <a:lnT w="9525" cap="flat" cmpd="sng" algn="ctr">
                      <a:solidFill>
                        <a:srgbClr val="DCD4E8"/>
                      </a:solidFill>
                      <a:prstDash val="solid"/>
                      <a:round/>
                      <a:headEnd type="none" w="med" len="med"/>
                      <a:tailEnd type="none" w="med" len="med"/>
                    </a:lnT>
                    <a:lnB w="9525" cap="flat" cmpd="sng" algn="ctr">
                      <a:solidFill>
                        <a:srgbClr val="DCD4E8"/>
                      </a:solidFill>
                      <a:prstDash val="solid"/>
                      <a:round/>
                      <a:headEnd type="none" w="med" len="med"/>
                      <a:tailEnd type="none" w="med" len="med"/>
                    </a:lnB>
                    <a:solidFill>
                      <a:srgbClr val="FBF8FE"/>
                    </a:solidFill>
                  </a:tcPr>
                </a:tc>
                <a:tc>
                  <a:txBody>
                    <a:bodyPr/>
                    <a:lstStyle/>
                    <a:p>
                      <a:pPr algn="l" indent="0" marL="0">
                        <a:buNone/>
                      </a:pPr>
                      <a:r>
                        <a:rPr lang="en-US" sz="1200" dirty="0">
                          <a:solidFill>
                            <a:srgbClr val="3A3838"/>
                          </a:solidFill>
                          <a:latin typeface="Calibri" pitchFamily="34" charset="0"/>
                          <a:ea typeface="Calibri" pitchFamily="34" charset="-122"/>
                          <a:cs typeface="Calibri" pitchFamily="34" charset="-120"/>
                        </a:rPr>
                        <a:t>Real gap is experience, not the product (68 vs 78 / 100)</a:t>
                      </a:r>
                      <a:endParaRPr lang="en-US" sz="1200" dirty="0">
                        <a:latin typeface="Calibri" charset="0"/>
                        <a:ea typeface="Calibri" charset="0"/>
                        <a:cs typeface="Calibri" charset="0"/>
                      </a:endParaRPr>
                    </a:p>
                  </a:txBody>
                  <a:tcPr marL="36576" marR="36576" marT="36576" marB="36576" anchor="ctr">
                    <a:lnL w="9525" cap="flat" cmpd="sng" algn="ctr">
                      <a:solidFill>
                        <a:srgbClr val="DCD4E8"/>
                      </a:solidFill>
                      <a:prstDash val="solid"/>
                      <a:round/>
                      <a:headEnd type="none" w="med" len="med"/>
                      <a:tailEnd type="none" w="med" len="med"/>
                    </a:lnL>
                    <a:lnR w="9525" cap="flat" cmpd="sng" algn="ctr">
                      <a:solidFill>
                        <a:srgbClr val="DCD4E8"/>
                      </a:solidFill>
                      <a:prstDash val="solid"/>
                      <a:round/>
                      <a:headEnd type="none" w="med" len="med"/>
                      <a:tailEnd type="none" w="med" len="med"/>
                    </a:lnR>
                    <a:lnT w="9525" cap="flat" cmpd="sng" algn="ctr">
                      <a:solidFill>
                        <a:srgbClr val="DCD4E8"/>
                      </a:solidFill>
                      <a:prstDash val="solid"/>
                      <a:round/>
                      <a:headEnd type="none" w="med" len="med"/>
                      <a:tailEnd type="none" w="med" len="med"/>
                    </a:lnT>
                    <a:lnB w="9525" cap="flat" cmpd="sng" algn="ctr">
                      <a:solidFill>
                        <a:srgbClr val="DCD4E8"/>
                      </a:solidFill>
                      <a:prstDash val="solid"/>
                      <a:round/>
                      <a:headEnd type="none" w="med" len="med"/>
                      <a:tailEnd type="none" w="med" len="med"/>
                    </a:lnB>
                    <a:solidFill>
                      <a:srgbClr val="FBF8FE"/>
                    </a:solidFill>
                  </a:tcPr>
                </a:tc>
              </a:tr>
              <a:tr h="228600">
                <a:tc>
                  <a:txBody>
                    <a:bodyPr/>
                    <a:lstStyle/>
                    <a:p>
                      <a:pPr algn="l" indent="0" marL="0">
                        <a:buNone/>
                      </a:pPr>
                      <a:r>
                        <a:rPr lang="en-US" sz="1200" dirty="0">
                          <a:solidFill>
                            <a:srgbClr val="3A3838"/>
                          </a:solidFill>
                          <a:latin typeface="Calibri" pitchFamily="34" charset="0"/>
                          <a:ea typeface="Calibri" pitchFamily="34" charset="-122"/>
                          <a:cs typeface="Calibri" pitchFamily="34" charset="-120"/>
                        </a:rPr>
                        <a:t>62% of test-drivers walk away</a:t>
                      </a:r>
                      <a:endParaRPr lang="en-US" sz="1200" dirty="0">
                        <a:latin typeface="Calibri" charset="0"/>
                        <a:ea typeface="Calibri" charset="0"/>
                        <a:cs typeface="Calibri" charset="0"/>
                      </a:endParaRPr>
                    </a:p>
                  </a:txBody>
                  <a:tcPr marL="36576" marR="36576" marT="36576" marB="36576" anchor="ctr">
                    <a:lnL w="9525" cap="flat" cmpd="sng" algn="ctr">
                      <a:solidFill>
                        <a:srgbClr val="DCD4E8"/>
                      </a:solidFill>
                      <a:prstDash val="solid"/>
                      <a:round/>
                      <a:headEnd type="none" w="med" len="med"/>
                      <a:tailEnd type="none" w="med" len="med"/>
                    </a:lnL>
                    <a:lnR w="9525" cap="flat" cmpd="sng" algn="ctr">
                      <a:solidFill>
                        <a:srgbClr val="DCD4E8"/>
                      </a:solidFill>
                      <a:prstDash val="solid"/>
                      <a:round/>
                      <a:headEnd type="none" w="med" len="med"/>
                      <a:tailEnd type="none" w="med" len="med"/>
                    </a:lnR>
                    <a:lnT w="9525" cap="flat" cmpd="sng" algn="ctr">
                      <a:solidFill>
                        <a:srgbClr val="DCD4E8"/>
                      </a:solidFill>
                      <a:prstDash val="solid"/>
                      <a:round/>
                      <a:headEnd type="none" w="med" len="med"/>
                      <a:tailEnd type="none" w="med" len="med"/>
                    </a:lnT>
                    <a:lnB w="9525" cap="flat" cmpd="sng" algn="ctr">
                      <a:solidFill>
                        <a:srgbClr val="DCD4E8"/>
                      </a:solidFill>
                      <a:prstDash val="solid"/>
                      <a:round/>
                      <a:headEnd type="none" w="med" len="med"/>
                      <a:tailEnd type="none" w="med" len="med"/>
                    </a:lnB>
                    <a:solidFill>
                      <a:srgbClr val="FFFFFF"/>
                    </a:solidFill>
                  </a:tcPr>
                </a:tc>
                <a:tc>
                  <a:txBody>
                    <a:bodyPr/>
                    <a:lstStyle/>
                    <a:p>
                      <a:pPr algn="l" indent="0" marL="0">
                        <a:buNone/>
                      </a:pPr>
                      <a:r>
                        <a:rPr lang="en-US" sz="1200" dirty="0">
                          <a:solidFill>
                            <a:srgbClr val="3A3838"/>
                          </a:solidFill>
                          <a:latin typeface="Calibri" pitchFamily="34" charset="0"/>
                          <a:ea typeface="Calibri" pitchFamily="34" charset="-122"/>
                          <a:cs typeface="Calibri" pitchFamily="34" charset="-120"/>
                        </a:rPr>
                        <a:t>No one follows up in the 48 hours that decide it</a:t>
                      </a:r>
                      <a:endParaRPr lang="en-US" sz="1200" dirty="0">
                        <a:latin typeface="Calibri" charset="0"/>
                        <a:ea typeface="Calibri" charset="0"/>
                        <a:cs typeface="Calibri" charset="0"/>
                      </a:endParaRPr>
                    </a:p>
                  </a:txBody>
                  <a:tcPr marL="36576" marR="36576" marT="36576" marB="36576" anchor="ctr">
                    <a:lnL w="9525" cap="flat" cmpd="sng" algn="ctr">
                      <a:solidFill>
                        <a:srgbClr val="DCD4E8"/>
                      </a:solidFill>
                      <a:prstDash val="solid"/>
                      <a:round/>
                      <a:headEnd type="none" w="med" len="med"/>
                      <a:tailEnd type="none" w="med" len="med"/>
                    </a:lnL>
                    <a:lnR w="9525" cap="flat" cmpd="sng" algn="ctr">
                      <a:solidFill>
                        <a:srgbClr val="DCD4E8"/>
                      </a:solidFill>
                      <a:prstDash val="solid"/>
                      <a:round/>
                      <a:headEnd type="none" w="med" len="med"/>
                      <a:tailEnd type="none" w="med" len="med"/>
                    </a:lnR>
                    <a:lnT w="9525" cap="flat" cmpd="sng" algn="ctr">
                      <a:solidFill>
                        <a:srgbClr val="DCD4E8"/>
                      </a:solidFill>
                      <a:prstDash val="solid"/>
                      <a:round/>
                      <a:headEnd type="none" w="med" len="med"/>
                      <a:tailEnd type="none" w="med" len="med"/>
                    </a:lnT>
                    <a:lnB w="9525" cap="flat" cmpd="sng" algn="ctr">
                      <a:solidFill>
                        <a:srgbClr val="DCD4E8"/>
                      </a:solidFill>
                      <a:prstDash val="solid"/>
                      <a:round/>
                      <a:headEnd type="none" w="med" len="med"/>
                      <a:tailEnd type="none" w="med" len="med"/>
                    </a:lnB>
                    <a:solidFill>
                      <a:srgbClr val="FFFFFF"/>
                    </a:solidFill>
                  </a:tcPr>
                </a:tc>
              </a:tr>
              <a:tr h="228600">
                <a:tc>
                  <a:txBody>
                    <a:bodyPr/>
                    <a:lstStyle/>
                    <a:p>
                      <a:pPr algn="l" indent="0" marL="0">
                        <a:buNone/>
                      </a:pPr>
                      <a:r>
                        <a:rPr lang="en-US" sz="1200" dirty="0">
                          <a:solidFill>
                            <a:srgbClr val="3A3838"/>
                          </a:solidFill>
                          <a:latin typeface="Calibri" pitchFamily="34" charset="0"/>
                          <a:ea typeface="Calibri" pitchFamily="34" charset="-122"/>
                          <a:cs typeface="Calibri" pitchFamily="34" charset="-120"/>
                        </a:rPr>
                        <a:t>Loyalty score (NPS) 24 vs 39</a:t>
                      </a:r>
                      <a:endParaRPr lang="en-US" sz="1200" dirty="0">
                        <a:latin typeface="Calibri" charset="0"/>
                        <a:ea typeface="Calibri" charset="0"/>
                        <a:cs typeface="Calibri" charset="0"/>
                      </a:endParaRPr>
                    </a:p>
                  </a:txBody>
                  <a:tcPr marL="36576" marR="36576" marT="36576" marB="36576" anchor="ctr">
                    <a:lnL w="9525" cap="flat" cmpd="sng" algn="ctr">
                      <a:solidFill>
                        <a:srgbClr val="DCD4E8"/>
                      </a:solidFill>
                      <a:prstDash val="solid"/>
                      <a:round/>
                      <a:headEnd type="none" w="med" len="med"/>
                      <a:tailEnd type="none" w="med" len="med"/>
                    </a:lnL>
                    <a:lnR w="9525" cap="flat" cmpd="sng" algn="ctr">
                      <a:solidFill>
                        <a:srgbClr val="DCD4E8"/>
                      </a:solidFill>
                      <a:prstDash val="solid"/>
                      <a:round/>
                      <a:headEnd type="none" w="med" len="med"/>
                      <a:tailEnd type="none" w="med" len="med"/>
                    </a:lnR>
                    <a:lnT w="9525" cap="flat" cmpd="sng" algn="ctr">
                      <a:solidFill>
                        <a:srgbClr val="DCD4E8"/>
                      </a:solidFill>
                      <a:prstDash val="solid"/>
                      <a:round/>
                      <a:headEnd type="none" w="med" len="med"/>
                      <a:tailEnd type="none" w="med" len="med"/>
                    </a:lnT>
                    <a:lnB w="9525" cap="flat" cmpd="sng" algn="ctr">
                      <a:solidFill>
                        <a:srgbClr val="DCD4E8"/>
                      </a:solidFill>
                      <a:prstDash val="solid"/>
                      <a:round/>
                      <a:headEnd type="none" w="med" len="med"/>
                      <a:tailEnd type="none" w="med" len="med"/>
                    </a:lnB>
                    <a:solidFill>
                      <a:srgbClr val="FBF8FE"/>
                    </a:solidFill>
                  </a:tcPr>
                </a:tc>
                <a:tc>
                  <a:txBody>
                    <a:bodyPr/>
                    <a:lstStyle/>
                    <a:p>
                      <a:pPr algn="l" indent="0" marL="0">
                        <a:buNone/>
                      </a:pPr>
                      <a:r>
                        <a:rPr lang="en-US" sz="1200" dirty="0">
                          <a:solidFill>
                            <a:srgbClr val="3A3838"/>
                          </a:solidFill>
                          <a:latin typeface="Calibri" pitchFamily="34" charset="0"/>
                          <a:ea typeface="Calibri" pitchFamily="34" charset="-122"/>
                          <a:cs typeface="Calibri" pitchFamily="34" charset="-120"/>
                        </a:rPr>
                        <a:t>1 in 3 care calls needs a repeat call — hurts trust</a:t>
                      </a:r>
                      <a:endParaRPr lang="en-US" sz="1200" dirty="0">
                        <a:latin typeface="Calibri" charset="0"/>
                        <a:ea typeface="Calibri" charset="0"/>
                        <a:cs typeface="Calibri" charset="0"/>
                      </a:endParaRPr>
                    </a:p>
                  </a:txBody>
                  <a:tcPr marL="36576" marR="36576" marT="36576" marB="36576" anchor="ctr">
                    <a:lnL w="9525" cap="flat" cmpd="sng" algn="ctr">
                      <a:solidFill>
                        <a:srgbClr val="DCD4E8"/>
                      </a:solidFill>
                      <a:prstDash val="solid"/>
                      <a:round/>
                      <a:headEnd type="none" w="med" len="med"/>
                      <a:tailEnd type="none" w="med" len="med"/>
                    </a:lnL>
                    <a:lnR w="9525" cap="flat" cmpd="sng" algn="ctr">
                      <a:solidFill>
                        <a:srgbClr val="DCD4E8"/>
                      </a:solidFill>
                      <a:prstDash val="solid"/>
                      <a:round/>
                      <a:headEnd type="none" w="med" len="med"/>
                      <a:tailEnd type="none" w="med" len="med"/>
                    </a:lnR>
                    <a:lnT w="9525" cap="flat" cmpd="sng" algn="ctr">
                      <a:solidFill>
                        <a:srgbClr val="DCD4E8"/>
                      </a:solidFill>
                      <a:prstDash val="solid"/>
                      <a:round/>
                      <a:headEnd type="none" w="med" len="med"/>
                      <a:tailEnd type="none" w="med" len="med"/>
                    </a:lnT>
                    <a:lnB w="9525" cap="flat" cmpd="sng" algn="ctr">
                      <a:solidFill>
                        <a:srgbClr val="DCD4E8"/>
                      </a:solidFill>
                      <a:prstDash val="solid"/>
                      <a:round/>
                      <a:headEnd type="none" w="med" len="med"/>
                      <a:tailEnd type="none" w="med" len="med"/>
                    </a:lnB>
                    <a:solidFill>
                      <a:srgbClr val="FBF8FE"/>
                    </a:solidFill>
                  </a:tcPr>
                </a:tc>
              </a:tr>
              <a:tr h="228600">
                <a:tc>
                  <a:txBody>
                    <a:bodyPr/>
                    <a:lstStyle/>
                    <a:p>
                      <a:pPr algn="l" indent="0" marL="0">
                        <a:buNone/>
                      </a:pPr>
                      <a:r>
                        <a:rPr lang="en-US" sz="1200" dirty="0">
                          <a:solidFill>
                            <a:srgbClr val="3A3838"/>
                          </a:solidFill>
                          <a:latin typeface="Calibri" pitchFamily="34" charset="0"/>
                          <a:ea typeface="Calibri" pitchFamily="34" charset="-122"/>
                          <a:cs typeface="Calibri" pitchFamily="34" charset="-120"/>
                        </a:rPr>
                        <a:t>Only 4 of 32 AI pilots delivered</a:t>
                      </a:r>
                      <a:endParaRPr lang="en-US" sz="1200" dirty="0">
                        <a:latin typeface="Calibri" charset="0"/>
                        <a:ea typeface="Calibri" charset="0"/>
                        <a:cs typeface="Calibri" charset="0"/>
                      </a:endParaRPr>
                    </a:p>
                  </a:txBody>
                  <a:tcPr marL="36576" marR="36576" marT="36576" marB="36576" anchor="ctr">
                    <a:lnL w="9525" cap="flat" cmpd="sng" algn="ctr">
                      <a:solidFill>
                        <a:srgbClr val="DCD4E8"/>
                      </a:solidFill>
                      <a:prstDash val="solid"/>
                      <a:round/>
                      <a:headEnd type="none" w="med" len="med"/>
                      <a:tailEnd type="none" w="med" len="med"/>
                    </a:lnL>
                    <a:lnR w="9525" cap="flat" cmpd="sng" algn="ctr">
                      <a:solidFill>
                        <a:srgbClr val="DCD4E8"/>
                      </a:solidFill>
                      <a:prstDash val="solid"/>
                      <a:round/>
                      <a:headEnd type="none" w="med" len="med"/>
                      <a:tailEnd type="none" w="med" len="med"/>
                    </a:lnR>
                    <a:lnT w="9525" cap="flat" cmpd="sng" algn="ctr">
                      <a:solidFill>
                        <a:srgbClr val="DCD4E8"/>
                      </a:solidFill>
                      <a:prstDash val="solid"/>
                      <a:round/>
                      <a:headEnd type="none" w="med" len="med"/>
                      <a:tailEnd type="none" w="med" len="med"/>
                    </a:lnT>
                    <a:lnB w="9525" cap="flat" cmpd="sng" algn="ctr">
                      <a:solidFill>
                        <a:srgbClr val="DCD4E8"/>
                      </a:solidFill>
                      <a:prstDash val="solid"/>
                      <a:round/>
                      <a:headEnd type="none" w="med" len="med"/>
                      <a:tailEnd type="none" w="med" len="med"/>
                    </a:lnB>
                    <a:solidFill>
                      <a:srgbClr val="FFFFFF"/>
                    </a:solidFill>
                  </a:tcPr>
                </a:tc>
                <a:tc>
                  <a:txBody>
                    <a:bodyPr/>
                    <a:lstStyle/>
                    <a:p>
                      <a:pPr algn="l" indent="0" marL="0">
                        <a:buNone/>
                      </a:pPr>
                      <a:r>
                        <a:rPr lang="en-US" sz="1200" dirty="0">
                          <a:solidFill>
                            <a:srgbClr val="3A3838"/>
                          </a:solidFill>
                          <a:latin typeface="Calibri" pitchFamily="34" charset="0"/>
                          <a:ea typeface="Calibri" pitchFamily="34" charset="-122"/>
                          <a:cs typeface="Calibri" pitchFamily="34" charset="-120"/>
                        </a:rPr>
                        <a:t>No owner (43%), no baseline (36%), rarely used (34%)</a:t>
                      </a:r>
                      <a:endParaRPr lang="en-US" sz="1200" dirty="0">
                        <a:latin typeface="Calibri" charset="0"/>
                        <a:ea typeface="Calibri" charset="0"/>
                        <a:cs typeface="Calibri" charset="0"/>
                      </a:endParaRPr>
                    </a:p>
                  </a:txBody>
                  <a:tcPr marL="36576" marR="36576" marT="36576" marB="36576" anchor="ctr">
                    <a:lnL w="9525" cap="flat" cmpd="sng" algn="ctr">
                      <a:solidFill>
                        <a:srgbClr val="DCD4E8"/>
                      </a:solidFill>
                      <a:prstDash val="solid"/>
                      <a:round/>
                      <a:headEnd type="none" w="med" len="med"/>
                      <a:tailEnd type="none" w="med" len="med"/>
                    </a:lnL>
                    <a:lnR w="9525" cap="flat" cmpd="sng" algn="ctr">
                      <a:solidFill>
                        <a:srgbClr val="DCD4E8"/>
                      </a:solidFill>
                      <a:prstDash val="solid"/>
                      <a:round/>
                      <a:headEnd type="none" w="med" len="med"/>
                      <a:tailEnd type="none" w="med" len="med"/>
                    </a:lnR>
                    <a:lnT w="9525" cap="flat" cmpd="sng" algn="ctr">
                      <a:solidFill>
                        <a:srgbClr val="DCD4E8"/>
                      </a:solidFill>
                      <a:prstDash val="solid"/>
                      <a:round/>
                      <a:headEnd type="none" w="med" len="med"/>
                      <a:tailEnd type="none" w="med" len="med"/>
                    </a:lnT>
                    <a:lnB w="9525" cap="flat" cmpd="sng" algn="ctr">
                      <a:solidFill>
                        <a:srgbClr val="DCD4E8"/>
                      </a:solidFill>
                      <a:prstDash val="solid"/>
                      <a:round/>
                      <a:headEnd type="none" w="med" len="med"/>
                      <a:tailEnd type="none" w="med" len="med"/>
                    </a:lnB>
                    <a:solidFill>
                      <a:srgbClr val="FFFFFF"/>
                    </a:solidFill>
                  </a:tcPr>
                </a:tc>
              </a:tr>
            </a:tbl>
          </a:graphicData>
        </a:graphic>
      </p:graphicFrame>
      <p:sp>
        <p:nvSpPr>
          <p:cNvPr id="34" name="Text 30"/>
          <p:cNvSpPr/>
          <p:nvPr/>
        </p:nvSpPr>
        <p:spPr>
          <a:xfrm>
            <a:off x="137160" y="4315968"/>
            <a:ext cx="3904488" cy="914400"/>
          </a:xfrm>
          <a:prstGeom prst="rect">
            <a:avLst/>
          </a:prstGeom>
          <a:solidFill>
            <a:srgbClr val="F6F1FC"/>
          </a:solidFill>
          <a:ln w="19050">
            <a:solidFill>
              <a:srgbClr val="A100FF"/>
            </a:solidFill>
          </a:ln>
        </p:spPr>
        <p:txBody>
          <a:bodyPr wrap="square" lIns="1270" tIns="1270" rIns="1270" bIns="1270" rtlCol="0" anchor="ctr"/>
          <a:lstStyle/>
          <a:p>
            <a:pPr indent="0" marL="0">
              <a:lnSpc>
                <a:spcPct val="98000"/>
              </a:lnSpc>
              <a:buNone/>
            </a:pPr>
            <a:r>
              <a:rPr lang="en-US" sz="1200" b="1" dirty="0">
                <a:solidFill>
                  <a:srgbClr val="A100FF"/>
                </a:solidFill>
                <a:latin typeface="Calibri" pitchFamily="34" charset="0"/>
                <a:ea typeface="Calibri" pitchFamily="34" charset="-122"/>
                <a:cs typeface="Calibri" pitchFamily="34" charset="-120"/>
              </a:rPr>
              <a:t>Dealer margin 2.8% → 1.6% is the transmission mechanism. </a:t>
            </a:r>
            <a:pPr indent="0" marL="0">
              <a:lnSpc>
                <a:spcPct val="98000"/>
              </a:lnSpc>
              <a:buNone/>
            </a:pPr>
            <a:r>
              <a:rPr lang="en-US" sz="1200" dirty="0">
                <a:solidFill>
                  <a:srgbClr val="000000"/>
                </a:solidFill>
                <a:latin typeface="Calibri" pitchFamily="34" charset="0"/>
                <a:ea typeface="Calibri" pitchFamily="34" charset="-122"/>
                <a:cs typeface="Calibri" pitchFamily="34" charset="-120"/>
              </a:rPr>
              <a:t>Service &amp; parts are </a:t>
            </a:r>
            <a:pPr indent="0" marL="0">
              <a:lnSpc>
                <a:spcPct val="98000"/>
              </a:lnSpc>
              <a:buNone/>
            </a:pPr>
            <a:r>
              <a:rPr lang="en-US" sz="1200" b="1" dirty="0">
                <a:solidFill>
                  <a:srgbClr val="3A3838"/>
                </a:solidFill>
                <a:latin typeface="Calibri" pitchFamily="34" charset="0"/>
                <a:ea typeface="Calibri" pitchFamily="34" charset="-122"/>
                <a:cs typeface="Calibri" pitchFamily="34" charset="-120"/>
              </a:rPr>
              <a:t>52% of dealer profit</a:t>
            </a:r>
            <a:pPr indent="0" marL="0">
              <a:lnSpc>
                <a:spcPct val="98000"/>
              </a:lnSpc>
              <a:buNone/>
            </a:pPr>
            <a:r>
              <a:rPr lang="en-US" sz="1200" dirty="0">
                <a:solidFill>
                  <a:srgbClr val="000000"/>
                </a:solidFill>
                <a:latin typeface="Calibri" pitchFamily="34" charset="0"/>
                <a:ea typeface="Calibri" pitchFamily="34" charset="-122"/>
                <a:cs typeface="Calibri" pitchFamily="34" charset="-120"/>
              </a:rPr>
              <a:t>, retention falls to 46% by year 3 — a dealer at 1.6% cannot fund the experience that wins the customer.</a:t>
            </a:r>
            <a:endParaRPr lang="en-US" sz="1200" dirty="0"/>
          </a:p>
        </p:txBody>
      </p:sp>
      <p:sp>
        <p:nvSpPr>
          <p:cNvPr id="35" name="Text 31"/>
          <p:cNvSpPr/>
          <p:nvPr/>
        </p:nvSpPr>
        <p:spPr>
          <a:xfrm>
            <a:off x="137160" y="5340096"/>
            <a:ext cx="3904488" cy="457200"/>
          </a:xfrm>
          <a:prstGeom prst="rect">
            <a:avLst/>
          </a:prstGeom>
          <a:solidFill>
            <a:srgbClr val="A100FF"/>
          </a:solidFill>
          <a:ln w="25400">
            <a:solidFill>
              <a:srgbClr val="2A0A45"/>
            </a:solidFill>
          </a:ln>
        </p:spPr>
        <p:txBody>
          <a:bodyPr wrap="square" lIns="0" tIns="0" rIns="0" bIns="0" rtlCol="0" anchor="ctr"/>
          <a:lstStyle/>
          <a:p>
            <a:pPr algn="ctr" indent="0" marL="0">
              <a:lnSpc>
                <a:spcPct val="98000"/>
              </a:lnSpc>
              <a:buNone/>
            </a:pPr>
            <a:r>
              <a:rPr lang="en-US" sz="1200" b="1" dirty="0">
                <a:solidFill>
                  <a:srgbClr val="FFFFFF"/>
                </a:solidFill>
                <a:latin typeface="Calibri" pitchFamily="34" charset="0"/>
                <a:ea typeface="Calibri" pitchFamily="34" charset="-122"/>
                <a:cs typeface="Calibri" pitchFamily="34" charset="-120"/>
              </a:rPr>
              <a:t>DEALER PROFIT IS THE ENTRY TICKET, NOT THE OUTCOME</a:t>
            </a:r>
            <a:endParaRPr lang="en-US" sz="1200" dirty="0"/>
          </a:p>
        </p:txBody>
      </p:sp>
      <p:sp>
        <p:nvSpPr>
          <p:cNvPr id="36" name="Text 32"/>
          <p:cNvSpPr/>
          <p:nvPr/>
        </p:nvSpPr>
        <p:spPr>
          <a:xfrm>
            <a:off x="137160" y="5907024"/>
            <a:ext cx="3904488" cy="493776"/>
          </a:xfrm>
          <a:prstGeom prst="rect">
            <a:avLst/>
          </a:prstGeom>
          <a:noFill/>
          <a:ln/>
        </p:spPr>
        <p:txBody>
          <a:bodyPr wrap="square" lIns="0" tIns="0" rIns="0" bIns="0" rtlCol="0" anchor="ctr"/>
          <a:lstStyle/>
          <a:p>
            <a:pPr indent="0" marL="0">
              <a:lnSpc>
                <a:spcPct val="98000"/>
              </a:lnSpc>
              <a:buNone/>
            </a:pPr>
            <a:r>
              <a:rPr lang="en-US" sz="1200" dirty="0">
                <a:solidFill>
                  <a:srgbClr val="3A3838"/>
                </a:solidFill>
                <a:latin typeface="Calibri" pitchFamily="34" charset="0"/>
                <a:ea typeface="Calibri" pitchFamily="34" charset="-122"/>
                <a:cs typeface="Calibri" pitchFamily="34" charset="-120"/>
              </a:rPr>
              <a:t>Where to play: </a:t>
            </a:r>
            <a:pPr indent="0" marL="0">
              <a:lnSpc>
                <a:spcPct val="98000"/>
              </a:lnSpc>
              <a:buNone/>
            </a:pPr>
            <a:r>
              <a:rPr lang="en-US" sz="1200" b="1" dirty="0">
                <a:solidFill>
                  <a:srgbClr val="A100FF"/>
                </a:solidFill>
                <a:latin typeface="Calibri" pitchFamily="34" charset="0"/>
                <a:ea typeface="Calibri" pitchFamily="34" charset="-122"/>
                <a:cs typeface="Calibri" pitchFamily="34" charset="-120"/>
              </a:rPr>
              <a:t>top-20 cities, SUV &amp; EV, digital demand</a:t>
            </a:r>
            <a:pPr indent="0" marL="0">
              <a:lnSpc>
                <a:spcPct val="98000"/>
              </a:lnSpc>
              <a:buNone/>
            </a:pPr>
            <a:r>
              <a:rPr lang="en-US" sz="1200" dirty="0">
                <a:solidFill>
                  <a:srgbClr val="3A3838"/>
                </a:solidFill>
                <a:latin typeface="Calibri" pitchFamily="34" charset="0"/>
                <a:ea typeface="Calibri" pitchFamily="34" charset="-122"/>
                <a:cs typeface="Calibri" pitchFamily="34" charset="-120"/>
              </a:rPr>
              <a:t> — 38% of volume, ~100% of the erosion.</a:t>
            </a:r>
            <a:endParaRPr lang="en-US" sz="1200" dirty="0"/>
          </a:p>
        </p:txBody>
      </p:sp>
      <p:sp>
        <p:nvSpPr>
          <p:cNvPr id="37" name="Shape 33"/>
          <p:cNvSpPr/>
          <p:nvPr/>
        </p:nvSpPr>
        <p:spPr>
          <a:xfrm>
            <a:off x="4224528" y="1920240"/>
            <a:ext cx="292608" cy="292608"/>
          </a:xfrm>
          <a:prstGeom prst="ellipse">
            <a:avLst/>
          </a:prstGeom>
          <a:solidFill>
            <a:srgbClr val="A100FF"/>
          </a:solidFill>
          <a:ln w="12700">
            <a:solidFill>
              <a:srgbClr val="333333"/>
            </a:solidFill>
            <a:prstDash val="solid"/>
          </a:ln>
        </p:spPr>
      </p:sp>
      <p:sp>
        <p:nvSpPr>
          <p:cNvPr id="38" name="Text 34"/>
          <p:cNvSpPr/>
          <p:nvPr/>
        </p:nvSpPr>
        <p:spPr>
          <a:xfrm>
            <a:off x="4224528" y="1920240"/>
            <a:ext cx="292608" cy="29260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39" name="Text 35"/>
          <p:cNvSpPr/>
          <p:nvPr/>
        </p:nvSpPr>
        <p:spPr>
          <a:xfrm>
            <a:off x="4608576" y="1929384"/>
            <a:ext cx="3474720" cy="292608"/>
          </a:xfrm>
          <a:prstGeom prst="rect">
            <a:avLst/>
          </a:prstGeom>
          <a:noFill/>
          <a:ln/>
        </p:spPr>
        <p:txBody>
          <a:bodyPr wrap="square" lIns="0" tIns="0" rIns="0" bIns="0" rtlCol="0" anchor="ctr"/>
          <a:lstStyle/>
          <a:p>
            <a:pPr indent="0" marL="0">
              <a:buNone/>
            </a:pPr>
            <a:r>
              <a:rPr lang="en-US" sz="1350" b="1" dirty="0">
                <a:solidFill>
                  <a:srgbClr val="2A0A45"/>
                </a:solidFill>
                <a:latin typeface="Calibri" pitchFamily="34" charset="0"/>
                <a:ea typeface="Calibri" pitchFamily="34" charset="-122"/>
                <a:cs typeface="Calibri" pitchFamily="34" charset="-120"/>
              </a:rPr>
              <a:t>Where 24 lakh leads become 2.17 lakh sales</a:t>
            </a:r>
            <a:endParaRPr lang="en-US" sz="1350" dirty="0"/>
          </a:p>
        </p:txBody>
      </p:sp>
      <p:graphicFrame>
        <p:nvGraphicFramePr>
          <p:cNvPr id="40" name="Chart 0" descr=""/>
          <p:cNvGraphicFramePr/>
          <p:nvPr/>
        </p:nvGraphicFramePr>
        <p:xfrm>
          <a:off x="4224528" y="2286000"/>
          <a:ext cx="3867912" cy="2697480"/>
        </p:xfrm>
        <a:graphic xmlns:a="http://schemas.openxmlformats.org/drawingml/2006/main">
          <a:graphicData uri="http://schemas.openxmlformats.org/drawingml/2006/chart">
            <c:chart xmlns:c="http://schemas.openxmlformats.org/drawingml/2006/chart" r:id="rId2"/>
          </a:graphicData>
        </a:graphic>
      </p:graphicFrame>
      <p:sp>
        <p:nvSpPr>
          <p:cNvPr id="41" name="Text 36"/>
          <p:cNvSpPr/>
          <p:nvPr/>
        </p:nvSpPr>
        <p:spPr>
          <a:xfrm>
            <a:off x="4224528" y="5047488"/>
            <a:ext cx="3867912" cy="749808"/>
          </a:xfrm>
          <a:prstGeom prst="rect">
            <a:avLst/>
          </a:prstGeom>
          <a:noFill/>
          <a:ln/>
        </p:spPr>
        <p:txBody>
          <a:bodyPr wrap="square" lIns="0" tIns="0" rIns="0" bIns="0" rtlCol="0" anchor="ctr"/>
          <a:lstStyle/>
          <a:p>
            <a:pPr indent="0" marL="0">
              <a:lnSpc>
                <a:spcPct val="98000"/>
              </a:lnSpc>
              <a:buNone/>
            </a:pPr>
            <a:r>
              <a:rPr lang="en-US" sz="1200" dirty="0">
                <a:solidFill>
                  <a:srgbClr val="3A3838"/>
                </a:solidFill>
                <a:latin typeface="Calibri" pitchFamily="34" charset="0"/>
                <a:ea typeface="Calibri" pitchFamily="34" charset="-122"/>
                <a:cs typeface="Calibri" pitchFamily="34" charset="-120"/>
              </a:rPr>
              <a:t>End-to-end conversion </a:t>
            </a:r>
            <a:pPr indent="0" marL="0">
              <a:lnSpc>
                <a:spcPct val="98000"/>
              </a:lnSpc>
              <a:buNone/>
            </a:pPr>
            <a:r>
              <a:rPr lang="en-US" sz="1200" b="1" dirty="0">
                <a:solidFill>
                  <a:srgbClr val="3A3838"/>
                </a:solidFill>
                <a:latin typeface="Calibri" pitchFamily="34" charset="0"/>
                <a:ea typeface="Calibri" pitchFamily="34" charset="-122"/>
                <a:cs typeface="Calibri" pitchFamily="34" charset="-120"/>
              </a:rPr>
              <a:t>9.05%</a:t>
            </a:r>
            <a:pPr indent="0" marL="0">
              <a:lnSpc>
                <a:spcPct val="98000"/>
              </a:lnSpc>
              <a:buNone/>
            </a:pPr>
            <a:r>
              <a:rPr lang="en-US" sz="1200" dirty="0">
                <a:solidFill>
                  <a:srgbClr val="3A3838"/>
                </a:solidFill>
                <a:latin typeface="Calibri" pitchFamily="34" charset="0"/>
                <a:ea typeface="Calibri" pitchFamily="34" charset="-122"/>
                <a:cs typeface="Calibri" pitchFamily="34" charset="-120"/>
              </a:rPr>
              <a:t>. Biggest single leak: </a:t>
            </a:r>
            <a:pPr indent="0" marL="0">
              <a:lnSpc>
                <a:spcPct val="98000"/>
              </a:lnSpc>
              <a:buNone/>
            </a:pPr>
            <a:r>
              <a:rPr lang="en-US" sz="1200" b="1" dirty="0">
                <a:solidFill>
                  <a:srgbClr val="A100FF"/>
                </a:solidFill>
                <a:latin typeface="Calibri" pitchFamily="34" charset="0"/>
                <a:ea typeface="Calibri" pitchFamily="34" charset="-122"/>
                <a:cs typeface="Calibri" pitchFamily="34" charset="-120"/>
              </a:rPr>
              <a:t>only 38% of test-drivers book</a:t>
            </a:r>
            <a:pPr indent="0" marL="0">
              <a:lnSpc>
                <a:spcPct val="98000"/>
              </a:lnSpc>
              <a:buNone/>
            </a:pPr>
            <a:r>
              <a:rPr lang="en-US" sz="1200" dirty="0">
                <a:solidFill>
                  <a:srgbClr val="3A3838"/>
                </a:solidFill>
                <a:latin typeface="Calibri" pitchFamily="34" charset="0"/>
                <a:ea typeface="Calibri" pitchFamily="34" charset="-122"/>
                <a:cs typeface="Calibri" pitchFamily="34" charset="-120"/>
              </a:rPr>
              <a:t> — 4.0 lakh warm prospects a year walk away, after being won twice over while marketing cost per sale rose 31%.</a:t>
            </a:r>
            <a:endParaRPr lang="en-US" sz="1200" dirty="0"/>
          </a:p>
        </p:txBody>
      </p:sp>
      <p:sp>
        <p:nvSpPr>
          <p:cNvPr id="42" name="Text 37"/>
          <p:cNvSpPr/>
          <p:nvPr/>
        </p:nvSpPr>
        <p:spPr>
          <a:xfrm>
            <a:off x="4224528" y="5870448"/>
            <a:ext cx="3867912" cy="530352"/>
          </a:xfrm>
          <a:prstGeom prst="rect">
            <a:avLst/>
          </a:prstGeom>
          <a:solidFill>
            <a:srgbClr val="2A0A45"/>
          </a:solidFill>
          <a:ln/>
        </p:spPr>
        <p:txBody>
          <a:bodyPr wrap="square" lIns="762" tIns="762" rIns="762" bIns="762" rtlCol="0" anchor="ctr"/>
          <a:lstStyle/>
          <a:p>
            <a:pPr indent="0" marL="0">
              <a:lnSpc>
                <a:spcPct val="98000"/>
              </a:lnSpc>
              <a:buNone/>
            </a:pPr>
            <a:r>
              <a:rPr lang="en-US" sz="1200" dirty="0">
                <a:solidFill>
                  <a:srgbClr val="FFFFFF"/>
                </a:solidFill>
                <a:latin typeface="Calibri" pitchFamily="34" charset="0"/>
                <a:ea typeface="Calibri" pitchFamily="34" charset="-122"/>
                <a:cs typeface="Calibri" pitchFamily="34" charset="-120"/>
              </a:rPr>
              <a:t>Care is the pool teams miss: </a:t>
            </a:r>
            <a:pPr indent="0" marL="0">
              <a:lnSpc>
                <a:spcPct val="98000"/>
              </a:lnSpc>
              <a:buNone/>
            </a:pPr>
            <a:r>
              <a:rPr lang="en-US" sz="1200" b="1" dirty="0">
                <a:solidFill>
                  <a:srgbClr val="C98CFF"/>
                </a:solidFill>
                <a:latin typeface="Calibri" pitchFamily="34" charset="0"/>
                <a:ea typeface="Calibri" pitchFamily="34" charset="-122"/>
                <a:cs typeface="Calibri" pitchFamily="34" charset="-120"/>
              </a:rPr>
              <a:t>5.8M calls a year, only 66% fixed first time</a:t>
            </a:r>
            <a:pPr indent="0" marL="0">
              <a:lnSpc>
                <a:spcPct val="98000"/>
              </a:lnSpc>
              <a:buNone/>
            </a:pPr>
            <a:r>
              <a:rPr lang="en-US" sz="1200" dirty="0">
                <a:solidFill>
                  <a:srgbClr val="FFFFFF"/>
                </a:solidFill>
                <a:latin typeface="Calibri" pitchFamily="34" charset="0"/>
                <a:ea typeface="Calibri" pitchFamily="34" charset="-122"/>
                <a:cs typeface="Calibri" pitchFamily="34" charset="-120"/>
              </a:rPr>
              <a:t> — the biggest lever on loyalty score, and fully OEM-owned.</a:t>
            </a:r>
            <a:endParaRPr lang="en-US" sz="1200" dirty="0"/>
          </a:p>
        </p:txBody>
      </p:sp>
      <p:sp>
        <p:nvSpPr>
          <p:cNvPr id="43" name="Shape 38"/>
          <p:cNvSpPr/>
          <p:nvPr/>
        </p:nvSpPr>
        <p:spPr>
          <a:xfrm>
            <a:off x="8275320" y="1920240"/>
            <a:ext cx="292608" cy="292608"/>
          </a:xfrm>
          <a:prstGeom prst="ellipse">
            <a:avLst/>
          </a:prstGeom>
          <a:solidFill>
            <a:srgbClr val="A100FF"/>
          </a:solidFill>
          <a:ln w="12700">
            <a:solidFill>
              <a:srgbClr val="333333"/>
            </a:solidFill>
            <a:prstDash val="solid"/>
          </a:ln>
        </p:spPr>
      </p:sp>
      <p:sp>
        <p:nvSpPr>
          <p:cNvPr id="44" name="Text 39"/>
          <p:cNvSpPr/>
          <p:nvPr/>
        </p:nvSpPr>
        <p:spPr>
          <a:xfrm>
            <a:off x="8275320" y="1920240"/>
            <a:ext cx="292608" cy="29260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45" name="Text 40"/>
          <p:cNvSpPr/>
          <p:nvPr/>
        </p:nvSpPr>
        <p:spPr>
          <a:xfrm>
            <a:off x="8659368" y="1929384"/>
            <a:ext cx="3474720" cy="292608"/>
          </a:xfrm>
          <a:prstGeom prst="rect">
            <a:avLst/>
          </a:prstGeom>
          <a:noFill/>
          <a:ln/>
        </p:spPr>
        <p:txBody>
          <a:bodyPr wrap="square" lIns="0" tIns="0" rIns="0" bIns="0" rtlCol="0" anchor="ctr"/>
          <a:lstStyle/>
          <a:p>
            <a:pPr indent="0" marL="0">
              <a:buNone/>
            </a:pPr>
            <a:r>
              <a:rPr lang="en-US" sz="1350" b="1" dirty="0">
                <a:solidFill>
                  <a:srgbClr val="2A0A45"/>
                </a:solidFill>
                <a:latin typeface="Calibri" pitchFamily="34" charset="0"/>
                <a:ea typeface="Calibri" pitchFamily="34" charset="-122"/>
                <a:cs typeface="Calibri" pitchFamily="34" charset="-120"/>
              </a:rPr>
              <a:t>The build — five blocks, one system</a:t>
            </a:r>
            <a:endParaRPr lang="en-US" sz="1350" dirty="0"/>
          </a:p>
        </p:txBody>
      </p:sp>
      <p:sp>
        <p:nvSpPr>
          <p:cNvPr id="46" name="Shape 41"/>
          <p:cNvSpPr/>
          <p:nvPr/>
        </p:nvSpPr>
        <p:spPr>
          <a:xfrm>
            <a:off x="8275320" y="2304288"/>
            <a:ext cx="3776472" cy="365760"/>
          </a:xfrm>
          <a:prstGeom prst="rect">
            <a:avLst/>
          </a:prstGeom>
          <a:solidFill>
            <a:srgbClr val="2A0A45"/>
          </a:solidFill>
          <a:ln w="12700">
            <a:solidFill>
              <a:srgbClr val="333333"/>
            </a:solidFill>
            <a:prstDash val="solid"/>
          </a:ln>
        </p:spPr>
      </p:sp>
      <p:sp>
        <p:nvSpPr>
          <p:cNvPr id="47" name="Text 42"/>
          <p:cNvSpPr/>
          <p:nvPr/>
        </p:nvSpPr>
        <p:spPr>
          <a:xfrm>
            <a:off x="8357616" y="2304288"/>
            <a:ext cx="3639312" cy="36576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01  IDENTITY SPINE — mobile + VIN join key</a:t>
            </a:r>
            <a:endParaRPr lang="en-US" sz="1200" dirty="0"/>
          </a:p>
        </p:txBody>
      </p:sp>
      <p:sp>
        <p:nvSpPr>
          <p:cNvPr id="48" name="Shape 43"/>
          <p:cNvSpPr/>
          <p:nvPr/>
        </p:nvSpPr>
        <p:spPr>
          <a:xfrm>
            <a:off x="8275320" y="2734056"/>
            <a:ext cx="3776472" cy="365760"/>
          </a:xfrm>
          <a:prstGeom prst="rect">
            <a:avLst/>
          </a:prstGeom>
          <a:solidFill>
            <a:srgbClr val="6A00B8"/>
          </a:solidFill>
          <a:ln w="12700">
            <a:solidFill>
              <a:srgbClr val="333333"/>
            </a:solidFill>
            <a:prstDash val="solid"/>
          </a:ln>
        </p:spPr>
      </p:sp>
      <p:sp>
        <p:nvSpPr>
          <p:cNvPr id="49" name="Text 44"/>
          <p:cNvSpPr/>
          <p:nvPr/>
        </p:nvSpPr>
        <p:spPr>
          <a:xfrm>
            <a:off x="8357616" y="2734056"/>
            <a:ext cx="3639312" cy="36576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02  PROCESS STANDARD — SLA, 4 journeys, scorecard</a:t>
            </a:r>
            <a:endParaRPr lang="en-US" sz="1200" dirty="0"/>
          </a:p>
        </p:txBody>
      </p:sp>
      <p:sp>
        <p:nvSpPr>
          <p:cNvPr id="50" name="Shape 45"/>
          <p:cNvSpPr/>
          <p:nvPr/>
        </p:nvSpPr>
        <p:spPr>
          <a:xfrm>
            <a:off x="8275320" y="3163824"/>
            <a:ext cx="3776472" cy="365760"/>
          </a:xfrm>
          <a:prstGeom prst="rect">
            <a:avLst/>
          </a:prstGeom>
          <a:solidFill>
            <a:srgbClr val="A100FF"/>
          </a:solidFill>
          <a:ln w="12700">
            <a:solidFill>
              <a:srgbClr val="333333"/>
            </a:solidFill>
            <a:prstDash val="solid"/>
          </a:ln>
        </p:spPr>
      </p:sp>
      <p:sp>
        <p:nvSpPr>
          <p:cNvPr id="51" name="Text 46"/>
          <p:cNvSpPr/>
          <p:nvPr/>
        </p:nvSpPr>
        <p:spPr>
          <a:xfrm>
            <a:off x="8357616" y="3163824"/>
            <a:ext cx="3639312" cy="36576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03  THE AGENT — two journeys, one human gate</a:t>
            </a:r>
            <a:endParaRPr lang="en-US" sz="1200" dirty="0"/>
          </a:p>
        </p:txBody>
      </p:sp>
      <p:sp>
        <p:nvSpPr>
          <p:cNvPr id="52" name="Shape 47"/>
          <p:cNvSpPr/>
          <p:nvPr/>
        </p:nvSpPr>
        <p:spPr>
          <a:xfrm>
            <a:off x="8275320" y="3593592"/>
            <a:ext cx="3776472" cy="365760"/>
          </a:xfrm>
          <a:prstGeom prst="rect">
            <a:avLst/>
          </a:prstGeom>
          <a:solidFill>
            <a:srgbClr val="C98CFF"/>
          </a:solidFill>
          <a:ln w="12700">
            <a:solidFill>
              <a:srgbClr val="333333"/>
            </a:solidFill>
            <a:prstDash val="solid"/>
          </a:ln>
        </p:spPr>
      </p:sp>
      <p:sp>
        <p:nvSpPr>
          <p:cNvPr id="53" name="Text 48"/>
          <p:cNvSpPr/>
          <p:nvPr/>
        </p:nvSpPr>
        <p:spPr>
          <a:xfrm>
            <a:off x="8357616" y="3593592"/>
            <a:ext cx="3639312" cy="365760"/>
          </a:xfrm>
          <a:prstGeom prst="rect">
            <a:avLst/>
          </a:prstGeom>
          <a:noFill/>
          <a:ln/>
        </p:spPr>
        <p:txBody>
          <a:bodyPr wrap="square" lIns="0" tIns="0" rIns="0" bIns="0" rtlCol="0" anchor="ctr"/>
          <a:lstStyle/>
          <a:p>
            <a:pPr indent="0" marL="0">
              <a:buNone/>
            </a:pPr>
            <a:r>
              <a:rPr lang="en-US" sz="1200" b="1" dirty="0">
                <a:solidFill>
                  <a:srgbClr val="2A0A45"/>
                </a:solidFill>
                <a:latin typeface="Calibri" pitchFamily="34" charset="0"/>
                <a:ea typeface="Calibri" pitchFamily="34" charset="-122"/>
                <a:cs typeface="Calibri" pitchFamily="34" charset="-120"/>
              </a:rPr>
              <a:t>04  ADOPTION ENGINE — usage is paid, coached, gated</a:t>
            </a:r>
            <a:endParaRPr lang="en-US" sz="1200" dirty="0"/>
          </a:p>
        </p:txBody>
      </p:sp>
      <p:sp>
        <p:nvSpPr>
          <p:cNvPr id="54" name="Shape 49"/>
          <p:cNvSpPr/>
          <p:nvPr/>
        </p:nvSpPr>
        <p:spPr>
          <a:xfrm>
            <a:off x="8275320" y="4023360"/>
            <a:ext cx="3776472" cy="365760"/>
          </a:xfrm>
          <a:prstGeom prst="rect">
            <a:avLst/>
          </a:prstGeom>
          <a:solidFill>
            <a:srgbClr val="EADCF9"/>
          </a:solidFill>
          <a:ln w="12700">
            <a:solidFill>
              <a:srgbClr val="333333"/>
            </a:solidFill>
            <a:prstDash val="solid"/>
          </a:ln>
        </p:spPr>
      </p:sp>
      <p:sp>
        <p:nvSpPr>
          <p:cNvPr id="55" name="Text 50"/>
          <p:cNvSpPr/>
          <p:nvPr/>
        </p:nvSpPr>
        <p:spPr>
          <a:xfrm>
            <a:off x="8357616" y="4023360"/>
            <a:ext cx="3639312" cy="365760"/>
          </a:xfrm>
          <a:prstGeom prst="rect">
            <a:avLst/>
          </a:prstGeom>
          <a:noFill/>
          <a:ln/>
        </p:spPr>
        <p:txBody>
          <a:bodyPr wrap="square" lIns="0" tIns="0" rIns="0" bIns="0" rtlCol="0" anchor="ctr"/>
          <a:lstStyle/>
          <a:p>
            <a:pPr indent="0" marL="0">
              <a:buNone/>
            </a:pPr>
            <a:r>
              <a:rPr lang="en-US" sz="1200" b="1" dirty="0">
                <a:solidFill>
                  <a:srgbClr val="2A0A45"/>
                </a:solidFill>
                <a:latin typeface="Calibri" pitchFamily="34" charset="0"/>
                <a:ea typeface="Calibri" pitchFamily="34" charset="-122"/>
                <a:cs typeface="Calibri" pitchFamily="34" charset="-120"/>
              </a:rPr>
              <a:t>05  VALUE OFFICE — control groups, one ledger, 4 gates</a:t>
            </a:r>
            <a:endParaRPr lang="en-US" sz="1200" dirty="0"/>
          </a:p>
        </p:txBody>
      </p:sp>
      <p:sp>
        <p:nvSpPr>
          <p:cNvPr id="56" name="Text 51"/>
          <p:cNvSpPr/>
          <p:nvPr/>
        </p:nvSpPr>
        <p:spPr>
          <a:xfrm>
            <a:off x="8275320" y="4498848"/>
            <a:ext cx="3776472" cy="502920"/>
          </a:xfrm>
          <a:prstGeom prst="rect">
            <a:avLst/>
          </a:prstGeom>
          <a:noFill/>
          <a:ln/>
        </p:spPr>
        <p:txBody>
          <a:bodyPr wrap="square" lIns="0" tIns="0" rIns="0" bIns="0" rtlCol="0" anchor="ctr"/>
          <a:lstStyle/>
          <a:p>
            <a:pPr indent="0" marL="0">
              <a:lnSpc>
                <a:spcPct val="98000"/>
              </a:lnSpc>
              <a:buNone/>
            </a:pPr>
            <a:r>
              <a:rPr lang="en-US" sz="1200" dirty="0">
                <a:solidFill>
                  <a:srgbClr val="3A3838"/>
                </a:solidFill>
                <a:latin typeface="Calibri" pitchFamily="34" charset="0"/>
                <a:ea typeface="Calibri" pitchFamily="34" charset="-122"/>
                <a:cs typeface="Calibri" pitchFamily="34" charset="-120"/>
              </a:rPr>
              <a:t>Only block 03 is AI. </a:t>
            </a:r>
            <a:pPr indent="0" marL="0">
              <a:lnSpc>
                <a:spcPct val="98000"/>
              </a:lnSpc>
              <a:buNone/>
            </a:pPr>
            <a:r>
              <a:rPr lang="en-US" sz="1200" b="1" dirty="0">
                <a:solidFill>
                  <a:srgbClr val="3A3838"/>
                </a:solidFill>
                <a:latin typeface="Calibri" pitchFamily="34" charset="0"/>
                <a:ea typeface="Calibri" pitchFamily="34" charset="-122"/>
                <a:cs typeface="Calibri" pitchFamily="34" charset="-120"/>
              </a:rPr>
              <a:t>Three of five are the conditions that make AI work</a:t>
            </a:r>
            <a:pPr indent="0" marL="0">
              <a:lnSpc>
                <a:spcPct val="98000"/>
              </a:lnSpc>
              <a:buNone/>
            </a:pPr>
            <a:r>
              <a:rPr lang="en-US" sz="1200" dirty="0">
                <a:solidFill>
                  <a:srgbClr val="3A3838"/>
                </a:solidFill>
                <a:latin typeface="Calibri" pitchFamily="34" charset="0"/>
                <a:ea typeface="Calibri" pitchFamily="34" charset="-122"/>
                <a:cs typeface="Calibri" pitchFamily="34" charset="-120"/>
              </a:rPr>
              <a:t> — the case's 32-pilot history is why.</a:t>
            </a:r>
            <a:endParaRPr lang="en-US" sz="1200" dirty="0"/>
          </a:p>
        </p:txBody>
      </p:sp>
      <p:sp>
        <p:nvSpPr>
          <p:cNvPr id="57" name="Text 52"/>
          <p:cNvSpPr/>
          <p:nvPr/>
        </p:nvSpPr>
        <p:spPr>
          <a:xfrm>
            <a:off x="8275320" y="5047488"/>
            <a:ext cx="3776472" cy="786384"/>
          </a:xfrm>
          <a:prstGeom prst="rect">
            <a:avLst/>
          </a:prstGeom>
          <a:solidFill>
            <a:srgbClr val="2A0A45"/>
          </a:solidFill>
          <a:ln/>
        </p:spPr>
        <p:txBody>
          <a:bodyPr wrap="square" lIns="762" tIns="762" rIns="762" bIns="762" rtlCol="0" anchor="ctr"/>
          <a:lstStyle/>
          <a:p>
            <a:pPr indent="0" marL="0">
              <a:lnSpc>
                <a:spcPct val="98000"/>
              </a:lnSpc>
              <a:buNone/>
            </a:pPr>
            <a:r>
              <a:rPr lang="en-US" sz="1200" dirty="0">
                <a:solidFill>
                  <a:srgbClr val="FFFFFF"/>
                </a:solidFill>
                <a:latin typeface="Calibri" pitchFamily="34" charset="0"/>
                <a:ea typeface="Calibri" pitchFamily="34" charset="-122"/>
                <a:cs typeface="Calibri" pitchFamily="34" charset="-120"/>
              </a:rPr>
              <a:t>Four of five rivals already run lifecycle AI — </a:t>
            </a:r>
            <a:pPr indent="0" marL="0">
              <a:lnSpc>
                <a:spcPct val="98000"/>
              </a:lnSpc>
              <a:buNone/>
            </a:pPr>
            <a:r>
              <a:rPr lang="en-US" sz="1200" b="1" dirty="0">
                <a:solidFill>
                  <a:srgbClr val="C98CFF"/>
                </a:solidFill>
                <a:latin typeface="Calibri" pitchFamily="34" charset="0"/>
                <a:ea typeface="Calibri" pitchFamily="34" charset="-122"/>
                <a:cs typeface="Calibri" pitchFamily="34" charset="-120"/>
              </a:rPr>
              <a:t>AI is table stakes</a:t>
            </a:r>
            <a:pPr indent="0" marL="0">
              <a:lnSpc>
                <a:spcPct val="98000"/>
              </a:lnSpc>
              <a:buNone/>
            </a:pPr>
            <a:r>
              <a:rPr lang="en-US" sz="1200" dirty="0">
                <a:solidFill>
                  <a:srgbClr val="FFFFFF"/>
                </a:solidFill>
                <a:latin typeface="Calibri" pitchFamily="34" charset="0"/>
                <a:ea typeface="Calibri" pitchFamily="34" charset="-122"/>
                <a:cs typeface="Calibri" pitchFamily="34" charset="-120"/>
              </a:rPr>
              <a:t>. What cannot be copied in a quarter: 1,050 outlets on one operating system with a solvent dealer network.</a:t>
            </a:r>
            <a:endParaRPr lang="en-US" sz="1200" dirty="0"/>
          </a:p>
        </p:txBody>
      </p:sp>
      <p:sp>
        <p:nvSpPr>
          <p:cNvPr id="58" name="Text 53"/>
          <p:cNvSpPr/>
          <p:nvPr/>
        </p:nvSpPr>
        <p:spPr>
          <a:xfrm>
            <a:off x="8275320" y="5925312"/>
            <a:ext cx="3776472" cy="475488"/>
          </a:xfrm>
          <a:prstGeom prst="rect">
            <a:avLst/>
          </a:prstGeom>
          <a:solidFill>
            <a:srgbClr val="A100FF"/>
          </a:solidFill>
          <a:ln w="25400">
            <a:solidFill>
              <a:srgbClr val="2A0A45"/>
            </a:solidFill>
          </a:ln>
        </p:spPr>
        <p:txBody>
          <a:bodyPr wrap="square" lIns="0" tIns="0" rIns="0" bIns="0" rtlCol="0" anchor="ctr"/>
          <a:lstStyle/>
          <a:p>
            <a:pPr algn="ctr" indent="0" marL="0">
              <a:lnSpc>
                <a:spcPct val="98000"/>
              </a:lnSpc>
              <a:buNone/>
            </a:pPr>
            <a:r>
              <a:rPr lang="en-US" sz="1200" b="1" dirty="0">
                <a:solidFill>
                  <a:srgbClr val="FFFFFF"/>
                </a:solidFill>
                <a:latin typeface="Calibri" pitchFamily="34" charset="0"/>
                <a:ea typeface="Calibri" pitchFamily="34" charset="-122"/>
                <a:cs typeface="Calibri" pitchFamily="34" charset="-120"/>
              </a:rPr>
              <a:t>₹85 CR COMMITTED BEFORE THE FIRST PROOF POINT — 11% OF THE TOTAL</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137160" y="155448"/>
            <a:ext cx="1874520" cy="41148"/>
          </a:xfrm>
          <a:prstGeom prst="rect">
            <a:avLst/>
          </a:prstGeom>
          <a:solidFill>
            <a:srgbClr val="2A0A45"/>
          </a:solidFill>
          <a:ln w="12700">
            <a:solidFill>
              <a:srgbClr val="333333"/>
            </a:solidFill>
            <a:prstDash val="solid"/>
          </a:ln>
        </p:spPr>
      </p:sp>
      <p:sp>
        <p:nvSpPr>
          <p:cNvPr id="3" name="Shape 1"/>
          <p:cNvSpPr/>
          <p:nvPr/>
        </p:nvSpPr>
        <p:spPr>
          <a:xfrm>
            <a:off x="137160" y="246888"/>
            <a:ext cx="1453896" cy="41148"/>
          </a:xfrm>
          <a:prstGeom prst="rect">
            <a:avLst/>
          </a:prstGeom>
          <a:solidFill>
            <a:srgbClr val="2A0A45"/>
          </a:solidFill>
          <a:ln w="12700">
            <a:solidFill>
              <a:srgbClr val="333333"/>
            </a:solidFill>
            <a:prstDash val="solid"/>
          </a:ln>
        </p:spPr>
      </p:sp>
      <p:sp>
        <p:nvSpPr>
          <p:cNvPr id="4" name="Shape 2"/>
          <p:cNvSpPr/>
          <p:nvPr/>
        </p:nvSpPr>
        <p:spPr>
          <a:xfrm>
            <a:off x="137160" y="338328"/>
            <a:ext cx="1874520" cy="41148"/>
          </a:xfrm>
          <a:prstGeom prst="rect">
            <a:avLst/>
          </a:prstGeom>
          <a:solidFill>
            <a:srgbClr val="2A0A45"/>
          </a:solidFill>
          <a:ln w="12700">
            <a:solidFill>
              <a:srgbClr val="333333"/>
            </a:solidFill>
            <a:prstDash val="solid"/>
          </a:ln>
        </p:spPr>
      </p:sp>
      <p:sp>
        <p:nvSpPr>
          <p:cNvPr id="5" name="Shape 3"/>
          <p:cNvSpPr/>
          <p:nvPr/>
        </p:nvSpPr>
        <p:spPr>
          <a:xfrm>
            <a:off x="10177272" y="155448"/>
            <a:ext cx="1874520" cy="41148"/>
          </a:xfrm>
          <a:prstGeom prst="rect">
            <a:avLst/>
          </a:prstGeom>
          <a:solidFill>
            <a:srgbClr val="2A0A45"/>
          </a:solidFill>
          <a:ln w="12700">
            <a:solidFill>
              <a:srgbClr val="333333"/>
            </a:solidFill>
            <a:prstDash val="solid"/>
          </a:ln>
        </p:spPr>
      </p:sp>
      <p:sp>
        <p:nvSpPr>
          <p:cNvPr id="6" name="Shape 4"/>
          <p:cNvSpPr/>
          <p:nvPr/>
        </p:nvSpPr>
        <p:spPr>
          <a:xfrm>
            <a:off x="10597896" y="246888"/>
            <a:ext cx="1453896" cy="41148"/>
          </a:xfrm>
          <a:prstGeom prst="rect">
            <a:avLst/>
          </a:prstGeom>
          <a:solidFill>
            <a:srgbClr val="2A0A45"/>
          </a:solidFill>
          <a:ln w="12700">
            <a:solidFill>
              <a:srgbClr val="333333"/>
            </a:solidFill>
            <a:prstDash val="solid"/>
          </a:ln>
        </p:spPr>
      </p:sp>
      <p:sp>
        <p:nvSpPr>
          <p:cNvPr id="7" name="Shape 5"/>
          <p:cNvSpPr/>
          <p:nvPr/>
        </p:nvSpPr>
        <p:spPr>
          <a:xfrm>
            <a:off x="10177272" y="338328"/>
            <a:ext cx="1874520" cy="41148"/>
          </a:xfrm>
          <a:prstGeom prst="rect">
            <a:avLst/>
          </a:prstGeom>
          <a:solidFill>
            <a:srgbClr val="2A0A45"/>
          </a:solidFill>
          <a:ln w="12700">
            <a:solidFill>
              <a:srgbClr val="333333"/>
            </a:solidFill>
            <a:prstDash val="solid"/>
          </a:ln>
        </p:spPr>
      </p:sp>
      <p:sp>
        <p:nvSpPr>
          <p:cNvPr id="8" name="Text 6"/>
          <p:cNvSpPr/>
          <p:nvPr/>
        </p:nvSpPr>
        <p:spPr>
          <a:xfrm>
            <a:off x="2057400" y="0"/>
            <a:ext cx="8092440" cy="530352"/>
          </a:xfrm>
          <a:prstGeom prst="rect">
            <a:avLst/>
          </a:prstGeom>
          <a:noFill/>
          <a:ln/>
        </p:spPr>
        <p:txBody>
          <a:bodyPr wrap="square" lIns="0" tIns="0" rIns="0" bIns="0" rtlCol="0" anchor="ctr"/>
          <a:lstStyle/>
          <a:p>
            <a:pPr algn="ctr" indent="0" marL="0">
              <a:buNone/>
            </a:pPr>
            <a:r>
              <a:rPr lang="en-US" sz="2600" b="1" dirty="0">
                <a:solidFill>
                  <a:srgbClr val="000000"/>
                </a:solidFill>
                <a:latin typeface="Calibri" pitchFamily="34" charset="0"/>
                <a:ea typeface="Calibri" pitchFamily="34" charset="-122"/>
                <a:cs typeface="Calibri" pitchFamily="34" charset="-120"/>
              </a:rPr>
              <a:t>TARGET OPERATING MODEL — DECIDE, DO, PROVE</a:t>
            </a:r>
            <a:endParaRPr lang="en-US" sz="2600" dirty="0"/>
          </a:p>
        </p:txBody>
      </p:sp>
      <p:sp>
        <p:nvSpPr>
          <p:cNvPr id="9" name="Text 7"/>
          <p:cNvSpPr/>
          <p:nvPr/>
        </p:nvSpPr>
        <p:spPr>
          <a:xfrm>
            <a:off x="0" y="548640"/>
            <a:ext cx="12191695" cy="310896"/>
          </a:xfrm>
          <a:prstGeom prst="rect">
            <a:avLst/>
          </a:prstGeom>
          <a:solidFill>
            <a:srgbClr val="A100FF"/>
          </a:solid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REALITY 3 ANSWERED: AI CANNOT SCALE INSIDE A PRE-AI OPERATING MODEL, SO DECISION RIGHTS, ROLES AND THE DEALER BOUNDARY MOVE FIRST</a:t>
            </a:r>
            <a:endParaRPr lang="en-US" sz="1300" dirty="0"/>
          </a:p>
        </p:txBody>
      </p:sp>
      <p:sp>
        <p:nvSpPr>
          <p:cNvPr id="10" name="Shape 8"/>
          <p:cNvSpPr/>
          <p:nvPr/>
        </p:nvSpPr>
        <p:spPr>
          <a:xfrm>
            <a:off x="0" y="859536"/>
            <a:ext cx="12191695" cy="27432"/>
          </a:xfrm>
          <a:prstGeom prst="rect">
            <a:avLst/>
          </a:prstGeom>
          <a:solidFill>
            <a:srgbClr val="2A0A45"/>
          </a:solidFill>
          <a:ln w="12700">
            <a:solidFill>
              <a:srgbClr val="333333"/>
            </a:solidFill>
            <a:prstDash val="solid"/>
          </a:ln>
        </p:spPr>
      </p:sp>
      <p:sp>
        <p:nvSpPr>
          <p:cNvPr id="11" name="Shape 9"/>
          <p:cNvSpPr/>
          <p:nvPr/>
        </p:nvSpPr>
        <p:spPr>
          <a:xfrm>
            <a:off x="0" y="1783080"/>
            <a:ext cx="12191695" cy="27432"/>
          </a:xfrm>
          <a:prstGeom prst="rect">
            <a:avLst/>
          </a:prstGeom>
          <a:solidFill>
            <a:srgbClr val="2A0A45"/>
          </a:solidFill>
          <a:ln w="12700">
            <a:solidFill>
              <a:srgbClr val="333333"/>
            </a:solidFill>
            <a:prstDash val="solid"/>
          </a:ln>
        </p:spPr>
      </p:sp>
      <p:sp>
        <p:nvSpPr>
          <p:cNvPr id="12" name="Shape 10"/>
          <p:cNvSpPr/>
          <p:nvPr/>
        </p:nvSpPr>
        <p:spPr>
          <a:xfrm>
            <a:off x="0" y="6528816"/>
            <a:ext cx="12191695" cy="329184"/>
          </a:xfrm>
          <a:prstGeom prst="rect">
            <a:avLst/>
          </a:prstGeom>
          <a:solidFill>
            <a:srgbClr val="2A0A45"/>
          </a:solidFill>
          <a:ln w="12700">
            <a:solidFill>
              <a:srgbClr val="333333"/>
            </a:solidFill>
            <a:prstDash val="solid"/>
          </a:ln>
        </p:spPr>
      </p:sp>
      <p:sp>
        <p:nvSpPr>
          <p:cNvPr id="13" name="Text 11"/>
          <p:cNvSpPr/>
          <p:nvPr/>
        </p:nvSpPr>
        <p:spPr>
          <a:xfrm>
            <a:off x="137160" y="6528816"/>
            <a:ext cx="9601200" cy="329184"/>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Operating-model layers: journeys · process · organisation · decision rights · technology · people · performance</a:t>
            </a:r>
            <a:endParaRPr lang="en-US" sz="1200" dirty="0"/>
          </a:p>
        </p:txBody>
      </p:sp>
      <p:sp>
        <p:nvSpPr>
          <p:cNvPr id="14" name="Text 12"/>
          <p:cNvSpPr/>
          <p:nvPr/>
        </p:nvSpPr>
        <p:spPr>
          <a:xfrm>
            <a:off x="10789920" y="6528816"/>
            <a:ext cx="1280160" cy="329184"/>
          </a:xfrm>
          <a:prstGeom prst="rect">
            <a:avLst/>
          </a:prstGeom>
          <a:noFill/>
          <a:ln/>
        </p:spPr>
        <p:txBody>
          <a:bodyPr wrap="square" lIns="0" tIns="0" rIns="0" bIns="0" rtlCol="0" anchor="ctr"/>
          <a:lstStyle/>
          <a:p>
            <a:pPr algn="r" indent="0" marL="0">
              <a:buNone/>
            </a:pPr>
            <a:r>
              <a:rPr lang="en-US" sz="1200" dirty="0">
                <a:solidFill>
                  <a:srgbClr val="FFFFFF"/>
                </a:solidFill>
                <a:latin typeface="Calibri" pitchFamily="34" charset="0"/>
                <a:ea typeface="Calibri" pitchFamily="34" charset="-122"/>
                <a:cs typeface="Calibri" pitchFamily="34" charset="-120"/>
              </a:rPr>
              <a:t>2 / 7</a:t>
            </a:r>
            <a:endParaRPr lang="en-US" sz="1200" dirty="0"/>
          </a:p>
        </p:txBody>
      </p:sp>
      <p:sp>
        <p:nvSpPr>
          <p:cNvPr id="15" name="Shape 13"/>
          <p:cNvSpPr/>
          <p:nvPr/>
        </p:nvSpPr>
        <p:spPr>
          <a:xfrm>
            <a:off x="0" y="886968"/>
            <a:ext cx="1938528" cy="896112"/>
          </a:xfrm>
          <a:prstGeom prst="homePlate">
            <a:avLst/>
          </a:prstGeom>
          <a:solidFill>
            <a:srgbClr val="2A0A45"/>
          </a:solidFill>
          <a:ln w="12700">
            <a:solidFill>
              <a:srgbClr val="333333"/>
            </a:solidFill>
            <a:prstDash val="solid"/>
          </a:ln>
        </p:spPr>
      </p:sp>
      <p:pic>
        <p:nvPicPr>
          <p:cNvPr id="16" name="Image 0" descr="preencoded.png">    </p:cNvPr>
          <p:cNvPicPr>
            <a:picLocks noChangeAspect="1"/>
          </p:cNvPicPr>
          <p:nvPr/>
        </p:nvPicPr>
        <p:blipFill>
          <a:blip r:embed="rId1"/>
          <a:stretch>
            <a:fillRect/>
          </a:stretch>
        </p:blipFill>
        <p:spPr>
          <a:xfrm>
            <a:off x="128016" y="1005840"/>
            <a:ext cx="274320" cy="274320"/>
          </a:xfrm>
          <a:prstGeom prst="rect">
            <a:avLst/>
          </a:prstGeom>
        </p:spPr>
      </p:pic>
      <p:sp>
        <p:nvSpPr>
          <p:cNvPr id="17" name="Text 14"/>
          <p:cNvSpPr/>
          <p:nvPr/>
        </p:nvSpPr>
        <p:spPr>
          <a:xfrm>
            <a:off x="457200" y="905256"/>
            <a:ext cx="1325880" cy="859536"/>
          </a:xfrm>
          <a:prstGeom prst="rect">
            <a:avLst/>
          </a:prstGeom>
          <a:noFill/>
          <a:ln/>
        </p:spPr>
        <p:txBody>
          <a:bodyPr wrap="square" lIns="0" tIns="0" rIns="0" bIns="0" rtlCol="0" anchor="ctr"/>
          <a:lstStyle/>
          <a:p>
            <a:pPr indent="0" marL="0">
              <a:lnSpc>
                <a:spcPct val="100000"/>
              </a:lnSpc>
              <a:buNone/>
            </a:pPr>
            <a:r>
              <a:rPr lang="en-US" sz="1200" b="1" dirty="0">
                <a:solidFill>
                  <a:srgbClr val="FFFFFF"/>
                </a:solidFill>
                <a:latin typeface="Calibri" pitchFamily="34" charset="0"/>
                <a:ea typeface="Calibri" pitchFamily="34" charset="-122"/>
                <a:cs typeface="Calibri" pitchFamily="34" charset="-120"/>
              </a:rPr>
              <a:t>SEVEN DESIGN</a:t>
            </a:r>
            <a:pPr indent="0" marL="0">
              <a:lnSpc>
                <a:spcPct val="100000"/>
              </a:lnSpc>
              <a:buNone/>
            </a:pPr>
            <a:endParaRPr lang="en-US" sz="1200" dirty="0"/>
          </a:p>
          <a:p>
            <a:pPr indent="0" marL="0">
              <a:lnSpc>
                <a:spcPct val="100000"/>
              </a:lnSpc>
              <a:buNone/>
            </a:pPr>
            <a:r>
              <a:rPr lang="en-US" sz="1200" b="1" dirty="0">
                <a:solidFill>
                  <a:srgbClr val="FFFFFF"/>
                </a:solidFill>
                <a:latin typeface="Calibri" pitchFamily="34" charset="0"/>
                <a:ea typeface="Calibri" pitchFamily="34" charset="-122"/>
                <a:cs typeface="Calibri" pitchFamily="34" charset="-120"/>
              </a:rPr>
              <a:t>LAYERS</a:t>
            </a:r>
            <a:endParaRPr lang="en-US" sz="1200" dirty="0"/>
          </a:p>
        </p:txBody>
      </p:sp>
      <p:sp>
        <p:nvSpPr>
          <p:cNvPr id="18" name="Shape 15"/>
          <p:cNvSpPr/>
          <p:nvPr/>
        </p:nvSpPr>
        <p:spPr>
          <a:xfrm>
            <a:off x="2029968" y="932688"/>
            <a:ext cx="1371600" cy="786384"/>
          </a:xfrm>
          <a:prstGeom prst="rect">
            <a:avLst/>
          </a:prstGeom>
          <a:solidFill>
            <a:srgbClr val="F6F1FC"/>
          </a:solidFill>
          <a:ln w="12700">
            <a:solidFill>
              <a:srgbClr val="333333"/>
            </a:solidFill>
            <a:prstDash val="solid"/>
          </a:ln>
        </p:spPr>
      </p:sp>
      <p:sp>
        <p:nvSpPr>
          <p:cNvPr id="19" name="Shape 16"/>
          <p:cNvSpPr/>
          <p:nvPr/>
        </p:nvSpPr>
        <p:spPr>
          <a:xfrm>
            <a:off x="2029968" y="932688"/>
            <a:ext cx="1371600" cy="45720"/>
          </a:xfrm>
          <a:prstGeom prst="rect">
            <a:avLst/>
          </a:prstGeom>
          <a:solidFill>
            <a:srgbClr val="A100FF"/>
          </a:solidFill>
          <a:ln w="12700">
            <a:solidFill>
              <a:srgbClr val="333333"/>
            </a:solidFill>
            <a:prstDash val="solid"/>
          </a:ln>
        </p:spPr>
      </p:sp>
      <p:sp>
        <p:nvSpPr>
          <p:cNvPr id="20" name="Text 17"/>
          <p:cNvSpPr/>
          <p:nvPr/>
        </p:nvSpPr>
        <p:spPr>
          <a:xfrm>
            <a:off x="2084832" y="969264"/>
            <a:ext cx="1280160" cy="731520"/>
          </a:xfrm>
          <a:prstGeom prst="rect">
            <a:avLst/>
          </a:prstGeom>
          <a:noFill/>
          <a:ln/>
        </p:spPr>
        <p:txBody>
          <a:bodyPr wrap="square" lIns="0" tIns="0" rIns="0" bIns="0" rtlCol="0" anchor="t"/>
          <a:lstStyle/>
          <a:p>
            <a:pPr indent="0" marL="0">
              <a:lnSpc>
                <a:spcPct val="95000"/>
              </a:lnSpc>
              <a:buNone/>
            </a:pPr>
            <a:r>
              <a:rPr lang="en-US" sz="1200" b="1" dirty="0">
                <a:solidFill>
                  <a:srgbClr val="6A00B8"/>
                </a:solidFill>
                <a:latin typeface="Calibri" pitchFamily="34" charset="0"/>
                <a:ea typeface="Calibri" pitchFamily="34" charset="-122"/>
                <a:cs typeface="Calibri" pitchFamily="34" charset="-120"/>
              </a:rPr>
              <a:t>1 Journeys</a:t>
            </a:r>
            <a:endParaRPr lang="en-US" sz="1200" dirty="0"/>
          </a:p>
          <a:p>
            <a:pPr indent="0" marL="0">
              <a:lnSpc>
                <a:spcPct val="95000"/>
              </a:lnSpc>
              <a:buNone/>
            </a:pPr>
            <a:r>
              <a:rPr lang="en-US" sz="1200" b="1" dirty="0">
                <a:solidFill>
                  <a:srgbClr val="6A00B8"/>
                </a:solidFill>
                <a:latin typeface="Calibri" pitchFamily="34" charset="0"/>
                <a:ea typeface="Calibri" pitchFamily="34" charset="-122"/>
                <a:cs typeface="Calibri" pitchFamily="34" charset="-120"/>
              </a:rPr>
              <a:t>4 mandated</a:t>
            </a:r>
            <a:endParaRPr lang="en-US" sz="1200" dirty="0"/>
          </a:p>
        </p:txBody>
      </p:sp>
      <p:sp>
        <p:nvSpPr>
          <p:cNvPr id="21" name="Shape 18"/>
          <p:cNvSpPr/>
          <p:nvPr/>
        </p:nvSpPr>
        <p:spPr>
          <a:xfrm>
            <a:off x="3479292" y="932688"/>
            <a:ext cx="1371600" cy="786384"/>
          </a:xfrm>
          <a:prstGeom prst="rect">
            <a:avLst/>
          </a:prstGeom>
          <a:solidFill>
            <a:srgbClr val="F6F1FC"/>
          </a:solidFill>
          <a:ln w="12700">
            <a:solidFill>
              <a:srgbClr val="333333"/>
            </a:solidFill>
            <a:prstDash val="solid"/>
          </a:ln>
        </p:spPr>
      </p:sp>
      <p:sp>
        <p:nvSpPr>
          <p:cNvPr id="22" name="Shape 19"/>
          <p:cNvSpPr/>
          <p:nvPr/>
        </p:nvSpPr>
        <p:spPr>
          <a:xfrm>
            <a:off x="3479292" y="932688"/>
            <a:ext cx="1371600" cy="45720"/>
          </a:xfrm>
          <a:prstGeom prst="rect">
            <a:avLst/>
          </a:prstGeom>
          <a:solidFill>
            <a:srgbClr val="A100FF"/>
          </a:solidFill>
          <a:ln w="12700">
            <a:solidFill>
              <a:srgbClr val="333333"/>
            </a:solidFill>
            <a:prstDash val="solid"/>
          </a:ln>
        </p:spPr>
      </p:sp>
      <p:sp>
        <p:nvSpPr>
          <p:cNvPr id="23" name="Text 20"/>
          <p:cNvSpPr/>
          <p:nvPr/>
        </p:nvSpPr>
        <p:spPr>
          <a:xfrm>
            <a:off x="3534156" y="969264"/>
            <a:ext cx="1280160" cy="731520"/>
          </a:xfrm>
          <a:prstGeom prst="rect">
            <a:avLst/>
          </a:prstGeom>
          <a:noFill/>
          <a:ln/>
        </p:spPr>
        <p:txBody>
          <a:bodyPr wrap="square" lIns="0" tIns="0" rIns="0" bIns="0" rtlCol="0" anchor="t"/>
          <a:lstStyle/>
          <a:p>
            <a:pPr indent="0" marL="0">
              <a:lnSpc>
                <a:spcPct val="95000"/>
              </a:lnSpc>
              <a:buNone/>
            </a:pPr>
            <a:r>
              <a:rPr lang="en-US" sz="1200" b="1" dirty="0">
                <a:solidFill>
                  <a:srgbClr val="6A00B8"/>
                </a:solidFill>
                <a:latin typeface="Calibri" pitchFamily="34" charset="0"/>
                <a:ea typeface="Calibri" pitchFamily="34" charset="-122"/>
                <a:cs typeface="Calibri" pitchFamily="34" charset="-120"/>
              </a:rPr>
              <a:t>2 Process</a:t>
            </a:r>
            <a:endParaRPr lang="en-US" sz="1200" dirty="0"/>
          </a:p>
          <a:p>
            <a:pPr indent="0" marL="0">
              <a:lnSpc>
                <a:spcPct val="95000"/>
              </a:lnSpc>
              <a:buNone/>
            </a:pPr>
            <a:r>
              <a:rPr lang="en-US" sz="1200" b="1" dirty="0">
                <a:solidFill>
                  <a:srgbClr val="6A00B8"/>
                </a:solidFill>
                <a:latin typeface="Calibri" pitchFamily="34" charset="0"/>
                <a:ea typeface="Calibri" pitchFamily="34" charset="-122"/>
                <a:cs typeface="Calibri" pitchFamily="34" charset="-120"/>
              </a:rPr>
              <a:t>34→90% std</a:t>
            </a:r>
            <a:endParaRPr lang="en-US" sz="1200" dirty="0"/>
          </a:p>
        </p:txBody>
      </p:sp>
      <p:sp>
        <p:nvSpPr>
          <p:cNvPr id="24" name="Shape 21"/>
          <p:cNvSpPr/>
          <p:nvPr/>
        </p:nvSpPr>
        <p:spPr>
          <a:xfrm>
            <a:off x="4928616" y="932688"/>
            <a:ext cx="1371600" cy="786384"/>
          </a:xfrm>
          <a:prstGeom prst="rect">
            <a:avLst/>
          </a:prstGeom>
          <a:solidFill>
            <a:srgbClr val="F6F1FC"/>
          </a:solidFill>
          <a:ln w="12700">
            <a:solidFill>
              <a:srgbClr val="333333"/>
            </a:solidFill>
            <a:prstDash val="solid"/>
          </a:ln>
        </p:spPr>
      </p:sp>
      <p:sp>
        <p:nvSpPr>
          <p:cNvPr id="25" name="Shape 22"/>
          <p:cNvSpPr/>
          <p:nvPr/>
        </p:nvSpPr>
        <p:spPr>
          <a:xfrm>
            <a:off x="4928616" y="932688"/>
            <a:ext cx="1371600" cy="45720"/>
          </a:xfrm>
          <a:prstGeom prst="rect">
            <a:avLst/>
          </a:prstGeom>
          <a:solidFill>
            <a:srgbClr val="A100FF"/>
          </a:solidFill>
          <a:ln w="12700">
            <a:solidFill>
              <a:srgbClr val="333333"/>
            </a:solidFill>
            <a:prstDash val="solid"/>
          </a:ln>
        </p:spPr>
      </p:sp>
      <p:sp>
        <p:nvSpPr>
          <p:cNvPr id="26" name="Text 23"/>
          <p:cNvSpPr/>
          <p:nvPr/>
        </p:nvSpPr>
        <p:spPr>
          <a:xfrm>
            <a:off x="4983480" y="969264"/>
            <a:ext cx="1280160" cy="731520"/>
          </a:xfrm>
          <a:prstGeom prst="rect">
            <a:avLst/>
          </a:prstGeom>
          <a:noFill/>
          <a:ln/>
        </p:spPr>
        <p:txBody>
          <a:bodyPr wrap="square" lIns="0" tIns="0" rIns="0" bIns="0" rtlCol="0" anchor="t"/>
          <a:lstStyle/>
          <a:p>
            <a:pPr indent="0" marL="0">
              <a:lnSpc>
                <a:spcPct val="95000"/>
              </a:lnSpc>
              <a:buNone/>
            </a:pPr>
            <a:r>
              <a:rPr lang="en-US" sz="1200" b="1" dirty="0">
                <a:solidFill>
                  <a:srgbClr val="6A00B8"/>
                </a:solidFill>
                <a:latin typeface="Calibri" pitchFamily="34" charset="0"/>
                <a:ea typeface="Calibri" pitchFamily="34" charset="-122"/>
                <a:cs typeface="Calibri" pitchFamily="34" charset="-120"/>
              </a:rPr>
              <a:t>3 Org</a:t>
            </a:r>
            <a:endParaRPr lang="en-US" sz="1200" dirty="0"/>
          </a:p>
          <a:p>
            <a:pPr indent="0" marL="0">
              <a:lnSpc>
                <a:spcPct val="95000"/>
              </a:lnSpc>
              <a:buNone/>
            </a:pPr>
            <a:r>
              <a:rPr lang="en-US" sz="1200" b="1" dirty="0">
                <a:solidFill>
                  <a:srgbClr val="6A00B8"/>
                </a:solidFill>
                <a:latin typeface="Calibri" pitchFamily="34" charset="0"/>
                <a:ea typeface="Calibri" pitchFamily="34" charset="-122"/>
                <a:cs typeface="Calibri" pitchFamily="34" charset="-120"/>
              </a:rPr>
              <a:t>9 core · 120 coaches</a:t>
            </a:r>
            <a:endParaRPr lang="en-US" sz="1200" dirty="0"/>
          </a:p>
        </p:txBody>
      </p:sp>
      <p:sp>
        <p:nvSpPr>
          <p:cNvPr id="27" name="Shape 24"/>
          <p:cNvSpPr/>
          <p:nvPr/>
        </p:nvSpPr>
        <p:spPr>
          <a:xfrm>
            <a:off x="6377940" y="932688"/>
            <a:ext cx="1371600" cy="786384"/>
          </a:xfrm>
          <a:prstGeom prst="rect">
            <a:avLst/>
          </a:prstGeom>
          <a:solidFill>
            <a:srgbClr val="2A0A45"/>
          </a:solidFill>
          <a:ln w="12700">
            <a:solidFill>
              <a:srgbClr val="333333"/>
            </a:solidFill>
            <a:prstDash val="solid"/>
          </a:ln>
        </p:spPr>
      </p:sp>
      <p:sp>
        <p:nvSpPr>
          <p:cNvPr id="28" name="Shape 25"/>
          <p:cNvSpPr/>
          <p:nvPr/>
        </p:nvSpPr>
        <p:spPr>
          <a:xfrm>
            <a:off x="6377940" y="932688"/>
            <a:ext cx="1371600" cy="45720"/>
          </a:xfrm>
          <a:prstGeom prst="rect">
            <a:avLst/>
          </a:prstGeom>
          <a:solidFill>
            <a:srgbClr val="C98CFF"/>
          </a:solidFill>
          <a:ln w="12700">
            <a:solidFill>
              <a:srgbClr val="333333"/>
            </a:solidFill>
            <a:prstDash val="solid"/>
          </a:ln>
        </p:spPr>
      </p:sp>
      <p:sp>
        <p:nvSpPr>
          <p:cNvPr id="29" name="Text 26"/>
          <p:cNvSpPr/>
          <p:nvPr/>
        </p:nvSpPr>
        <p:spPr>
          <a:xfrm>
            <a:off x="6432804" y="969264"/>
            <a:ext cx="1280160" cy="731520"/>
          </a:xfrm>
          <a:prstGeom prst="rect">
            <a:avLst/>
          </a:prstGeom>
          <a:noFill/>
          <a:ln/>
        </p:spPr>
        <p:txBody>
          <a:bodyPr wrap="square" lIns="0" tIns="0" rIns="0" bIns="0" rtlCol="0" anchor="t"/>
          <a:lstStyle/>
          <a:p>
            <a:pPr indent="0" marL="0">
              <a:lnSpc>
                <a:spcPct val="95000"/>
              </a:lnSpc>
              <a:buNone/>
            </a:pPr>
            <a:r>
              <a:rPr lang="en-US" sz="1200" b="1" dirty="0">
                <a:solidFill>
                  <a:srgbClr val="FFFFFF"/>
                </a:solidFill>
                <a:latin typeface="Calibri" pitchFamily="34" charset="0"/>
                <a:ea typeface="Calibri" pitchFamily="34" charset="-122"/>
                <a:cs typeface="Calibri" pitchFamily="34" charset="-120"/>
              </a:rPr>
              <a:t>4 Decision rights</a:t>
            </a:r>
            <a:endParaRPr lang="en-US" sz="1200" dirty="0"/>
          </a:p>
          <a:p>
            <a:pPr indent="0" marL="0">
              <a:lnSpc>
                <a:spcPct val="95000"/>
              </a:lnSpc>
              <a:buNone/>
            </a:pPr>
            <a:r>
              <a:rPr lang="en-US" sz="1200" b="1" dirty="0">
                <a:solidFill>
                  <a:srgbClr val="FFFFFF"/>
                </a:solidFill>
                <a:latin typeface="Calibri" pitchFamily="34" charset="0"/>
                <a:ea typeface="Calibri" pitchFamily="34" charset="-122"/>
                <a:cs typeface="Calibri" pitchFamily="34" charset="-120"/>
              </a:rPr>
              <a:t>4 tiers · clear owners</a:t>
            </a:r>
            <a:endParaRPr lang="en-US" sz="1200" dirty="0"/>
          </a:p>
        </p:txBody>
      </p:sp>
      <p:sp>
        <p:nvSpPr>
          <p:cNvPr id="30" name="Shape 27"/>
          <p:cNvSpPr/>
          <p:nvPr/>
        </p:nvSpPr>
        <p:spPr>
          <a:xfrm>
            <a:off x="7827264" y="932688"/>
            <a:ext cx="1371600" cy="786384"/>
          </a:xfrm>
          <a:prstGeom prst="rect">
            <a:avLst/>
          </a:prstGeom>
          <a:solidFill>
            <a:srgbClr val="F6F1FC"/>
          </a:solidFill>
          <a:ln w="12700">
            <a:solidFill>
              <a:srgbClr val="333333"/>
            </a:solidFill>
            <a:prstDash val="solid"/>
          </a:ln>
        </p:spPr>
      </p:sp>
      <p:sp>
        <p:nvSpPr>
          <p:cNvPr id="31" name="Shape 28"/>
          <p:cNvSpPr/>
          <p:nvPr/>
        </p:nvSpPr>
        <p:spPr>
          <a:xfrm>
            <a:off x="7827264" y="932688"/>
            <a:ext cx="1371600" cy="45720"/>
          </a:xfrm>
          <a:prstGeom prst="rect">
            <a:avLst/>
          </a:prstGeom>
          <a:solidFill>
            <a:srgbClr val="A100FF"/>
          </a:solidFill>
          <a:ln w="12700">
            <a:solidFill>
              <a:srgbClr val="333333"/>
            </a:solidFill>
            <a:prstDash val="solid"/>
          </a:ln>
        </p:spPr>
      </p:sp>
      <p:sp>
        <p:nvSpPr>
          <p:cNvPr id="32" name="Text 29"/>
          <p:cNvSpPr/>
          <p:nvPr/>
        </p:nvSpPr>
        <p:spPr>
          <a:xfrm>
            <a:off x="7882128" y="969264"/>
            <a:ext cx="1280160" cy="731520"/>
          </a:xfrm>
          <a:prstGeom prst="rect">
            <a:avLst/>
          </a:prstGeom>
          <a:noFill/>
          <a:ln/>
        </p:spPr>
        <p:txBody>
          <a:bodyPr wrap="square" lIns="0" tIns="0" rIns="0" bIns="0" rtlCol="0" anchor="t"/>
          <a:lstStyle/>
          <a:p>
            <a:pPr indent="0" marL="0">
              <a:lnSpc>
                <a:spcPct val="95000"/>
              </a:lnSpc>
              <a:buNone/>
            </a:pPr>
            <a:r>
              <a:rPr lang="en-US" sz="1200" b="1" dirty="0">
                <a:solidFill>
                  <a:srgbClr val="6A00B8"/>
                </a:solidFill>
                <a:latin typeface="Calibri" pitchFamily="34" charset="0"/>
                <a:ea typeface="Calibri" pitchFamily="34" charset="-122"/>
                <a:cs typeface="Calibri" pitchFamily="34" charset="-120"/>
              </a:rPr>
              <a:t>5 Technology</a:t>
            </a:r>
            <a:endParaRPr lang="en-US" sz="1200" dirty="0"/>
          </a:p>
          <a:p>
            <a:pPr indent="0" marL="0">
              <a:lnSpc>
                <a:spcPct val="95000"/>
              </a:lnSpc>
              <a:buNone/>
            </a:pPr>
            <a:r>
              <a:rPr lang="en-US" sz="1200" b="1" dirty="0">
                <a:solidFill>
                  <a:srgbClr val="6A00B8"/>
                </a:solidFill>
                <a:latin typeface="Calibri" pitchFamily="34" charset="0"/>
                <a:ea typeface="Calibri" pitchFamily="34" charset="-122"/>
                <a:cs typeface="Calibri" pitchFamily="34" charset="-120"/>
              </a:rPr>
              <a:t>11→4 vendors</a:t>
            </a:r>
            <a:endParaRPr lang="en-US" sz="1200" dirty="0"/>
          </a:p>
        </p:txBody>
      </p:sp>
      <p:sp>
        <p:nvSpPr>
          <p:cNvPr id="33" name="Shape 30"/>
          <p:cNvSpPr/>
          <p:nvPr/>
        </p:nvSpPr>
        <p:spPr>
          <a:xfrm>
            <a:off x="9276588" y="932688"/>
            <a:ext cx="1371600" cy="786384"/>
          </a:xfrm>
          <a:prstGeom prst="rect">
            <a:avLst/>
          </a:prstGeom>
          <a:solidFill>
            <a:srgbClr val="F6F1FC"/>
          </a:solidFill>
          <a:ln w="12700">
            <a:solidFill>
              <a:srgbClr val="333333"/>
            </a:solidFill>
            <a:prstDash val="solid"/>
          </a:ln>
        </p:spPr>
      </p:sp>
      <p:sp>
        <p:nvSpPr>
          <p:cNvPr id="34" name="Shape 31"/>
          <p:cNvSpPr/>
          <p:nvPr/>
        </p:nvSpPr>
        <p:spPr>
          <a:xfrm>
            <a:off x="9276588" y="932688"/>
            <a:ext cx="1371600" cy="45720"/>
          </a:xfrm>
          <a:prstGeom prst="rect">
            <a:avLst/>
          </a:prstGeom>
          <a:solidFill>
            <a:srgbClr val="A100FF"/>
          </a:solidFill>
          <a:ln w="12700">
            <a:solidFill>
              <a:srgbClr val="333333"/>
            </a:solidFill>
            <a:prstDash val="solid"/>
          </a:ln>
        </p:spPr>
      </p:sp>
      <p:sp>
        <p:nvSpPr>
          <p:cNvPr id="35" name="Text 32"/>
          <p:cNvSpPr/>
          <p:nvPr/>
        </p:nvSpPr>
        <p:spPr>
          <a:xfrm>
            <a:off x="9331452" y="969264"/>
            <a:ext cx="1280160" cy="731520"/>
          </a:xfrm>
          <a:prstGeom prst="rect">
            <a:avLst/>
          </a:prstGeom>
          <a:noFill/>
          <a:ln/>
        </p:spPr>
        <p:txBody>
          <a:bodyPr wrap="square" lIns="0" tIns="0" rIns="0" bIns="0" rtlCol="0" anchor="t"/>
          <a:lstStyle/>
          <a:p>
            <a:pPr indent="0" marL="0">
              <a:lnSpc>
                <a:spcPct val="95000"/>
              </a:lnSpc>
              <a:buNone/>
            </a:pPr>
            <a:r>
              <a:rPr lang="en-US" sz="1200" b="1" dirty="0">
                <a:solidFill>
                  <a:srgbClr val="6A00B8"/>
                </a:solidFill>
                <a:latin typeface="Calibri" pitchFamily="34" charset="0"/>
                <a:ea typeface="Calibri" pitchFamily="34" charset="-122"/>
                <a:cs typeface="Calibri" pitchFamily="34" charset="-120"/>
              </a:rPr>
              <a:t>6 People</a:t>
            </a:r>
            <a:endParaRPr lang="en-US" sz="1200" dirty="0"/>
          </a:p>
          <a:p>
            <a:pPr indent="0" marL="0">
              <a:lnSpc>
                <a:spcPct val="95000"/>
              </a:lnSpc>
              <a:buNone/>
            </a:pPr>
            <a:r>
              <a:rPr lang="en-US" sz="1200" b="1" dirty="0">
                <a:solidFill>
                  <a:srgbClr val="6A00B8"/>
                </a:solidFill>
                <a:latin typeface="Calibri" pitchFamily="34" charset="0"/>
                <a:ea typeface="Calibri" pitchFamily="34" charset="-122"/>
                <a:cs typeface="Calibri" pitchFamily="34" charset="-120"/>
              </a:rPr>
              <a:t>certify · pay</a:t>
            </a:r>
            <a:endParaRPr lang="en-US" sz="1200" dirty="0"/>
          </a:p>
        </p:txBody>
      </p:sp>
      <p:sp>
        <p:nvSpPr>
          <p:cNvPr id="36" name="Shape 33"/>
          <p:cNvSpPr/>
          <p:nvPr/>
        </p:nvSpPr>
        <p:spPr>
          <a:xfrm>
            <a:off x="10725912" y="932688"/>
            <a:ext cx="1371600" cy="786384"/>
          </a:xfrm>
          <a:prstGeom prst="rect">
            <a:avLst/>
          </a:prstGeom>
          <a:solidFill>
            <a:srgbClr val="2A0A45"/>
          </a:solidFill>
          <a:ln w="12700">
            <a:solidFill>
              <a:srgbClr val="333333"/>
            </a:solidFill>
            <a:prstDash val="solid"/>
          </a:ln>
        </p:spPr>
      </p:sp>
      <p:sp>
        <p:nvSpPr>
          <p:cNvPr id="37" name="Shape 34"/>
          <p:cNvSpPr/>
          <p:nvPr/>
        </p:nvSpPr>
        <p:spPr>
          <a:xfrm>
            <a:off x="10725912" y="932688"/>
            <a:ext cx="1371600" cy="45720"/>
          </a:xfrm>
          <a:prstGeom prst="rect">
            <a:avLst/>
          </a:prstGeom>
          <a:solidFill>
            <a:srgbClr val="C98CFF"/>
          </a:solidFill>
          <a:ln w="12700">
            <a:solidFill>
              <a:srgbClr val="333333"/>
            </a:solidFill>
            <a:prstDash val="solid"/>
          </a:ln>
        </p:spPr>
      </p:sp>
      <p:sp>
        <p:nvSpPr>
          <p:cNvPr id="38" name="Text 35"/>
          <p:cNvSpPr/>
          <p:nvPr/>
        </p:nvSpPr>
        <p:spPr>
          <a:xfrm>
            <a:off x="10780776" y="969264"/>
            <a:ext cx="1280160" cy="731520"/>
          </a:xfrm>
          <a:prstGeom prst="rect">
            <a:avLst/>
          </a:prstGeom>
          <a:noFill/>
          <a:ln/>
        </p:spPr>
        <p:txBody>
          <a:bodyPr wrap="square" lIns="0" tIns="0" rIns="0" bIns="0" rtlCol="0" anchor="t"/>
          <a:lstStyle/>
          <a:p>
            <a:pPr indent="0" marL="0">
              <a:lnSpc>
                <a:spcPct val="95000"/>
              </a:lnSpc>
              <a:buNone/>
            </a:pPr>
            <a:r>
              <a:rPr lang="en-US" sz="1200" b="1" dirty="0">
                <a:solidFill>
                  <a:srgbClr val="FFFFFF"/>
                </a:solidFill>
                <a:latin typeface="Calibri" pitchFamily="34" charset="0"/>
                <a:ea typeface="Calibri" pitchFamily="34" charset="-122"/>
                <a:cs typeface="Calibri" pitchFamily="34" charset="-120"/>
              </a:rPr>
              <a:t>7 Performance</a:t>
            </a:r>
            <a:endParaRPr lang="en-US" sz="1200" dirty="0"/>
          </a:p>
          <a:p>
            <a:pPr indent="0" marL="0">
              <a:lnSpc>
                <a:spcPct val="95000"/>
              </a:lnSpc>
              <a:buNone/>
            </a:pPr>
            <a:r>
              <a:rPr lang="en-US" sz="1200" b="1" dirty="0">
                <a:solidFill>
                  <a:srgbClr val="FFFFFF"/>
                </a:solidFill>
                <a:latin typeface="Calibri" pitchFamily="34" charset="0"/>
                <a:ea typeface="Calibri" pitchFamily="34" charset="-122"/>
                <a:cs typeface="Calibri" pitchFamily="34" charset="-120"/>
              </a:rPr>
              <a:t>gates · ledger</a:t>
            </a:r>
            <a:endParaRPr lang="en-US" sz="1200" dirty="0"/>
          </a:p>
        </p:txBody>
      </p:sp>
      <p:sp>
        <p:nvSpPr>
          <p:cNvPr id="39" name="Shape 36"/>
          <p:cNvSpPr/>
          <p:nvPr/>
        </p:nvSpPr>
        <p:spPr>
          <a:xfrm>
            <a:off x="4123944" y="1874520"/>
            <a:ext cx="13716" cy="4526280"/>
          </a:xfrm>
          <a:prstGeom prst="rect">
            <a:avLst/>
          </a:prstGeom>
          <a:solidFill>
            <a:srgbClr val="DCD4E8"/>
          </a:solidFill>
          <a:ln w="12700">
            <a:solidFill>
              <a:srgbClr val="333333"/>
            </a:solidFill>
            <a:prstDash val="solid"/>
          </a:ln>
        </p:spPr>
      </p:sp>
      <p:sp>
        <p:nvSpPr>
          <p:cNvPr id="40" name="Shape 37"/>
          <p:cNvSpPr/>
          <p:nvPr/>
        </p:nvSpPr>
        <p:spPr>
          <a:xfrm>
            <a:off x="8174736" y="1874520"/>
            <a:ext cx="13716" cy="4526280"/>
          </a:xfrm>
          <a:prstGeom prst="rect">
            <a:avLst/>
          </a:prstGeom>
          <a:solidFill>
            <a:srgbClr val="DCD4E8"/>
          </a:solidFill>
          <a:ln w="12700">
            <a:solidFill>
              <a:srgbClr val="333333"/>
            </a:solidFill>
            <a:prstDash val="solid"/>
          </a:ln>
        </p:spPr>
      </p:sp>
      <p:sp>
        <p:nvSpPr>
          <p:cNvPr id="41" name="Shape 38"/>
          <p:cNvSpPr/>
          <p:nvPr/>
        </p:nvSpPr>
        <p:spPr>
          <a:xfrm>
            <a:off x="137160" y="1920240"/>
            <a:ext cx="292608" cy="292608"/>
          </a:xfrm>
          <a:prstGeom prst="ellipse">
            <a:avLst/>
          </a:prstGeom>
          <a:solidFill>
            <a:srgbClr val="A100FF"/>
          </a:solidFill>
          <a:ln w="12700">
            <a:solidFill>
              <a:srgbClr val="333333"/>
            </a:solidFill>
            <a:prstDash val="solid"/>
          </a:ln>
        </p:spPr>
      </p:sp>
      <p:sp>
        <p:nvSpPr>
          <p:cNvPr id="42" name="Text 39"/>
          <p:cNvSpPr/>
          <p:nvPr/>
        </p:nvSpPr>
        <p:spPr>
          <a:xfrm>
            <a:off x="137160" y="1920240"/>
            <a:ext cx="292608" cy="29260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43" name="Text 40"/>
          <p:cNvSpPr/>
          <p:nvPr/>
        </p:nvSpPr>
        <p:spPr>
          <a:xfrm>
            <a:off x="521208" y="1929384"/>
            <a:ext cx="3474720" cy="292608"/>
          </a:xfrm>
          <a:prstGeom prst="rect">
            <a:avLst/>
          </a:prstGeom>
          <a:noFill/>
          <a:ln/>
        </p:spPr>
        <p:txBody>
          <a:bodyPr wrap="square" lIns="0" tIns="0" rIns="0" bIns="0" rtlCol="0" anchor="ctr"/>
          <a:lstStyle/>
          <a:p>
            <a:pPr indent="0" marL="0">
              <a:buNone/>
            </a:pPr>
            <a:r>
              <a:rPr lang="en-US" sz="1350" b="1" dirty="0">
                <a:solidFill>
                  <a:srgbClr val="2A0A45"/>
                </a:solidFill>
                <a:latin typeface="Calibri" pitchFamily="34" charset="0"/>
                <a:ea typeface="Calibri" pitchFamily="34" charset="-122"/>
                <a:cs typeface="Calibri" pitchFamily="34" charset="-120"/>
              </a:rPr>
              <a:t>Organisation — thin centre, deep network</a:t>
            </a:r>
            <a:endParaRPr lang="en-US" sz="1350" dirty="0"/>
          </a:p>
        </p:txBody>
      </p:sp>
      <p:sp>
        <p:nvSpPr>
          <p:cNvPr id="44" name="Shape 41"/>
          <p:cNvSpPr/>
          <p:nvPr/>
        </p:nvSpPr>
        <p:spPr>
          <a:xfrm>
            <a:off x="1220724" y="2304288"/>
            <a:ext cx="1737360" cy="384048"/>
          </a:xfrm>
          <a:prstGeom prst="rect">
            <a:avLst/>
          </a:prstGeom>
          <a:solidFill>
            <a:srgbClr val="2A0A45"/>
          </a:solidFill>
          <a:ln w="12700">
            <a:solidFill>
              <a:srgbClr val="333333"/>
            </a:solidFill>
            <a:prstDash val="solid"/>
          </a:ln>
        </p:spPr>
      </p:sp>
      <p:sp>
        <p:nvSpPr>
          <p:cNvPr id="45" name="Text 42"/>
          <p:cNvSpPr/>
          <p:nvPr/>
        </p:nvSpPr>
        <p:spPr>
          <a:xfrm>
            <a:off x="1220724" y="2304288"/>
            <a:ext cx="17373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OEM core · 9 roles</a:t>
            </a:r>
            <a:endParaRPr lang="en-US" sz="1200" dirty="0"/>
          </a:p>
        </p:txBody>
      </p:sp>
      <p:sp>
        <p:nvSpPr>
          <p:cNvPr id="46" name="Shape 43"/>
          <p:cNvSpPr/>
          <p:nvPr/>
        </p:nvSpPr>
        <p:spPr>
          <a:xfrm>
            <a:off x="854964" y="2761488"/>
            <a:ext cx="2468880" cy="384048"/>
          </a:xfrm>
          <a:prstGeom prst="rect">
            <a:avLst/>
          </a:prstGeom>
          <a:solidFill>
            <a:srgbClr val="6A00B8"/>
          </a:solidFill>
          <a:ln w="12700">
            <a:solidFill>
              <a:srgbClr val="333333"/>
            </a:solidFill>
            <a:prstDash val="solid"/>
          </a:ln>
        </p:spPr>
      </p:sp>
      <p:sp>
        <p:nvSpPr>
          <p:cNvPr id="47" name="Text 44"/>
          <p:cNvSpPr/>
          <p:nvPr/>
        </p:nvSpPr>
        <p:spPr>
          <a:xfrm>
            <a:off x="854964" y="2761488"/>
            <a:ext cx="246888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Digital coaches · 120  (1 : 9 outlets)</a:t>
            </a:r>
            <a:endParaRPr lang="en-US" sz="1200" dirty="0"/>
          </a:p>
        </p:txBody>
      </p:sp>
      <p:sp>
        <p:nvSpPr>
          <p:cNvPr id="48" name="Shape 45"/>
          <p:cNvSpPr/>
          <p:nvPr/>
        </p:nvSpPr>
        <p:spPr>
          <a:xfrm>
            <a:off x="489204" y="3218688"/>
            <a:ext cx="3200400" cy="384048"/>
          </a:xfrm>
          <a:prstGeom prst="rect">
            <a:avLst/>
          </a:prstGeom>
          <a:solidFill>
            <a:srgbClr val="A100FF"/>
          </a:solidFill>
          <a:ln w="12700">
            <a:solidFill>
              <a:srgbClr val="333333"/>
            </a:solidFill>
            <a:prstDash val="solid"/>
          </a:ln>
        </p:spPr>
      </p:sp>
      <p:sp>
        <p:nvSpPr>
          <p:cNvPr id="49" name="Text 46"/>
          <p:cNvSpPr/>
          <p:nvPr/>
        </p:nvSpPr>
        <p:spPr>
          <a:xfrm>
            <a:off x="489204" y="3218688"/>
            <a:ext cx="320040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Dealer champions · 1,050 (one per outlet)</a:t>
            </a:r>
            <a:endParaRPr lang="en-US" sz="1200" dirty="0"/>
          </a:p>
        </p:txBody>
      </p:sp>
      <p:sp>
        <p:nvSpPr>
          <p:cNvPr id="50" name="Shape 47"/>
          <p:cNvSpPr/>
          <p:nvPr/>
        </p:nvSpPr>
        <p:spPr>
          <a:xfrm>
            <a:off x="137160" y="3675888"/>
            <a:ext cx="3904488" cy="384048"/>
          </a:xfrm>
          <a:prstGeom prst="rect">
            <a:avLst/>
          </a:prstGeom>
          <a:solidFill>
            <a:srgbClr val="C98CFF"/>
          </a:solidFill>
          <a:ln w="12700">
            <a:solidFill>
              <a:srgbClr val="333333"/>
            </a:solidFill>
            <a:prstDash val="solid"/>
          </a:ln>
        </p:spPr>
      </p:sp>
      <p:sp>
        <p:nvSpPr>
          <p:cNvPr id="51" name="Text 48"/>
          <p:cNvSpPr/>
          <p:nvPr/>
        </p:nvSpPr>
        <p:spPr>
          <a:xfrm>
            <a:off x="137160" y="3675888"/>
            <a:ext cx="3904488" cy="384048"/>
          </a:xfrm>
          <a:prstGeom prst="rect">
            <a:avLst/>
          </a:prstGeom>
          <a:noFill/>
          <a:ln/>
        </p:spPr>
        <p:txBody>
          <a:bodyPr wrap="square" lIns="0" tIns="0" rIns="0" bIns="0" rtlCol="0" anchor="ctr"/>
          <a:lstStyle/>
          <a:p>
            <a:pPr algn="ctr" indent="0" marL="0">
              <a:buNone/>
            </a:pPr>
            <a:r>
              <a:rPr lang="en-US" sz="1200" b="1" dirty="0">
                <a:solidFill>
                  <a:srgbClr val="2A0A45"/>
                </a:solidFill>
                <a:latin typeface="Calibri" pitchFamily="34" charset="0"/>
                <a:ea typeface="Calibri" pitchFamily="34" charset="-122"/>
                <a:cs typeface="Calibri" pitchFamily="34" charset="-120"/>
              </a:rPr>
              <a:t>Reactivation desks · 420 metro outlets</a:t>
            </a:r>
            <a:endParaRPr lang="en-US" sz="12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137160" y="4224528"/>
          <a:ext cx="3904488" cy="914400"/>
        </p:xfrm>
        <a:graphic>
          <a:graphicData uri="http://schemas.openxmlformats.org/drawingml/2006/table">
            <a:tbl>
              <a:tblPr/>
              <a:tblGrid>
                <a:gridCol w="1188720"/>
                <a:gridCol w="384048"/>
                <a:gridCol w="2331720"/>
              </a:tblGrid>
              <a:tr h="228600">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Core role</a:t>
                      </a:r>
                      <a:endParaRPr lang="en-US" sz="1200" dirty="0">
                        <a:latin typeface="Calibri" charset="0"/>
                        <a:ea typeface="Calibri" charset="0"/>
                        <a:cs typeface="Calibri" charset="0"/>
                      </a:endParaRPr>
                    </a:p>
                  </a:txBody>
                  <a:tcPr marL="36576" marR="36576" marT="36576" marB="36576" anchor="ctr">
                    <a:lnL w="9525" cap="flat" cmpd="sng" algn="ctr">
                      <a:solidFill>
                        <a:srgbClr val="DCD4E8"/>
                      </a:solidFill>
                      <a:prstDash val="solid"/>
                      <a:round/>
                      <a:headEnd type="none" w="med" len="med"/>
                      <a:tailEnd type="none" w="med" len="med"/>
                    </a:lnL>
                    <a:lnR w="9525" cap="flat" cmpd="sng" algn="ctr">
                      <a:solidFill>
                        <a:srgbClr val="DCD4E8"/>
                      </a:solidFill>
                      <a:prstDash val="solid"/>
                      <a:round/>
                      <a:headEnd type="none" w="med" len="med"/>
                      <a:tailEnd type="none" w="med" len="med"/>
                    </a:lnR>
                    <a:lnT w="9525" cap="flat" cmpd="sng" algn="ctr">
                      <a:solidFill>
                        <a:srgbClr val="DCD4E8"/>
                      </a:solidFill>
                      <a:prstDash val="solid"/>
                      <a:round/>
                      <a:headEnd type="none" w="med" len="med"/>
                      <a:tailEnd type="none" w="med" len="med"/>
                    </a:lnT>
                    <a:lnB w="9525" cap="flat" cmpd="sng" algn="ctr">
                      <a:solidFill>
                        <a:srgbClr val="DCD4E8"/>
                      </a:solidFill>
                      <a:prstDash val="solid"/>
                      <a:round/>
                      <a:headEnd type="none" w="med" len="med"/>
                      <a:tailEnd type="none" w="med" len="med"/>
                    </a:lnB>
                    <a:solidFill>
                      <a:srgbClr val="2A0A45"/>
                    </a:solidFill>
                  </a:tcPr>
                </a:tc>
                <a:tc>
                  <a:txBody>
                    <a:bodyPr/>
                    <a:lstStyle/>
                    <a:p>
                      <a:pPr algn="r" indent="0" marL="0">
                        <a:buNone/>
                      </a:pPr>
                      <a:r>
                        <a:rPr lang="en-US" sz="1200" b="1" dirty="0">
                          <a:solidFill>
                            <a:srgbClr val="FFFFFF"/>
                          </a:solidFill>
                          <a:latin typeface="Calibri" pitchFamily="34" charset="0"/>
                          <a:ea typeface="Calibri" pitchFamily="34" charset="-122"/>
                          <a:cs typeface="Calibri" pitchFamily="34" charset="-120"/>
                        </a:rPr>
                        <a:t>No.</a:t>
                      </a:r>
                      <a:endParaRPr lang="en-US" sz="1200" dirty="0">
                        <a:latin typeface="Calibri" charset="0"/>
                        <a:ea typeface="Calibri" charset="0"/>
                        <a:cs typeface="Calibri" charset="0"/>
                      </a:endParaRPr>
                    </a:p>
                  </a:txBody>
                  <a:tcPr marL="36576" marR="36576" marT="36576" marB="36576" anchor="ctr">
                    <a:lnL w="9525" cap="flat" cmpd="sng" algn="ctr">
                      <a:solidFill>
                        <a:srgbClr val="DCD4E8"/>
                      </a:solidFill>
                      <a:prstDash val="solid"/>
                      <a:round/>
                      <a:headEnd type="none" w="med" len="med"/>
                      <a:tailEnd type="none" w="med" len="med"/>
                    </a:lnL>
                    <a:lnR w="9525" cap="flat" cmpd="sng" algn="ctr">
                      <a:solidFill>
                        <a:srgbClr val="DCD4E8"/>
                      </a:solidFill>
                      <a:prstDash val="solid"/>
                      <a:round/>
                      <a:headEnd type="none" w="med" len="med"/>
                      <a:tailEnd type="none" w="med" len="med"/>
                    </a:lnR>
                    <a:lnT w="9525" cap="flat" cmpd="sng" algn="ctr">
                      <a:solidFill>
                        <a:srgbClr val="DCD4E8"/>
                      </a:solidFill>
                      <a:prstDash val="solid"/>
                      <a:round/>
                      <a:headEnd type="none" w="med" len="med"/>
                      <a:tailEnd type="none" w="med" len="med"/>
                    </a:lnT>
                    <a:lnB w="9525" cap="flat" cmpd="sng" algn="ctr">
                      <a:solidFill>
                        <a:srgbClr val="DCD4E8"/>
                      </a:solidFill>
                      <a:prstDash val="solid"/>
                      <a:round/>
                      <a:headEnd type="none" w="med" len="med"/>
                      <a:tailEnd type="none" w="med" len="med"/>
                    </a:lnB>
                    <a:solidFill>
                      <a:srgbClr val="2A0A45"/>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Owns</a:t>
                      </a:r>
                      <a:endParaRPr lang="en-US" sz="1200" dirty="0">
                        <a:latin typeface="Calibri" charset="0"/>
                        <a:ea typeface="Calibri" charset="0"/>
                        <a:cs typeface="Calibri" charset="0"/>
                      </a:endParaRPr>
                    </a:p>
                  </a:txBody>
                  <a:tcPr marL="36576" marR="36576" marT="36576" marB="36576" anchor="ctr">
                    <a:lnL w="9525" cap="flat" cmpd="sng" algn="ctr">
                      <a:solidFill>
                        <a:srgbClr val="DCD4E8"/>
                      </a:solidFill>
                      <a:prstDash val="solid"/>
                      <a:round/>
                      <a:headEnd type="none" w="med" len="med"/>
                      <a:tailEnd type="none" w="med" len="med"/>
                    </a:lnL>
                    <a:lnR w="9525" cap="flat" cmpd="sng" algn="ctr">
                      <a:solidFill>
                        <a:srgbClr val="DCD4E8"/>
                      </a:solidFill>
                      <a:prstDash val="solid"/>
                      <a:round/>
                      <a:headEnd type="none" w="med" len="med"/>
                      <a:tailEnd type="none" w="med" len="med"/>
                    </a:lnR>
                    <a:lnT w="9525" cap="flat" cmpd="sng" algn="ctr">
                      <a:solidFill>
                        <a:srgbClr val="DCD4E8"/>
                      </a:solidFill>
                      <a:prstDash val="solid"/>
                      <a:round/>
                      <a:headEnd type="none" w="med" len="med"/>
                      <a:tailEnd type="none" w="med" len="med"/>
                    </a:lnT>
                    <a:lnB w="9525" cap="flat" cmpd="sng" algn="ctr">
                      <a:solidFill>
                        <a:srgbClr val="DCD4E8"/>
                      </a:solidFill>
                      <a:prstDash val="solid"/>
                      <a:round/>
                      <a:headEnd type="none" w="med" len="med"/>
                      <a:tailEnd type="none" w="med" len="med"/>
                    </a:lnB>
                    <a:solidFill>
                      <a:srgbClr val="2A0A45"/>
                    </a:solidFill>
                  </a:tcPr>
                </a:tc>
              </a:tr>
              <a:tr h="228600">
                <a:tc>
                  <a:txBody>
                    <a:bodyPr/>
                    <a:lstStyle/>
                    <a:p>
                      <a:pPr algn="l" indent="0" marL="0">
                        <a:buNone/>
                      </a:pPr>
                      <a:r>
                        <a:rPr lang="en-US" sz="1200" dirty="0">
                          <a:solidFill>
                            <a:srgbClr val="3A3838"/>
                          </a:solidFill>
                          <a:latin typeface="Calibri" pitchFamily="34" charset="0"/>
                          <a:ea typeface="Calibri" pitchFamily="34" charset="-122"/>
                          <a:cs typeface="Calibri" pitchFamily="34" charset="-120"/>
                        </a:rPr>
                        <a:t>Journey owner</a:t>
                      </a:r>
                      <a:endParaRPr lang="en-US" sz="1200" dirty="0">
                        <a:latin typeface="Calibri" charset="0"/>
                        <a:ea typeface="Calibri" charset="0"/>
                        <a:cs typeface="Calibri" charset="0"/>
                      </a:endParaRPr>
                    </a:p>
                  </a:txBody>
                  <a:tcPr marL="36576" marR="36576" marT="36576" marB="36576" anchor="ctr">
                    <a:lnL w="9525" cap="flat" cmpd="sng" algn="ctr">
                      <a:solidFill>
                        <a:srgbClr val="DCD4E8"/>
                      </a:solidFill>
                      <a:prstDash val="solid"/>
                      <a:round/>
                      <a:headEnd type="none" w="med" len="med"/>
                      <a:tailEnd type="none" w="med" len="med"/>
                    </a:lnL>
                    <a:lnR w="9525" cap="flat" cmpd="sng" algn="ctr">
                      <a:solidFill>
                        <a:srgbClr val="DCD4E8"/>
                      </a:solidFill>
                      <a:prstDash val="solid"/>
                      <a:round/>
                      <a:headEnd type="none" w="med" len="med"/>
                      <a:tailEnd type="none" w="med" len="med"/>
                    </a:lnR>
                    <a:lnT w="9525" cap="flat" cmpd="sng" algn="ctr">
                      <a:solidFill>
                        <a:srgbClr val="DCD4E8"/>
                      </a:solidFill>
                      <a:prstDash val="solid"/>
                      <a:round/>
                      <a:headEnd type="none" w="med" len="med"/>
                      <a:tailEnd type="none" w="med" len="med"/>
                    </a:lnT>
                    <a:lnB w="9525" cap="flat" cmpd="sng" algn="ctr">
                      <a:solidFill>
                        <a:srgbClr val="DCD4E8"/>
                      </a:solidFill>
                      <a:prstDash val="solid"/>
                      <a:round/>
                      <a:headEnd type="none" w="med" len="med"/>
                      <a:tailEnd type="none" w="med" len="med"/>
                    </a:lnB>
                    <a:solidFill>
                      <a:srgbClr val="FBF8FE"/>
                    </a:solidFill>
                  </a:tcPr>
                </a:tc>
                <a:tc>
                  <a:txBody>
                    <a:bodyPr/>
                    <a:lstStyle/>
                    <a:p>
                      <a:pPr algn="r" indent="0" marL="0">
                        <a:buNone/>
                      </a:pPr>
                      <a:r>
                        <a:rPr lang="en-US" sz="1200" dirty="0">
                          <a:solidFill>
                            <a:srgbClr val="3A3838"/>
                          </a:solidFill>
                          <a:latin typeface="Calibri" pitchFamily="34" charset="0"/>
                          <a:ea typeface="Calibri" pitchFamily="34" charset="-122"/>
                          <a:cs typeface="Calibri" pitchFamily="34" charset="-120"/>
                        </a:rPr>
                        <a:t>4</a:t>
                      </a:r>
                      <a:endParaRPr lang="en-US" sz="1200" dirty="0">
                        <a:latin typeface="Calibri" charset="0"/>
                        <a:ea typeface="Calibri" charset="0"/>
                        <a:cs typeface="Calibri" charset="0"/>
                      </a:endParaRPr>
                    </a:p>
                  </a:txBody>
                  <a:tcPr marL="36576" marR="36576" marT="36576" marB="36576" anchor="ctr">
                    <a:lnL w="9525" cap="flat" cmpd="sng" algn="ctr">
                      <a:solidFill>
                        <a:srgbClr val="DCD4E8"/>
                      </a:solidFill>
                      <a:prstDash val="solid"/>
                      <a:round/>
                      <a:headEnd type="none" w="med" len="med"/>
                      <a:tailEnd type="none" w="med" len="med"/>
                    </a:lnL>
                    <a:lnR w="9525" cap="flat" cmpd="sng" algn="ctr">
                      <a:solidFill>
                        <a:srgbClr val="DCD4E8"/>
                      </a:solidFill>
                      <a:prstDash val="solid"/>
                      <a:round/>
                      <a:headEnd type="none" w="med" len="med"/>
                      <a:tailEnd type="none" w="med" len="med"/>
                    </a:lnR>
                    <a:lnT w="9525" cap="flat" cmpd="sng" algn="ctr">
                      <a:solidFill>
                        <a:srgbClr val="DCD4E8"/>
                      </a:solidFill>
                      <a:prstDash val="solid"/>
                      <a:round/>
                      <a:headEnd type="none" w="med" len="med"/>
                      <a:tailEnd type="none" w="med" len="med"/>
                    </a:lnT>
                    <a:lnB w="9525" cap="flat" cmpd="sng" algn="ctr">
                      <a:solidFill>
                        <a:srgbClr val="DCD4E8"/>
                      </a:solidFill>
                      <a:prstDash val="solid"/>
                      <a:round/>
                      <a:headEnd type="none" w="med" len="med"/>
                      <a:tailEnd type="none" w="med" len="med"/>
                    </a:lnB>
                    <a:solidFill>
                      <a:srgbClr val="FBF8FE"/>
                    </a:solidFill>
                  </a:tcPr>
                </a:tc>
                <a:tc>
                  <a:txBody>
                    <a:bodyPr/>
                    <a:lstStyle/>
                    <a:p>
                      <a:pPr algn="l" indent="0" marL="0">
                        <a:buNone/>
                      </a:pPr>
                      <a:r>
                        <a:rPr lang="en-US" sz="1200" dirty="0">
                          <a:solidFill>
                            <a:srgbClr val="3A3838"/>
                          </a:solidFill>
                          <a:latin typeface="Calibri" pitchFamily="34" charset="0"/>
                          <a:ea typeface="Calibri" pitchFamily="34" charset="-122"/>
                          <a:cs typeface="Calibri" pitchFamily="34" charset="-120"/>
                        </a:rPr>
                        <a:t>One journey each — its backlog and its P&amp;L claim</a:t>
                      </a:r>
                      <a:endParaRPr lang="en-US" sz="1200" dirty="0">
                        <a:latin typeface="Calibri" charset="0"/>
                        <a:ea typeface="Calibri" charset="0"/>
                        <a:cs typeface="Calibri" charset="0"/>
                      </a:endParaRPr>
                    </a:p>
                  </a:txBody>
                  <a:tcPr marL="36576" marR="36576" marT="36576" marB="36576" anchor="ctr">
                    <a:lnL w="9525" cap="flat" cmpd="sng" algn="ctr">
                      <a:solidFill>
                        <a:srgbClr val="DCD4E8"/>
                      </a:solidFill>
                      <a:prstDash val="solid"/>
                      <a:round/>
                      <a:headEnd type="none" w="med" len="med"/>
                      <a:tailEnd type="none" w="med" len="med"/>
                    </a:lnL>
                    <a:lnR w="9525" cap="flat" cmpd="sng" algn="ctr">
                      <a:solidFill>
                        <a:srgbClr val="DCD4E8"/>
                      </a:solidFill>
                      <a:prstDash val="solid"/>
                      <a:round/>
                      <a:headEnd type="none" w="med" len="med"/>
                      <a:tailEnd type="none" w="med" len="med"/>
                    </a:lnR>
                    <a:lnT w="9525" cap="flat" cmpd="sng" algn="ctr">
                      <a:solidFill>
                        <a:srgbClr val="DCD4E8"/>
                      </a:solidFill>
                      <a:prstDash val="solid"/>
                      <a:round/>
                      <a:headEnd type="none" w="med" len="med"/>
                      <a:tailEnd type="none" w="med" len="med"/>
                    </a:lnT>
                    <a:lnB w="9525" cap="flat" cmpd="sng" algn="ctr">
                      <a:solidFill>
                        <a:srgbClr val="DCD4E8"/>
                      </a:solidFill>
                      <a:prstDash val="solid"/>
                      <a:round/>
                      <a:headEnd type="none" w="med" len="med"/>
                      <a:tailEnd type="none" w="med" len="med"/>
                    </a:lnB>
                    <a:solidFill>
                      <a:srgbClr val="FBF8FE"/>
                    </a:solidFill>
                  </a:tcPr>
                </a:tc>
              </a:tr>
              <a:tr h="228600">
                <a:tc>
                  <a:txBody>
                    <a:bodyPr/>
                    <a:lstStyle/>
                    <a:p>
                      <a:pPr algn="l" indent="0" marL="0">
                        <a:buNone/>
                      </a:pPr>
                      <a:r>
                        <a:rPr lang="en-US" sz="1200" dirty="0">
                          <a:solidFill>
                            <a:srgbClr val="3A3838"/>
                          </a:solidFill>
                          <a:latin typeface="Calibri" pitchFamily="34" charset="0"/>
                          <a:ea typeface="Calibri" pitchFamily="34" charset="-122"/>
                          <a:cs typeface="Calibri" pitchFamily="34" charset="-120"/>
                        </a:rPr>
                        <a:t>Value controller</a:t>
                      </a:r>
                      <a:endParaRPr lang="en-US" sz="1200" dirty="0">
                        <a:latin typeface="Calibri" charset="0"/>
                        <a:ea typeface="Calibri" charset="0"/>
                        <a:cs typeface="Calibri" charset="0"/>
                      </a:endParaRPr>
                    </a:p>
                  </a:txBody>
                  <a:tcPr marL="36576" marR="36576" marT="36576" marB="36576" anchor="ctr">
                    <a:lnL w="9525" cap="flat" cmpd="sng" algn="ctr">
                      <a:solidFill>
                        <a:srgbClr val="DCD4E8"/>
                      </a:solidFill>
                      <a:prstDash val="solid"/>
                      <a:round/>
                      <a:headEnd type="none" w="med" len="med"/>
                      <a:tailEnd type="none" w="med" len="med"/>
                    </a:lnL>
                    <a:lnR w="9525" cap="flat" cmpd="sng" algn="ctr">
                      <a:solidFill>
                        <a:srgbClr val="DCD4E8"/>
                      </a:solidFill>
                      <a:prstDash val="solid"/>
                      <a:round/>
                      <a:headEnd type="none" w="med" len="med"/>
                      <a:tailEnd type="none" w="med" len="med"/>
                    </a:lnR>
                    <a:lnT w="9525" cap="flat" cmpd="sng" algn="ctr">
                      <a:solidFill>
                        <a:srgbClr val="DCD4E8"/>
                      </a:solidFill>
                      <a:prstDash val="solid"/>
                      <a:round/>
                      <a:headEnd type="none" w="med" len="med"/>
                      <a:tailEnd type="none" w="med" len="med"/>
                    </a:lnT>
                    <a:lnB w="9525" cap="flat" cmpd="sng" algn="ctr">
                      <a:solidFill>
                        <a:srgbClr val="DCD4E8"/>
                      </a:solidFill>
                      <a:prstDash val="solid"/>
                      <a:round/>
                      <a:headEnd type="none" w="med" len="med"/>
                      <a:tailEnd type="none" w="med" len="med"/>
                    </a:lnB>
                    <a:solidFill>
                      <a:srgbClr val="FFFFFF"/>
                    </a:solidFill>
                  </a:tcPr>
                </a:tc>
                <a:tc>
                  <a:txBody>
                    <a:bodyPr/>
                    <a:lstStyle/>
                    <a:p>
                      <a:pPr algn="r" indent="0" marL="0">
                        <a:buNone/>
                      </a:pPr>
                      <a:r>
                        <a:rPr lang="en-US" sz="1200" dirty="0">
                          <a:solidFill>
                            <a:srgbClr val="3A3838"/>
                          </a:solidFill>
                          <a:latin typeface="Calibri" pitchFamily="34" charset="0"/>
                          <a:ea typeface="Calibri" pitchFamily="34" charset="-122"/>
                          <a:cs typeface="Calibri" pitchFamily="34" charset="-120"/>
                        </a:rPr>
                        <a:t>3</a:t>
                      </a:r>
                      <a:endParaRPr lang="en-US" sz="1200" dirty="0">
                        <a:latin typeface="Calibri" charset="0"/>
                        <a:ea typeface="Calibri" charset="0"/>
                        <a:cs typeface="Calibri" charset="0"/>
                      </a:endParaRPr>
                    </a:p>
                  </a:txBody>
                  <a:tcPr marL="36576" marR="36576" marT="36576" marB="36576" anchor="ctr">
                    <a:lnL w="9525" cap="flat" cmpd="sng" algn="ctr">
                      <a:solidFill>
                        <a:srgbClr val="DCD4E8"/>
                      </a:solidFill>
                      <a:prstDash val="solid"/>
                      <a:round/>
                      <a:headEnd type="none" w="med" len="med"/>
                      <a:tailEnd type="none" w="med" len="med"/>
                    </a:lnL>
                    <a:lnR w="9525" cap="flat" cmpd="sng" algn="ctr">
                      <a:solidFill>
                        <a:srgbClr val="DCD4E8"/>
                      </a:solidFill>
                      <a:prstDash val="solid"/>
                      <a:round/>
                      <a:headEnd type="none" w="med" len="med"/>
                      <a:tailEnd type="none" w="med" len="med"/>
                    </a:lnR>
                    <a:lnT w="9525" cap="flat" cmpd="sng" algn="ctr">
                      <a:solidFill>
                        <a:srgbClr val="DCD4E8"/>
                      </a:solidFill>
                      <a:prstDash val="solid"/>
                      <a:round/>
                      <a:headEnd type="none" w="med" len="med"/>
                      <a:tailEnd type="none" w="med" len="med"/>
                    </a:lnT>
                    <a:lnB w="9525" cap="flat" cmpd="sng" algn="ctr">
                      <a:solidFill>
                        <a:srgbClr val="DCD4E8"/>
                      </a:solidFill>
                      <a:prstDash val="solid"/>
                      <a:round/>
                      <a:headEnd type="none" w="med" len="med"/>
                      <a:tailEnd type="none" w="med" len="med"/>
                    </a:lnB>
                    <a:solidFill>
                      <a:srgbClr val="FFFFFF"/>
                    </a:solidFill>
                  </a:tcPr>
                </a:tc>
                <a:tc>
                  <a:txBody>
                    <a:bodyPr/>
                    <a:lstStyle/>
                    <a:p>
                      <a:pPr algn="l" indent="0" marL="0">
                        <a:buNone/>
                      </a:pPr>
                      <a:r>
                        <a:rPr lang="en-US" sz="1200" dirty="0">
                          <a:solidFill>
                            <a:srgbClr val="3A3838"/>
                          </a:solidFill>
                          <a:latin typeface="Calibri" pitchFamily="34" charset="0"/>
                          <a:ea typeface="Calibri" pitchFamily="34" charset="-122"/>
                          <a:cs typeface="Calibri" pitchFamily="34" charset="-120"/>
                        </a:rPr>
                        <a:t>Benefit vs control · reports to CFO, not sponsor</a:t>
                      </a:r>
                      <a:endParaRPr lang="en-US" sz="1200" dirty="0">
                        <a:latin typeface="Calibri" charset="0"/>
                        <a:ea typeface="Calibri" charset="0"/>
                        <a:cs typeface="Calibri" charset="0"/>
                      </a:endParaRPr>
                    </a:p>
                  </a:txBody>
                  <a:tcPr marL="36576" marR="36576" marT="36576" marB="36576" anchor="ctr">
                    <a:lnL w="9525" cap="flat" cmpd="sng" algn="ctr">
                      <a:solidFill>
                        <a:srgbClr val="DCD4E8"/>
                      </a:solidFill>
                      <a:prstDash val="solid"/>
                      <a:round/>
                      <a:headEnd type="none" w="med" len="med"/>
                      <a:tailEnd type="none" w="med" len="med"/>
                    </a:lnL>
                    <a:lnR w="9525" cap="flat" cmpd="sng" algn="ctr">
                      <a:solidFill>
                        <a:srgbClr val="DCD4E8"/>
                      </a:solidFill>
                      <a:prstDash val="solid"/>
                      <a:round/>
                      <a:headEnd type="none" w="med" len="med"/>
                      <a:tailEnd type="none" w="med" len="med"/>
                    </a:lnR>
                    <a:lnT w="9525" cap="flat" cmpd="sng" algn="ctr">
                      <a:solidFill>
                        <a:srgbClr val="DCD4E8"/>
                      </a:solidFill>
                      <a:prstDash val="solid"/>
                      <a:round/>
                      <a:headEnd type="none" w="med" len="med"/>
                      <a:tailEnd type="none" w="med" len="med"/>
                    </a:lnT>
                    <a:lnB w="9525" cap="flat" cmpd="sng" algn="ctr">
                      <a:solidFill>
                        <a:srgbClr val="DCD4E8"/>
                      </a:solidFill>
                      <a:prstDash val="solid"/>
                      <a:round/>
                      <a:headEnd type="none" w="med" len="med"/>
                      <a:tailEnd type="none" w="med" len="med"/>
                    </a:lnB>
                    <a:solidFill>
                      <a:srgbClr val="FFFFFF"/>
                    </a:solidFill>
                  </a:tcPr>
                </a:tc>
              </a:tr>
              <a:tr h="228600">
                <a:tc>
                  <a:txBody>
                    <a:bodyPr/>
                    <a:lstStyle/>
                    <a:p>
                      <a:pPr algn="l" indent="0" marL="0">
                        <a:buNone/>
                      </a:pPr>
                      <a:r>
                        <a:rPr lang="en-US" sz="1200" dirty="0">
                          <a:solidFill>
                            <a:srgbClr val="3A3838"/>
                          </a:solidFill>
                          <a:latin typeface="Calibri" pitchFamily="34" charset="0"/>
                          <a:ea typeface="Calibri" pitchFamily="34" charset="-122"/>
                          <a:cs typeface="Calibri" pitchFamily="34" charset="-120"/>
                        </a:rPr>
                        <a:t>Platform / adoption</a:t>
                      </a:r>
                      <a:endParaRPr lang="en-US" sz="1200" dirty="0">
                        <a:latin typeface="Calibri" charset="0"/>
                        <a:ea typeface="Calibri" charset="0"/>
                        <a:cs typeface="Calibri" charset="0"/>
                      </a:endParaRPr>
                    </a:p>
                  </a:txBody>
                  <a:tcPr marL="36576" marR="36576" marT="36576" marB="36576" anchor="ctr">
                    <a:lnL w="9525" cap="flat" cmpd="sng" algn="ctr">
                      <a:solidFill>
                        <a:srgbClr val="DCD4E8"/>
                      </a:solidFill>
                      <a:prstDash val="solid"/>
                      <a:round/>
                      <a:headEnd type="none" w="med" len="med"/>
                      <a:tailEnd type="none" w="med" len="med"/>
                    </a:lnL>
                    <a:lnR w="9525" cap="flat" cmpd="sng" algn="ctr">
                      <a:solidFill>
                        <a:srgbClr val="DCD4E8"/>
                      </a:solidFill>
                      <a:prstDash val="solid"/>
                      <a:round/>
                      <a:headEnd type="none" w="med" len="med"/>
                      <a:tailEnd type="none" w="med" len="med"/>
                    </a:lnR>
                    <a:lnT w="9525" cap="flat" cmpd="sng" algn="ctr">
                      <a:solidFill>
                        <a:srgbClr val="DCD4E8"/>
                      </a:solidFill>
                      <a:prstDash val="solid"/>
                      <a:round/>
                      <a:headEnd type="none" w="med" len="med"/>
                      <a:tailEnd type="none" w="med" len="med"/>
                    </a:lnT>
                    <a:lnB w="9525" cap="flat" cmpd="sng" algn="ctr">
                      <a:solidFill>
                        <a:srgbClr val="DCD4E8"/>
                      </a:solidFill>
                      <a:prstDash val="solid"/>
                      <a:round/>
                      <a:headEnd type="none" w="med" len="med"/>
                      <a:tailEnd type="none" w="med" len="med"/>
                    </a:lnB>
                    <a:solidFill>
                      <a:srgbClr val="FBF8FE"/>
                    </a:solidFill>
                  </a:tcPr>
                </a:tc>
                <a:tc>
                  <a:txBody>
                    <a:bodyPr/>
                    <a:lstStyle/>
                    <a:p>
                      <a:pPr algn="r" indent="0" marL="0">
                        <a:buNone/>
                      </a:pPr>
                      <a:r>
                        <a:rPr lang="en-US" sz="1200" dirty="0">
                          <a:solidFill>
                            <a:srgbClr val="3A3838"/>
                          </a:solidFill>
                          <a:latin typeface="Calibri" pitchFamily="34" charset="0"/>
                          <a:ea typeface="Calibri" pitchFamily="34" charset="-122"/>
                          <a:cs typeface="Calibri" pitchFamily="34" charset="-120"/>
                        </a:rPr>
                        <a:t>2</a:t>
                      </a:r>
                      <a:endParaRPr lang="en-US" sz="1200" dirty="0">
                        <a:latin typeface="Calibri" charset="0"/>
                        <a:ea typeface="Calibri" charset="0"/>
                        <a:cs typeface="Calibri" charset="0"/>
                      </a:endParaRPr>
                    </a:p>
                  </a:txBody>
                  <a:tcPr marL="36576" marR="36576" marT="36576" marB="36576" anchor="ctr">
                    <a:lnL w="9525" cap="flat" cmpd="sng" algn="ctr">
                      <a:solidFill>
                        <a:srgbClr val="DCD4E8"/>
                      </a:solidFill>
                      <a:prstDash val="solid"/>
                      <a:round/>
                      <a:headEnd type="none" w="med" len="med"/>
                      <a:tailEnd type="none" w="med" len="med"/>
                    </a:lnL>
                    <a:lnR w="9525" cap="flat" cmpd="sng" algn="ctr">
                      <a:solidFill>
                        <a:srgbClr val="DCD4E8"/>
                      </a:solidFill>
                      <a:prstDash val="solid"/>
                      <a:round/>
                      <a:headEnd type="none" w="med" len="med"/>
                      <a:tailEnd type="none" w="med" len="med"/>
                    </a:lnR>
                    <a:lnT w="9525" cap="flat" cmpd="sng" algn="ctr">
                      <a:solidFill>
                        <a:srgbClr val="DCD4E8"/>
                      </a:solidFill>
                      <a:prstDash val="solid"/>
                      <a:round/>
                      <a:headEnd type="none" w="med" len="med"/>
                      <a:tailEnd type="none" w="med" len="med"/>
                    </a:lnT>
                    <a:lnB w="9525" cap="flat" cmpd="sng" algn="ctr">
                      <a:solidFill>
                        <a:srgbClr val="DCD4E8"/>
                      </a:solidFill>
                      <a:prstDash val="solid"/>
                      <a:round/>
                      <a:headEnd type="none" w="med" len="med"/>
                      <a:tailEnd type="none" w="med" len="med"/>
                    </a:lnB>
                    <a:solidFill>
                      <a:srgbClr val="FBF8FE"/>
                    </a:solidFill>
                  </a:tcPr>
                </a:tc>
                <a:tc>
                  <a:txBody>
                    <a:bodyPr/>
                    <a:lstStyle/>
                    <a:p>
                      <a:pPr algn="l" indent="0" marL="0">
                        <a:buNone/>
                      </a:pPr>
                      <a:r>
                        <a:rPr lang="en-US" sz="1200" dirty="0">
                          <a:solidFill>
                            <a:srgbClr val="3A3838"/>
                          </a:solidFill>
                          <a:latin typeface="Calibri" pitchFamily="34" charset="0"/>
                          <a:ea typeface="Calibri" pitchFamily="34" charset="-122"/>
                          <a:cs typeface="Calibri" pitchFamily="34" charset="-120"/>
                        </a:rPr>
                        <a:t>API estate · certification and coach network</a:t>
                      </a:r>
                      <a:endParaRPr lang="en-US" sz="1200" dirty="0">
                        <a:latin typeface="Calibri" charset="0"/>
                        <a:ea typeface="Calibri" charset="0"/>
                        <a:cs typeface="Calibri" charset="0"/>
                      </a:endParaRPr>
                    </a:p>
                  </a:txBody>
                  <a:tcPr marL="36576" marR="36576" marT="36576" marB="36576" anchor="ctr">
                    <a:lnL w="9525" cap="flat" cmpd="sng" algn="ctr">
                      <a:solidFill>
                        <a:srgbClr val="DCD4E8"/>
                      </a:solidFill>
                      <a:prstDash val="solid"/>
                      <a:round/>
                      <a:headEnd type="none" w="med" len="med"/>
                      <a:tailEnd type="none" w="med" len="med"/>
                    </a:lnL>
                    <a:lnR w="9525" cap="flat" cmpd="sng" algn="ctr">
                      <a:solidFill>
                        <a:srgbClr val="DCD4E8"/>
                      </a:solidFill>
                      <a:prstDash val="solid"/>
                      <a:round/>
                      <a:headEnd type="none" w="med" len="med"/>
                      <a:tailEnd type="none" w="med" len="med"/>
                    </a:lnR>
                    <a:lnT w="9525" cap="flat" cmpd="sng" algn="ctr">
                      <a:solidFill>
                        <a:srgbClr val="DCD4E8"/>
                      </a:solidFill>
                      <a:prstDash val="solid"/>
                      <a:round/>
                      <a:headEnd type="none" w="med" len="med"/>
                      <a:tailEnd type="none" w="med" len="med"/>
                    </a:lnT>
                    <a:lnB w="9525" cap="flat" cmpd="sng" algn="ctr">
                      <a:solidFill>
                        <a:srgbClr val="DCD4E8"/>
                      </a:solidFill>
                      <a:prstDash val="solid"/>
                      <a:round/>
                      <a:headEnd type="none" w="med" len="med"/>
                      <a:tailEnd type="none" w="med" len="med"/>
                    </a:lnB>
                    <a:solidFill>
                      <a:srgbClr val="FBF8FE"/>
                    </a:solidFill>
                  </a:tcPr>
                </a:tc>
              </a:tr>
            </a:tbl>
          </a:graphicData>
        </a:graphic>
      </p:graphicFrame>
      <p:sp>
        <p:nvSpPr>
          <p:cNvPr id="53" name="Text 49"/>
          <p:cNvSpPr/>
          <p:nvPr/>
        </p:nvSpPr>
        <p:spPr>
          <a:xfrm>
            <a:off x="137160" y="5760720"/>
            <a:ext cx="3904488" cy="566928"/>
          </a:xfrm>
          <a:prstGeom prst="rect">
            <a:avLst/>
          </a:prstGeom>
          <a:noFill/>
          <a:ln/>
        </p:spPr>
        <p:txBody>
          <a:bodyPr wrap="square" lIns="0" tIns="0" rIns="0" bIns="0" rtlCol="0" anchor="ctr"/>
          <a:lstStyle/>
          <a:p>
            <a:pPr indent="0" marL="0">
              <a:lnSpc>
                <a:spcPct val="98000"/>
              </a:lnSpc>
              <a:buNone/>
            </a:pPr>
            <a:r>
              <a:rPr lang="en-US" sz="1200" b="1" dirty="0">
                <a:solidFill>
                  <a:srgbClr val="3A3838"/>
                </a:solidFill>
                <a:latin typeface="Calibri" pitchFamily="34" charset="0"/>
                <a:ea typeface="Calibri" pitchFamily="34" charset="-122"/>
                <a:cs typeface="Calibri" pitchFamily="34" charset="-120"/>
              </a:rPr>
              <a:t>Deliberately thin at OEM</a:t>
            </a:r>
            <a:pPr indent="0" marL="0">
              <a:lnSpc>
                <a:spcPct val="98000"/>
              </a:lnSpc>
              <a:buNone/>
            </a:pPr>
            <a:r>
              <a:rPr lang="en-US" sz="1200" dirty="0">
                <a:solidFill>
                  <a:srgbClr val="3A3838"/>
                </a:solidFill>
                <a:latin typeface="Calibri" pitchFamily="34" charset="0"/>
                <a:ea typeface="Calibri" pitchFamily="34" charset="-122"/>
                <a:cs typeface="Calibri" pitchFamily="34" charset="-120"/>
              </a:rPr>
              <a:t> — capability must live in the network, or it dies with the programme (hand-over is Gate 4).</a:t>
            </a:r>
            <a:endParaRPr lang="en-US" sz="1200" dirty="0"/>
          </a:p>
        </p:txBody>
      </p:sp>
      <p:sp>
        <p:nvSpPr>
          <p:cNvPr id="54" name="Shape 50"/>
          <p:cNvSpPr/>
          <p:nvPr/>
        </p:nvSpPr>
        <p:spPr>
          <a:xfrm>
            <a:off x="4224528" y="1920240"/>
            <a:ext cx="292608" cy="292608"/>
          </a:xfrm>
          <a:prstGeom prst="ellipse">
            <a:avLst/>
          </a:prstGeom>
          <a:solidFill>
            <a:srgbClr val="A100FF"/>
          </a:solidFill>
          <a:ln w="12700">
            <a:solidFill>
              <a:srgbClr val="333333"/>
            </a:solidFill>
            <a:prstDash val="solid"/>
          </a:ln>
        </p:spPr>
      </p:sp>
      <p:sp>
        <p:nvSpPr>
          <p:cNvPr id="55" name="Text 51"/>
          <p:cNvSpPr/>
          <p:nvPr/>
        </p:nvSpPr>
        <p:spPr>
          <a:xfrm>
            <a:off x="4224528" y="1920240"/>
            <a:ext cx="292608" cy="29260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56" name="Text 52"/>
          <p:cNvSpPr/>
          <p:nvPr/>
        </p:nvSpPr>
        <p:spPr>
          <a:xfrm>
            <a:off x="4608576" y="1929384"/>
            <a:ext cx="3474720" cy="292608"/>
          </a:xfrm>
          <a:prstGeom prst="rect">
            <a:avLst/>
          </a:prstGeom>
          <a:noFill/>
          <a:ln/>
        </p:spPr>
        <p:txBody>
          <a:bodyPr wrap="square" lIns="0" tIns="0" rIns="0" bIns="0" rtlCol="0" anchor="ctr"/>
          <a:lstStyle/>
          <a:p>
            <a:pPr indent="0" marL="0">
              <a:buNone/>
            </a:pPr>
            <a:r>
              <a:rPr lang="en-US" sz="1350" b="1" dirty="0">
                <a:solidFill>
                  <a:srgbClr val="2A0A45"/>
                </a:solidFill>
                <a:latin typeface="Calibri" pitchFamily="34" charset="0"/>
                <a:ea typeface="Calibri" pitchFamily="34" charset="-122"/>
                <a:cs typeface="Calibri" pitchFamily="34" charset="-120"/>
              </a:rPr>
              <a:t>Decision rights — four tiers, not three</a:t>
            </a:r>
            <a:endParaRPr lang="en-US" sz="1350" dirty="0"/>
          </a:p>
        </p:txBody>
      </p:sp>
      <p:graphicFrame>
        <p:nvGraphicFramePr>
          <p:cNvPr id="5" name="Table 1"/>
          <p:cNvGraphicFramePr>
            <a:graphicFrameLocks noGrp="1"/>
          </p:cNvGraphicFramePr>
          <p:nvPr>
            <p:extLst>
              <p:ext uri="{D42A27DB-BD31-4B8C-83A1-F6EECF244321}">
                <p14:modId xmlns:p14="http://schemas.microsoft.com/office/powerpoint/2010/main" val="1579011935"/>
              </p:ext>
            </p:extLst>
          </p:nvPr>
        </p:nvGraphicFramePr>
        <p:xfrm>
          <a:off x="4224528" y="2304288"/>
          <a:ext cx="3867912" cy="914400"/>
        </p:xfrm>
        <a:graphic>
          <a:graphicData uri="http://schemas.openxmlformats.org/drawingml/2006/table">
            <a:tbl>
              <a:tblPr/>
              <a:tblGrid>
                <a:gridCol w="932688"/>
                <a:gridCol w="2112264"/>
                <a:gridCol w="822960"/>
              </a:tblGrid>
              <a:tr h="228600">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Tier</a:t>
                      </a:r>
                      <a:endParaRPr lang="en-US" sz="1200" dirty="0">
                        <a:latin typeface="Calibri" charset="0"/>
                        <a:ea typeface="Calibri" charset="0"/>
                        <a:cs typeface="Calibri" charset="0"/>
                      </a:endParaRPr>
                    </a:p>
                  </a:txBody>
                  <a:tcPr marL="36576" marR="36576" marT="36576" marB="36576" anchor="ctr">
                    <a:lnL w="9525" cap="flat" cmpd="sng" algn="ctr">
                      <a:solidFill>
                        <a:srgbClr val="DCD4E8"/>
                      </a:solidFill>
                      <a:prstDash val="solid"/>
                      <a:round/>
                      <a:headEnd type="none" w="med" len="med"/>
                      <a:tailEnd type="none" w="med" len="med"/>
                    </a:lnL>
                    <a:lnR w="9525" cap="flat" cmpd="sng" algn="ctr">
                      <a:solidFill>
                        <a:srgbClr val="DCD4E8"/>
                      </a:solidFill>
                      <a:prstDash val="solid"/>
                      <a:round/>
                      <a:headEnd type="none" w="med" len="med"/>
                      <a:tailEnd type="none" w="med" len="med"/>
                    </a:lnR>
                    <a:lnT w="9525" cap="flat" cmpd="sng" algn="ctr">
                      <a:solidFill>
                        <a:srgbClr val="DCD4E8"/>
                      </a:solidFill>
                      <a:prstDash val="solid"/>
                      <a:round/>
                      <a:headEnd type="none" w="med" len="med"/>
                      <a:tailEnd type="none" w="med" len="med"/>
                    </a:lnT>
                    <a:lnB w="9525" cap="flat" cmpd="sng" algn="ctr">
                      <a:solidFill>
                        <a:srgbClr val="DCD4E8"/>
                      </a:solidFill>
                      <a:prstDash val="solid"/>
                      <a:round/>
                      <a:headEnd type="none" w="med" len="med"/>
                      <a:tailEnd type="none" w="med" len="med"/>
                    </a:lnB>
                    <a:solidFill>
                      <a:srgbClr val="2A0A45"/>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What sits here</a:t>
                      </a:r>
                      <a:endParaRPr lang="en-US" sz="1200" dirty="0">
                        <a:latin typeface="Calibri" charset="0"/>
                        <a:ea typeface="Calibri" charset="0"/>
                        <a:cs typeface="Calibri" charset="0"/>
                      </a:endParaRPr>
                    </a:p>
                  </a:txBody>
                  <a:tcPr marL="36576" marR="36576" marT="36576" marB="36576" anchor="ctr">
                    <a:lnL w="9525" cap="flat" cmpd="sng" algn="ctr">
                      <a:solidFill>
                        <a:srgbClr val="DCD4E8"/>
                      </a:solidFill>
                      <a:prstDash val="solid"/>
                      <a:round/>
                      <a:headEnd type="none" w="med" len="med"/>
                      <a:tailEnd type="none" w="med" len="med"/>
                    </a:lnL>
                    <a:lnR w="9525" cap="flat" cmpd="sng" algn="ctr">
                      <a:solidFill>
                        <a:srgbClr val="DCD4E8"/>
                      </a:solidFill>
                      <a:prstDash val="solid"/>
                      <a:round/>
                      <a:headEnd type="none" w="med" len="med"/>
                      <a:tailEnd type="none" w="med" len="med"/>
                    </a:lnR>
                    <a:lnT w="9525" cap="flat" cmpd="sng" algn="ctr">
                      <a:solidFill>
                        <a:srgbClr val="DCD4E8"/>
                      </a:solidFill>
                      <a:prstDash val="solid"/>
                      <a:round/>
                      <a:headEnd type="none" w="med" len="med"/>
                      <a:tailEnd type="none" w="med" len="med"/>
                    </a:lnT>
                    <a:lnB w="9525" cap="flat" cmpd="sng" algn="ctr">
                      <a:solidFill>
                        <a:srgbClr val="DCD4E8"/>
                      </a:solidFill>
                      <a:prstDash val="solid"/>
                      <a:round/>
                      <a:headEnd type="none" w="med" len="med"/>
                      <a:tailEnd type="none" w="med" len="med"/>
                    </a:lnB>
                    <a:solidFill>
                      <a:srgbClr val="2A0A45"/>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Decides</a:t>
                      </a:r>
                      <a:endParaRPr lang="en-US" sz="1200" dirty="0">
                        <a:latin typeface="Calibri" charset="0"/>
                        <a:ea typeface="Calibri" charset="0"/>
                        <a:cs typeface="Calibri" charset="0"/>
                      </a:endParaRPr>
                    </a:p>
                  </a:txBody>
                  <a:tcPr marL="36576" marR="36576" marT="36576" marB="36576" anchor="ctr">
                    <a:lnL w="9525" cap="flat" cmpd="sng" algn="ctr">
                      <a:solidFill>
                        <a:srgbClr val="DCD4E8"/>
                      </a:solidFill>
                      <a:prstDash val="solid"/>
                      <a:round/>
                      <a:headEnd type="none" w="med" len="med"/>
                      <a:tailEnd type="none" w="med" len="med"/>
                    </a:lnL>
                    <a:lnR w="9525" cap="flat" cmpd="sng" algn="ctr">
                      <a:solidFill>
                        <a:srgbClr val="DCD4E8"/>
                      </a:solidFill>
                      <a:prstDash val="solid"/>
                      <a:round/>
                      <a:headEnd type="none" w="med" len="med"/>
                      <a:tailEnd type="none" w="med" len="med"/>
                    </a:lnR>
                    <a:lnT w="9525" cap="flat" cmpd="sng" algn="ctr">
                      <a:solidFill>
                        <a:srgbClr val="DCD4E8"/>
                      </a:solidFill>
                      <a:prstDash val="solid"/>
                      <a:round/>
                      <a:headEnd type="none" w="med" len="med"/>
                      <a:tailEnd type="none" w="med" len="med"/>
                    </a:lnT>
                    <a:lnB w="9525" cap="flat" cmpd="sng" algn="ctr">
                      <a:solidFill>
                        <a:srgbClr val="DCD4E8"/>
                      </a:solidFill>
                      <a:prstDash val="solid"/>
                      <a:round/>
                      <a:headEnd type="none" w="med" len="med"/>
                      <a:tailEnd type="none" w="med" len="med"/>
                    </a:lnB>
                    <a:solidFill>
                      <a:srgbClr val="2A0A45"/>
                    </a:solidFill>
                  </a:tcPr>
                </a:tc>
              </a:tr>
              <a:tr h="228600">
                <a:tc>
                  <a:txBody>
                    <a:bodyPr/>
                    <a:lstStyle/>
                    <a:p>
                      <a:pPr algn="l" indent="0" marL="0">
                        <a:buNone/>
                      </a:pPr>
                      <a:r>
                        <a:rPr lang="en-US" sz="1200" dirty="0">
                          <a:solidFill>
                            <a:srgbClr val="3A3838"/>
                          </a:solidFill>
                          <a:latin typeface="Calibri" pitchFamily="34" charset="0"/>
                          <a:ea typeface="Calibri" pitchFamily="34" charset="-122"/>
                          <a:cs typeface="Calibri" pitchFamily="34" charset="-120"/>
                        </a:rPr>
                        <a:t>FIX PROCESS</a:t>
                      </a:r>
                      <a:endParaRPr lang="en-US" sz="1200" dirty="0">
                        <a:latin typeface="Calibri" charset="0"/>
                        <a:ea typeface="Calibri" charset="0"/>
                        <a:cs typeface="Calibri" charset="0"/>
                      </a:endParaRPr>
                    </a:p>
                  </a:txBody>
                  <a:tcPr marL="36576" marR="36576" marT="36576" marB="36576" anchor="ctr">
                    <a:lnL w="9525" cap="flat" cmpd="sng" algn="ctr">
                      <a:solidFill>
                        <a:srgbClr val="DCD4E8"/>
                      </a:solidFill>
                      <a:prstDash val="solid"/>
                      <a:round/>
                      <a:headEnd type="none" w="med" len="med"/>
                      <a:tailEnd type="none" w="med" len="med"/>
                    </a:lnL>
                    <a:lnR w="9525" cap="flat" cmpd="sng" algn="ctr">
                      <a:solidFill>
                        <a:srgbClr val="DCD4E8"/>
                      </a:solidFill>
                      <a:prstDash val="solid"/>
                      <a:round/>
                      <a:headEnd type="none" w="med" len="med"/>
                      <a:tailEnd type="none" w="med" len="med"/>
                    </a:lnR>
                    <a:lnT w="9525" cap="flat" cmpd="sng" algn="ctr">
                      <a:solidFill>
                        <a:srgbClr val="DCD4E8"/>
                      </a:solidFill>
                      <a:prstDash val="solid"/>
                      <a:round/>
                      <a:headEnd type="none" w="med" len="med"/>
                      <a:tailEnd type="none" w="med" len="med"/>
                    </a:lnT>
                    <a:lnB w="9525" cap="flat" cmpd="sng" algn="ctr">
                      <a:solidFill>
                        <a:srgbClr val="DCD4E8"/>
                      </a:solidFill>
                      <a:prstDash val="solid"/>
                      <a:round/>
                      <a:headEnd type="none" w="med" len="med"/>
                      <a:tailEnd type="none" w="med" len="med"/>
                    </a:lnB>
                    <a:solidFill>
                      <a:srgbClr val="FBF8FE"/>
                    </a:solidFill>
                  </a:tcPr>
                </a:tc>
                <a:tc>
                  <a:txBody>
                    <a:bodyPr/>
                    <a:lstStyle/>
                    <a:p>
                      <a:pPr algn="l" indent="0" marL="0">
                        <a:buNone/>
                      </a:pPr>
                      <a:r>
                        <a:rPr lang="en-US" sz="1200" dirty="0">
                          <a:solidFill>
                            <a:srgbClr val="3A3838"/>
                          </a:solidFill>
                          <a:latin typeface="Calibri" pitchFamily="34" charset="0"/>
                          <a:ea typeface="Calibri" pitchFamily="34" charset="-122"/>
                          <a:cs typeface="Calibri" pitchFamily="34" charset="-120"/>
                        </a:rPr>
                        <a:t>24-hr response promise (SLA) + scorecard · journey standards · record completeness</a:t>
                      </a:r>
                      <a:endParaRPr lang="en-US" sz="1200" dirty="0">
                        <a:latin typeface="Calibri" charset="0"/>
                        <a:ea typeface="Calibri" charset="0"/>
                        <a:cs typeface="Calibri" charset="0"/>
                      </a:endParaRPr>
                    </a:p>
                  </a:txBody>
                  <a:tcPr marL="36576" marR="36576" marT="36576" marB="36576" anchor="ctr">
                    <a:lnL w="9525" cap="flat" cmpd="sng" algn="ctr">
                      <a:solidFill>
                        <a:srgbClr val="DCD4E8"/>
                      </a:solidFill>
                      <a:prstDash val="solid"/>
                      <a:round/>
                      <a:headEnd type="none" w="med" len="med"/>
                      <a:tailEnd type="none" w="med" len="med"/>
                    </a:lnL>
                    <a:lnR w="9525" cap="flat" cmpd="sng" algn="ctr">
                      <a:solidFill>
                        <a:srgbClr val="DCD4E8"/>
                      </a:solidFill>
                      <a:prstDash val="solid"/>
                      <a:round/>
                      <a:headEnd type="none" w="med" len="med"/>
                      <a:tailEnd type="none" w="med" len="med"/>
                    </a:lnR>
                    <a:lnT w="9525" cap="flat" cmpd="sng" algn="ctr">
                      <a:solidFill>
                        <a:srgbClr val="DCD4E8"/>
                      </a:solidFill>
                      <a:prstDash val="solid"/>
                      <a:round/>
                      <a:headEnd type="none" w="med" len="med"/>
                      <a:tailEnd type="none" w="med" len="med"/>
                    </a:lnT>
                    <a:lnB w="9525" cap="flat" cmpd="sng" algn="ctr">
                      <a:solidFill>
                        <a:srgbClr val="DCD4E8"/>
                      </a:solidFill>
                      <a:prstDash val="solid"/>
                      <a:round/>
                      <a:headEnd type="none" w="med" len="med"/>
                      <a:tailEnd type="none" w="med" len="med"/>
                    </a:lnB>
                    <a:solidFill>
                      <a:srgbClr val="FBF8FE"/>
                    </a:solidFill>
                  </a:tcPr>
                </a:tc>
                <a:tc>
                  <a:txBody>
                    <a:bodyPr/>
                    <a:lstStyle/>
                    <a:p>
                      <a:pPr algn="l" indent="0" marL="0">
                        <a:buNone/>
                      </a:pPr>
                      <a:r>
                        <a:rPr lang="en-US" sz="1200" dirty="0">
                          <a:solidFill>
                            <a:srgbClr val="3A3838"/>
                          </a:solidFill>
                          <a:latin typeface="Calibri" pitchFamily="34" charset="0"/>
                          <a:ea typeface="Calibri" pitchFamily="34" charset="-122"/>
                          <a:cs typeface="Calibri" pitchFamily="34" charset="-120"/>
                        </a:rPr>
                        <a:t>Line mgmt</a:t>
                      </a:r>
                      <a:endParaRPr lang="en-US" sz="1200" dirty="0">
                        <a:latin typeface="Calibri" charset="0"/>
                        <a:ea typeface="Calibri" charset="0"/>
                        <a:cs typeface="Calibri" charset="0"/>
                      </a:endParaRPr>
                    </a:p>
                  </a:txBody>
                  <a:tcPr marL="36576" marR="36576" marT="36576" marB="36576" anchor="ctr">
                    <a:lnL w="9525" cap="flat" cmpd="sng" algn="ctr">
                      <a:solidFill>
                        <a:srgbClr val="DCD4E8"/>
                      </a:solidFill>
                      <a:prstDash val="solid"/>
                      <a:round/>
                      <a:headEnd type="none" w="med" len="med"/>
                      <a:tailEnd type="none" w="med" len="med"/>
                    </a:lnL>
                    <a:lnR w="9525" cap="flat" cmpd="sng" algn="ctr">
                      <a:solidFill>
                        <a:srgbClr val="DCD4E8"/>
                      </a:solidFill>
                      <a:prstDash val="solid"/>
                      <a:round/>
                      <a:headEnd type="none" w="med" len="med"/>
                      <a:tailEnd type="none" w="med" len="med"/>
                    </a:lnR>
                    <a:lnT w="9525" cap="flat" cmpd="sng" algn="ctr">
                      <a:solidFill>
                        <a:srgbClr val="DCD4E8"/>
                      </a:solidFill>
                      <a:prstDash val="solid"/>
                      <a:round/>
                      <a:headEnd type="none" w="med" len="med"/>
                      <a:tailEnd type="none" w="med" len="med"/>
                    </a:lnT>
                    <a:lnB w="9525" cap="flat" cmpd="sng" algn="ctr">
                      <a:solidFill>
                        <a:srgbClr val="DCD4E8"/>
                      </a:solidFill>
                      <a:prstDash val="solid"/>
                      <a:round/>
                      <a:headEnd type="none" w="med" len="med"/>
                      <a:tailEnd type="none" w="med" len="med"/>
                    </a:lnB>
                    <a:solidFill>
                      <a:srgbClr val="FBF8FE"/>
                    </a:solidFill>
                  </a:tcPr>
                </a:tc>
              </a:tr>
              <a:tr h="228600">
                <a:tc>
                  <a:txBody>
                    <a:bodyPr/>
                    <a:lstStyle/>
                    <a:p>
                      <a:pPr algn="l" indent="0" marL="0">
                        <a:buNone/>
                      </a:pPr>
                      <a:r>
                        <a:rPr lang="en-US" sz="1200" dirty="0">
                          <a:solidFill>
                            <a:srgbClr val="3A3838"/>
                          </a:solidFill>
                          <a:latin typeface="Calibri" pitchFamily="34" charset="0"/>
                          <a:ea typeface="Calibri" pitchFamily="34" charset="-122"/>
                          <a:cs typeface="Calibri" pitchFamily="34" charset="-120"/>
                        </a:rPr>
                        <a:t>AUTOMATE</a:t>
                      </a:r>
                      <a:endParaRPr lang="en-US" sz="1200" dirty="0">
                        <a:latin typeface="Calibri" charset="0"/>
                        <a:ea typeface="Calibri" charset="0"/>
                        <a:cs typeface="Calibri" charset="0"/>
                      </a:endParaRPr>
                    </a:p>
                  </a:txBody>
                  <a:tcPr marL="36576" marR="36576" marT="36576" marB="36576" anchor="ctr">
                    <a:lnL w="9525" cap="flat" cmpd="sng" algn="ctr">
                      <a:solidFill>
                        <a:srgbClr val="DCD4E8"/>
                      </a:solidFill>
                      <a:prstDash val="solid"/>
                      <a:round/>
                      <a:headEnd type="none" w="med" len="med"/>
                      <a:tailEnd type="none" w="med" len="med"/>
                    </a:lnL>
                    <a:lnR w="9525" cap="flat" cmpd="sng" algn="ctr">
                      <a:solidFill>
                        <a:srgbClr val="DCD4E8"/>
                      </a:solidFill>
                      <a:prstDash val="solid"/>
                      <a:round/>
                      <a:headEnd type="none" w="med" len="med"/>
                      <a:tailEnd type="none" w="med" len="med"/>
                    </a:lnR>
                    <a:lnT w="9525" cap="flat" cmpd="sng" algn="ctr">
                      <a:solidFill>
                        <a:srgbClr val="DCD4E8"/>
                      </a:solidFill>
                      <a:prstDash val="solid"/>
                      <a:round/>
                      <a:headEnd type="none" w="med" len="med"/>
                      <a:tailEnd type="none" w="med" len="med"/>
                    </a:lnT>
                    <a:lnB w="9525" cap="flat" cmpd="sng" algn="ctr">
                      <a:solidFill>
                        <a:srgbClr val="DCD4E8"/>
                      </a:solidFill>
                      <a:prstDash val="solid"/>
                      <a:round/>
                      <a:headEnd type="none" w="med" len="med"/>
                      <a:tailEnd type="none" w="med" len="med"/>
                    </a:lnB>
                    <a:solidFill>
                      <a:srgbClr val="FFFFFF"/>
                    </a:solidFill>
                  </a:tcPr>
                </a:tc>
                <a:tc>
                  <a:txBody>
                    <a:bodyPr/>
                    <a:lstStyle/>
                    <a:p>
                      <a:pPr algn="l" indent="0" marL="0">
                        <a:buNone/>
                      </a:pPr>
                      <a:r>
                        <a:rPr lang="en-US" sz="1200" dirty="0">
                          <a:solidFill>
                            <a:srgbClr val="3A3838"/>
                          </a:solidFill>
                          <a:latin typeface="Calibri" pitchFamily="34" charset="0"/>
                          <a:ea typeface="Calibri" pitchFamily="34" charset="-122"/>
                          <a:cs typeface="Calibri" pitchFamily="34" charset="-120"/>
                        </a:rPr>
                        <a:t>Reminders, care deflection, document prep, status</a:t>
                      </a:r>
                      <a:endParaRPr lang="en-US" sz="1200" dirty="0">
                        <a:latin typeface="Calibri" charset="0"/>
                        <a:ea typeface="Calibri" charset="0"/>
                        <a:cs typeface="Calibri" charset="0"/>
                      </a:endParaRPr>
                    </a:p>
                  </a:txBody>
                  <a:tcPr marL="36576" marR="36576" marT="36576" marB="36576" anchor="ctr">
                    <a:lnL w="9525" cap="flat" cmpd="sng" algn="ctr">
                      <a:solidFill>
                        <a:srgbClr val="DCD4E8"/>
                      </a:solidFill>
                      <a:prstDash val="solid"/>
                      <a:round/>
                      <a:headEnd type="none" w="med" len="med"/>
                      <a:tailEnd type="none" w="med" len="med"/>
                    </a:lnL>
                    <a:lnR w="9525" cap="flat" cmpd="sng" algn="ctr">
                      <a:solidFill>
                        <a:srgbClr val="DCD4E8"/>
                      </a:solidFill>
                      <a:prstDash val="solid"/>
                      <a:round/>
                      <a:headEnd type="none" w="med" len="med"/>
                      <a:tailEnd type="none" w="med" len="med"/>
                    </a:lnR>
                    <a:lnT w="9525" cap="flat" cmpd="sng" algn="ctr">
                      <a:solidFill>
                        <a:srgbClr val="DCD4E8"/>
                      </a:solidFill>
                      <a:prstDash val="solid"/>
                      <a:round/>
                      <a:headEnd type="none" w="med" len="med"/>
                      <a:tailEnd type="none" w="med" len="med"/>
                    </a:lnT>
                    <a:lnB w="9525" cap="flat" cmpd="sng" algn="ctr">
                      <a:solidFill>
                        <a:srgbClr val="DCD4E8"/>
                      </a:solidFill>
                      <a:prstDash val="solid"/>
                      <a:round/>
                      <a:headEnd type="none" w="med" len="med"/>
                      <a:tailEnd type="none" w="med" len="med"/>
                    </a:lnB>
                    <a:solidFill>
                      <a:srgbClr val="FFFFFF"/>
                    </a:solidFill>
                  </a:tcPr>
                </a:tc>
                <a:tc>
                  <a:txBody>
                    <a:bodyPr/>
                    <a:lstStyle/>
                    <a:p>
                      <a:pPr algn="l" indent="0" marL="0">
                        <a:buNone/>
                      </a:pPr>
                      <a:r>
                        <a:rPr lang="en-US" sz="1200" dirty="0">
                          <a:solidFill>
                            <a:srgbClr val="3A3838"/>
                          </a:solidFill>
                          <a:latin typeface="Calibri" pitchFamily="34" charset="0"/>
                          <a:ea typeface="Calibri" pitchFamily="34" charset="-122"/>
                          <a:cs typeface="Calibri" pitchFamily="34" charset="-120"/>
                        </a:rPr>
                        <a:t>Workflow</a:t>
                      </a:r>
                      <a:endParaRPr lang="en-US" sz="1200" dirty="0">
                        <a:latin typeface="Calibri" charset="0"/>
                        <a:ea typeface="Calibri" charset="0"/>
                        <a:cs typeface="Calibri" charset="0"/>
                      </a:endParaRPr>
                    </a:p>
                  </a:txBody>
                  <a:tcPr marL="36576" marR="36576" marT="36576" marB="36576" anchor="ctr">
                    <a:lnL w="9525" cap="flat" cmpd="sng" algn="ctr">
                      <a:solidFill>
                        <a:srgbClr val="DCD4E8"/>
                      </a:solidFill>
                      <a:prstDash val="solid"/>
                      <a:round/>
                      <a:headEnd type="none" w="med" len="med"/>
                      <a:tailEnd type="none" w="med" len="med"/>
                    </a:lnL>
                    <a:lnR w="9525" cap="flat" cmpd="sng" algn="ctr">
                      <a:solidFill>
                        <a:srgbClr val="DCD4E8"/>
                      </a:solidFill>
                      <a:prstDash val="solid"/>
                      <a:round/>
                      <a:headEnd type="none" w="med" len="med"/>
                      <a:tailEnd type="none" w="med" len="med"/>
                    </a:lnR>
                    <a:lnT w="9525" cap="flat" cmpd="sng" algn="ctr">
                      <a:solidFill>
                        <a:srgbClr val="DCD4E8"/>
                      </a:solidFill>
                      <a:prstDash val="solid"/>
                      <a:round/>
                      <a:headEnd type="none" w="med" len="med"/>
                      <a:tailEnd type="none" w="med" len="med"/>
                    </a:lnT>
                    <a:lnB w="9525" cap="flat" cmpd="sng" algn="ctr">
                      <a:solidFill>
                        <a:srgbClr val="DCD4E8"/>
                      </a:solidFill>
                      <a:prstDash val="solid"/>
                      <a:round/>
                      <a:headEnd type="none" w="med" len="med"/>
                      <a:tailEnd type="none" w="med" len="med"/>
                    </a:lnB>
                    <a:solidFill>
                      <a:srgbClr val="FFFFFF"/>
                    </a:solidFill>
                  </a:tcPr>
                </a:tc>
              </a:tr>
              <a:tr h="228600">
                <a:tc>
                  <a:txBody>
                    <a:bodyPr/>
                    <a:lstStyle/>
                    <a:p>
                      <a:pPr algn="l" indent="0" marL="0">
                        <a:buNone/>
                      </a:pPr>
                      <a:r>
                        <a:rPr lang="en-US" sz="1200" dirty="0">
                          <a:solidFill>
                            <a:srgbClr val="3A3838"/>
                          </a:solidFill>
                          <a:latin typeface="Calibri" pitchFamily="34" charset="0"/>
                          <a:ea typeface="Calibri" pitchFamily="34" charset="-122"/>
                          <a:cs typeface="Calibri" pitchFamily="34" charset="-120"/>
                        </a:rPr>
                        <a:t>AUGMENT</a:t>
                      </a:r>
                      <a:endParaRPr lang="en-US" sz="1200" dirty="0">
                        <a:latin typeface="Calibri" charset="0"/>
                        <a:ea typeface="Calibri" charset="0"/>
                        <a:cs typeface="Calibri" charset="0"/>
                      </a:endParaRPr>
                    </a:p>
                  </a:txBody>
                  <a:tcPr marL="36576" marR="36576" marT="36576" marB="36576" anchor="ctr">
                    <a:lnL w="9525" cap="flat" cmpd="sng" algn="ctr">
                      <a:solidFill>
                        <a:srgbClr val="DCD4E8"/>
                      </a:solidFill>
                      <a:prstDash val="solid"/>
                      <a:round/>
                      <a:headEnd type="none" w="med" len="med"/>
                      <a:tailEnd type="none" w="med" len="med"/>
                    </a:lnL>
                    <a:lnR w="9525" cap="flat" cmpd="sng" algn="ctr">
                      <a:solidFill>
                        <a:srgbClr val="DCD4E8"/>
                      </a:solidFill>
                      <a:prstDash val="solid"/>
                      <a:round/>
                      <a:headEnd type="none" w="med" len="med"/>
                      <a:tailEnd type="none" w="med" len="med"/>
                    </a:lnR>
                    <a:lnT w="9525" cap="flat" cmpd="sng" algn="ctr">
                      <a:solidFill>
                        <a:srgbClr val="DCD4E8"/>
                      </a:solidFill>
                      <a:prstDash val="solid"/>
                      <a:round/>
                      <a:headEnd type="none" w="med" len="med"/>
                      <a:tailEnd type="none" w="med" len="med"/>
                    </a:lnT>
                    <a:lnB w="9525" cap="flat" cmpd="sng" algn="ctr">
                      <a:solidFill>
                        <a:srgbClr val="DCD4E8"/>
                      </a:solidFill>
                      <a:prstDash val="solid"/>
                      <a:round/>
                      <a:headEnd type="none" w="med" len="med"/>
                      <a:tailEnd type="none" w="med" len="med"/>
                    </a:lnB>
                    <a:solidFill>
                      <a:srgbClr val="FBF8FE"/>
                    </a:solidFill>
                  </a:tcPr>
                </a:tc>
                <a:tc>
                  <a:txBody>
                    <a:bodyPr/>
                    <a:lstStyle/>
                    <a:p>
                      <a:pPr algn="l" indent="0" marL="0">
                        <a:buNone/>
                      </a:pPr>
                      <a:r>
                        <a:rPr lang="en-US" sz="1200" dirty="0">
                          <a:solidFill>
                            <a:srgbClr val="3A3838"/>
                          </a:solidFill>
                          <a:latin typeface="Calibri" pitchFamily="34" charset="0"/>
                          <a:ea typeface="Calibri" pitchFamily="34" charset="-122"/>
                          <a:cs typeface="Calibri" pitchFamily="34" charset="-120"/>
                        </a:rPr>
                        <a:t>Context packs, next-best-offer, service advice</a:t>
                      </a:r>
                      <a:endParaRPr lang="en-US" sz="1200" dirty="0">
                        <a:latin typeface="Calibri" charset="0"/>
                        <a:ea typeface="Calibri" charset="0"/>
                        <a:cs typeface="Calibri" charset="0"/>
                      </a:endParaRPr>
                    </a:p>
                  </a:txBody>
                  <a:tcPr marL="36576" marR="36576" marT="36576" marB="36576" anchor="ctr">
                    <a:lnL w="9525" cap="flat" cmpd="sng" algn="ctr">
                      <a:solidFill>
                        <a:srgbClr val="DCD4E8"/>
                      </a:solidFill>
                      <a:prstDash val="solid"/>
                      <a:round/>
                      <a:headEnd type="none" w="med" len="med"/>
                      <a:tailEnd type="none" w="med" len="med"/>
                    </a:lnL>
                    <a:lnR w="9525" cap="flat" cmpd="sng" algn="ctr">
                      <a:solidFill>
                        <a:srgbClr val="DCD4E8"/>
                      </a:solidFill>
                      <a:prstDash val="solid"/>
                      <a:round/>
                      <a:headEnd type="none" w="med" len="med"/>
                      <a:tailEnd type="none" w="med" len="med"/>
                    </a:lnR>
                    <a:lnT w="9525" cap="flat" cmpd="sng" algn="ctr">
                      <a:solidFill>
                        <a:srgbClr val="DCD4E8"/>
                      </a:solidFill>
                      <a:prstDash val="solid"/>
                      <a:round/>
                      <a:headEnd type="none" w="med" len="med"/>
                      <a:tailEnd type="none" w="med" len="med"/>
                    </a:lnT>
                    <a:lnB w="9525" cap="flat" cmpd="sng" algn="ctr">
                      <a:solidFill>
                        <a:srgbClr val="DCD4E8"/>
                      </a:solidFill>
                      <a:prstDash val="solid"/>
                      <a:round/>
                      <a:headEnd type="none" w="med" len="med"/>
                      <a:tailEnd type="none" w="med" len="med"/>
                    </a:lnB>
                    <a:solidFill>
                      <a:srgbClr val="FBF8FE"/>
                    </a:solidFill>
                  </a:tcPr>
                </a:tc>
                <a:tc>
                  <a:txBody>
                    <a:bodyPr/>
                    <a:lstStyle/>
                    <a:p>
                      <a:pPr algn="l" indent="0" marL="0">
                        <a:buNone/>
                      </a:pPr>
                      <a:r>
                        <a:rPr lang="en-US" sz="1200" dirty="0">
                          <a:solidFill>
                            <a:srgbClr val="3A3838"/>
                          </a:solidFill>
                          <a:latin typeface="Calibri" pitchFamily="34" charset="0"/>
                          <a:ea typeface="Calibri" pitchFamily="34" charset="-122"/>
                          <a:cs typeface="Calibri" pitchFamily="34" charset="-120"/>
                        </a:rPr>
                        <a:t>Human</a:t>
                      </a:r>
                      <a:endParaRPr lang="en-US" sz="1200" dirty="0">
                        <a:latin typeface="Calibri" charset="0"/>
                        <a:ea typeface="Calibri" charset="0"/>
                        <a:cs typeface="Calibri" charset="0"/>
                      </a:endParaRPr>
                    </a:p>
                  </a:txBody>
                  <a:tcPr marL="36576" marR="36576" marT="36576" marB="36576" anchor="ctr">
                    <a:lnL w="9525" cap="flat" cmpd="sng" algn="ctr">
                      <a:solidFill>
                        <a:srgbClr val="DCD4E8"/>
                      </a:solidFill>
                      <a:prstDash val="solid"/>
                      <a:round/>
                      <a:headEnd type="none" w="med" len="med"/>
                      <a:tailEnd type="none" w="med" len="med"/>
                    </a:lnL>
                    <a:lnR w="9525" cap="flat" cmpd="sng" algn="ctr">
                      <a:solidFill>
                        <a:srgbClr val="DCD4E8"/>
                      </a:solidFill>
                      <a:prstDash val="solid"/>
                      <a:round/>
                      <a:headEnd type="none" w="med" len="med"/>
                      <a:tailEnd type="none" w="med" len="med"/>
                    </a:lnR>
                    <a:lnT w="9525" cap="flat" cmpd="sng" algn="ctr">
                      <a:solidFill>
                        <a:srgbClr val="DCD4E8"/>
                      </a:solidFill>
                      <a:prstDash val="solid"/>
                      <a:round/>
                      <a:headEnd type="none" w="med" len="med"/>
                      <a:tailEnd type="none" w="med" len="med"/>
                    </a:lnT>
                    <a:lnB w="9525" cap="flat" cmpd="sng" algn="ctr">
                      <a:solidFill>
                        <a:srgbClr val="DCD4E8"/>
                      </a:solidFill>
                      <a:prstDash val="solid"/>
                      <a:round/>
                      <a:headEnd type="none" w="med" len="med"/>
                      <a:tailEnd type="none" w="med" len="med"/>
                    </a:lnB>
                    <a:solidFill>
                      <a:srgbClr val="FBF8FE"/>
                    </a:solidFill>
                  </a:tcPr>
                </a:tc>
              </a:tr>
              <a:tr h="228600">
                <a:tc>
                  <a:txBody>
                    <a:bodyPr/>
                    <a:lstStyle/>
                    <a:p>
                      <a:pPr algn="l" indent="0" marL="0">
                        <a:buNone/>
                      </a:pPr>
                      <a:r>
                        <a:rPr lang="en-US" sz="1200" dirty="0">
                          <a:solidFill>
                            <a:srgbClr val="3A3838"/>
                          </a:solidFill>
                          <a:latin typeface="Calibri" pitchFamily="34" charset="0"/>
                          <a:ea typeface="Calibri" pitchFamily="34" charset="-122"/>
                          <a:cs typeface="Calibri" pitchFamily="34" charset="-120"/>
                        </a:rPr>
                        <a:t>ABSTAIN</a:t>
                      </a:r>
                      <a:endParaRPr lang="en-US" sz="1200" dirty="0">
                        <a:latin typeface="Calibri" charset="0"/>
                        <a:ea typeface="Calibri" charset="0"/>
                        <a:cs typeface="Calibri" charset="0"/>
                      </a:endParaRPr>
                    </a:p>
                  </a:txBody>
                  <a:tcPr marL="36576" marR="36576" marT="36576" marB="36576" anchor="ctr">
                    <a:lnL w="9525" cap="flat" cmpd="sng" algn="ctr">
                      <a:solidFill>
                        <a:srgbClr val="DCD4E8"/>
                      </a:solidFill>
                      <a:prstDash val="solid"/>
                      <a:round/>
                      <a:headEnd type="none" w="med" len="med"/>
                      <a:tailEnd type="none" w="med" len="med"/>
                    </a:lnL>
                    <a:lnR w="9525" cap="flat" cmpd="sng" algn="ctr">
                      <a:solidFill>
                        <a:srgbClr val="DCD4E8"/>
                      </a:solidFill>
                      <a:prstDash val="solid"/>
                      <a:round/>
                      <a:headEnd type="none" w="med" len="med"/>
                      <a:tailEnd type="none" w="med" len="med"/>
                    </a:lnR>
                    <a:lnT w="9525" cap="flat" cmpd="sng" algn="ctr">
                      <a:solidFill>
                        <a:srgbClr val="DCD4E8"/>
                      </a:solidFill>
                      <a:prstDash val="solid"/>
                      <a:round/>
                      <a:headEnd type="none" w="med" len="med"/>
                      <a:tailEnd type="none" w="med" len="med"/>
                    </a:lnT>
                    <a:lnB w="9525" cap="flat" cmpd="sng" algn="ctr">
                      <a:solidFill>
                        <a:srgbClr val="DCD4E8"/>
                      </a:solidFill>
                      <a:prstDash val="solid"/>
                      <a:round/>
                      <a:headEnd type="none" w="med" len="med"/>
                      <a:tailEnd type="none" w="med" len="med"/>
                    </a:lnB>
                    <a:solidFill>
                      <a:srgbClr val="FFFFFF"/>
                    </a:solidFill>
                  </a:tcPr>
                </a:tc>
                <a:tc>
                  <a:txBody>
                    <a:bodyPr/>
                    <a:lstStyle/>
                    <a:p>
                      <a:pPr algn="l" indent="0" marL="0">
                        <a:buNone/>
                      </a:pPr>
                      <a:r>
                        <a:rPr lang="en-US" sz="1200" dirty="0">
                          <a:solidFill>
                            <a:srgbClr val="3A3838"/>
                          </a:solidFill>
                          <a:latin typeface="Calibri" pitchFamily="34" charset="0"/>
                          <a:ea typeface="Calibri" pitchFamily="34" charset="-122"/>
                          <a:cs typeface="Calibri" pitchFamily="34" charset="-120"/>
                        </a:rPr>
                        <a:t>Price, exchange, negotiation, complaints, credit</a:t>
                      </a:r>
                      <a:endParaRPr lang="en-US" sz="1200" dirty="0">
                        <a:latin typeface="Calibri" charset="0"/>
                        <a:ea typeface="Calibri" charset="0"/>
                        <a:cs typeface="Calibri" charset="0"/>
                      </a:endParaRPr>
                    </a:p>
                  </a:txBody>
                  <a:tcPr marL="36576" marR="36576" marT="36576" marB="36576" anchor="ctr">
                    <a:lnL w="9525" cap="flat" cmpd="sng" algn="ctr">
                      <a:solidFill>
                        <a:srgbClr val="DCD4E8"/>
                      </a:solidFill>
                      <a:prstDash val="solid"/>
                      <a:round/>
                      <a:headEnd type="none" w="med" len="med"/>
                      <a:tailEnd type="none" w="med" len="med"/>
                    </a:lnL>
                    <a:lnR w="9525" cap="flat" cmpd="sng" algn="ctr">
                      <a:solidFill>
                        <a:srgbClr val="DCD4E8"/>
                      </a:solidFill>
                      <a:prstDash val="solid"/>
                      <a:round/>
                      <a:headEnd type="none" w="med" len="med"/>
                      <a:tailEnd type="none" w="med" len="med"/>
                    </a:lnR>
                    <a:lnT w="9525" cap="flat" cmpd="sng" algn="ctr">
                      <a:solidFill>
                        <a:srgbClr val="DCD4E8"/>
                      </a:solidFill>
                      <a:prstDash val="solid"/>
                      <a:round/>
                      <a:headEnd type="none" w="med" len="med"/>
                      <a:tailEnd type="none" w="med" len="med"/>
                    </a:lnT>
                    <a:lnB w="9525" cap="flat" cmpd="sng" algn="ctr">
                      <a:solidFill>
                        <a:srgbClr val="DCD4E8"/>
                      </a:solidFill>
                      <a:prstDash val="solid"/>
                      <a:round/>
                      <a:headEnd type="none" w="med" len="med"/>
                      <a:tailEnd type="none" w="med" len="med"/>
                    </a:lnB>
                    <a:solidFill>
                      <a:srgbClr val="FFFFFF"/>
                    </a:solidFill>
                  </a:tcPr>
                </a:tc>
                <a:tc>
                  <a:txBody>
                    <a:bodyPr/>
                    <a:lstStyle/>
                    <a:p>
                      <a:pPr algn="l" indent="0" marL="0">
                        <a:buNone/>
                      </a:pPr>
                      <a:r>
                        <a:rPr lang="en-US" sz="1200" dirty="0">
                          <a:solidFill>
                            <a:srgbClr val="3A3838"/>
                          </a:solidFill>
                          <a:latin typeface="Calibri" pitchFamily="34" charset="0"/>
                          <a:ea typeface="Calibri" pitchFamily="34" charset="-122"/>
                          <a:cs typeface="Calibri" pitchFamily="34" charset="-120"/>
                        </a:rPr>
                        <a:t>Human only</a:t>
                      </a:r>
                      <a:endParaRPr lang="en-US" sz="1200" dirty="0">
                        <a:latin typeface="Calibri" charset="0"/>
                        <a:ea typeface="Calibri" charset="0"/>
                        <a:cs typeface="Calibri" charset="0"/>
                      </a:endParaRPr>
                    </a:p>
                  </a:txBody>
                  <a:tcPr marL="36576" marR="36576" marT="36576" marB="36576" anchor="ctr">
                    <a:lnL w="9525" cap="flat" cmpd="sng" algn="ctr">
                      <a:solidFill>
                        <a:srgbClr val="DCD4E8"/>
                      </a:solidFill>
                      <a:prstDash val="solid"/>
                      <a:round/>
                      <a:headEnd type="none" w="med" len="med"/>
                      <a:tailEnd type="none" w="med" len="med"/>
                    </a:lnL>
                    <a:lnR w="9525" cap="flat" cmpd="sng" algn="ctr">
                      <a:solidFill>
                        <a:srgbClr val="DCD4E8"/>
                      </a:solidFill>
                      <a:prstDash val="solid"/>
                      <a:round/>
                      <a:headEnd type="none" w="med" len="med"/>
                      <a:tailEnd type="none" w="med" len="med"/>
                    </a:lnR>
                    <a:lnT w="9525" cap="flat" cmpd="sng" algn="ctr">
                      <a:solidFill>
                        <a:srgbClr val="DCD4E8"/>
                      </a:solidFill>
                      <a:prstDash val="solid"/>
                      <a:round/>
                      <a:headEnd type="none" w="med" len="med"/>
                      <a:tailEnd type="none" w="med" len="med"/>
                    </a:lnT>
                    <a:lnB w="9525" cap="flat" cmpd="sng" algn="ctr">
                      <a:solidFill>
                        <a:srgbClr val="DCD4E8"/>
                      </a:solidFill>
                      <a:prstDash val="solid"/>
                      <a:round/>
                      <a:headEnd type="none" w="med" len="med"/>
                      <a:tailEnd type="none" w="med" len="med"/>
                    </a:lnB>
                    <a:solidFill>
                      <a:srgbClr val="FFFFFF"/>
                    </a:solidFill>
                  </a:tcPr>
                </a:tc>
              </a:tr>
            </a:tbl>
          </a:graphicData>
        </a:graphic>
      </p:graphicFrame>
      <p:sp>
        <p:nvSpPr>
          <p:cNvPr id="58" name="Text 53"/>
          <p:cNvSpPr/>
          <p:nvPr/>
        </p:nvSpPr>
        <p:spPr>
          <a:xfrm>
            <a:off x="4224528" y="4480560"/>
            <a:ext cx="3867912" cy="566928"/>
          </a:xfrm>
          <a:prstGeom prst="rect">
            <a:avLst/>
          </a:prstGeom>
          <a:noFill/>
          <a:ln/>
        </p:spPr>
        <p:txBody>
          <a:bodyPr wrap="square" lIns="0" tIns="0" rIns="0" bIns="0" rtlCol="0" anchor="ctr"/>
          <a:lstStyle/>
          <a:p>
            <a:pPr indent="0" marL="0">
              <a:lnSpc>
                <a:spcPct val="98000"/>
              </a:lnSpc>
              <a:buNone/>
            </a:pPr>
            <a:r>
              <a:rPr lang="en-US" sz="1200" dirty="0">
                <a:solidFill>
                  <a:srgbClr val="3A3838"/>
                </a:solidFill>
                <a:latin typeface="Calibri" pitchFamily="34" charset="0"/>
                <a:ea typeface="Calibri" pitchFamily="34" charset="-122"/>
                <a:cs typeface="Calibri" pitchFamily="34" charset="-120"/>
              </a:rPr>
              <a:t>The test, in plain terms: </a:t>
            </a:r>
            <a:pPr indent="0" marL="0">
              <a:lnSpc>
                <a:spcPct val="98000"/>
              </a:lnSpc>
              <a:buNone/>
            </a:pPr>
            <a:r>
              <a:rPr lang="en-US" sz="1200" b="1" dirty="0">
                <a:solidFill>
                  <a:srgbClr val="3A3838"/>
                </a:solidFill>
                <a:latin typeface="Calibri" pitchFamily="34" charset="0"/>
                <a:ea typeface="Calibri" pitchFamily="34" charset="-122"/>
                <a:cs typeface="Calibri" pitchFamily="34" charset="-120"/>
              </a:rPr>
              <a:t>is it easy to undo? does it risk customer trust? is there one clearly right answer?</a:t>
            </a:r>
            <a:pPr indent="0" marL="0">
              <a:lnSpc>
                <a:spcPct val="98000"/>
              </a:lnSpc>
              <a:buNone/>
            </a:pPr>
            <a:r>
              <a:rPr lang="en-US" sz="1200" dirty="0">
                <a:solidFill>
                  <a:srgbClr val="3A3838"/>
                </a:solidFill>
                <a:latin typeface="Calibri" pitchFamily="34" charset="0"/>
                <a:ea typeface="Calibri" pitchFamily="34" charset="-122"/>
                <a:cs typeface="Calibri" pitchFamily="34" charset="-120"/>
              </a:rPr>
              <a:t> If any answer is no — a person decides, not the machine.</a:t>
            </a:r>
            <a:endParaRPr lang="en-US" sz="1200" dirty="0"/>
          </a:p>
        </p:txBody>
      </p:sp>
      <p:sp>
        <p:nvSpPr>
          <p:cNvPr id="59" name="Text 54"/>
          <p:cNvSpPr/>
          <p:nvPr/>
        </p:nvSpPr>
        <p:spPr>
          <a:xfrm>
            <a:off x="4224528" y="5120640"/>
            <a:ext cx="3867912" cy="914400"/>
          </a:xfrm>
          <a:prstGeom prst="rect">
            <a:avLst/>
          </a:prstGeom>
          <a:solidFill>
            <a:srgbClr val="F6F1FC"/>
          </a:solidFill>
          <a:ln w="19050">
            <a:solidFill>
              <a:srgbClr val="A100FF"/>
            </a:solidFill>
          </a:ln>
        </p:spPr>
        <p:txBody>
          <a:bodyPr wrap="square" lIns="1270" tIns="1270" rIns="1270" bIns="1270" rtlCol="0" anchor="ctr"/>
          <a:lstStyle/>
          <a:p>
            <a:pPr indent="0" marL="0">
              <a:lnSpc>
                <a:spcPct val="98000"/>
              </a:lnSpc>
              <a:buNone/>
            </a:pPr>
            <a:r>
              <a:rPr lang="en-US" sz="1200" dirty="0">
                <a:solidFill>
                  <a:srgbClr val="000000"/>
                </a:solidFill>
                <a:latin typeface="Calibri" pitchFamily="34" charset="0"/>
                <a:ea typeface="Calibri" pitchFamily="34" charset="-122"/>
                <a:cs typeface="Calibri" pitchFamily="34" charset="-120"/>
              </a:rPr>
              <a:t>A 16-hour first response is a </a:t>
            </a:r>
            <a:pPr indent="0" marL="0">
              <a:lnSpc>
                <a:spcPct val="98000"/>
              </a:lnSpc>
              <a:buNone/>
            </a:pPr>
            <a:r>
              <a:rPr lang="en-US" sz="1200" b="1" dirty="0">
                <a:solidFill>
                  <a:srgbClr val="A100FF"/>
                </a:solidFill>
                <a:latin typeface="Calibri" pitchFamily="34" charset="0"/>
                <a:ea typeface="Calibri" pitchFamily="34" charset="-122"/>
                <a:cs typeface="Calibri" pitchFamily="34" charset="-120"/>
              </a:rPr>
              <a:t>management failure, not an intelligence failure</a:t>
            </a:r>
            <a:pPr indent="0" marL="0">
              <a:lnSpc>
                <a:spcPct val="98000"/>
              </a:lnSpc>
              <a:buNone/>
            </a:pPr>
            <a:r>
              <a:rPr lang="en-US" sz="1200" dirty="0">
                <a:solidFill>
                  <a:srgbClr val="000000"/>
                </a:solidFill>
                <a:latin typeface="Calibri" pitchFamily="34" charset="0"/>
                <a:ea typeface="Calibri" pitchFamily="34" charset="-122"/>
                <a:cs typeface="Calibri" pitchFamily="34" charset="-120"/>
              </a:rPr>
              <a:t>. A third of the fix is process — and process is nearly free. </a:t>
            </a:r>
            <a:pPr indent="0" marL="0">
              <a:lnSpc>
                <a:spcPct val="98000"/>
              </a:lnSpc>
              <a:buNone/>
            </a:pPr>
            <a:r>
              <a:rPr lang="en-US" sz="1200" b="1" dirty="0">
                <a:solidFill>
                  <a:srgbClr val="3A3838"/>
                </a:solidFill>
                <a:latin typeface="Calibri" pitchFamily="34" charset="0"/>
                <a:ea typeface="Calibri" pitchFamily="34" charset="-122"/>
                <a:cs typeface="Calibri" pitchFamily="34" charset="-120"/>
              </a:rPr>
              <a:t>That is why ₹250 cr a year is enough (Reality 2).</a:t>
            </a:r>
            <a:endParaRPr lang="en-US" sz="1200" dirty="0"/>
          </a:p>
        </p:txBody>
      </p:sp>
      <p:sp>
        <p:nvSpPr>
          <p:cNvPr id="60" name="Shape 55"/>
          <p:cNvSpPr/>
          <p:nvPr/>
        </p:nvSpPr>
        <p:spPr>
          <a:xfrm>
            <a:off x="8275320" y="1920240"/>
            <a:ext cx="292608" cy="292608"/>
          </a:xfrm>
          <a:prstGeom prst="ellipse">
            <a:avLst/>
          </a:prstGeom>
          <a:solidFill>
            <a:srgbClr val="A100FF"/>
          </a:solidFill>
          <a:ln w="12700">
            <a:solidFill>
              <a:srgbClr val="333333"/>
            </a:solidFill>
            <a:prstDash val="solid"/>
          </a:ln>
        </p:spPr>
      </p:sp>
      <p:sp>
        <p:nvSpPr>
          <p:cNvPr id="61" name="Text 56"/>
          <p:cNvSpPr/>
          <p:nvPr/>
        </p:nvSpPr>
        <p:spPr>
          <a:xfrm>
            <a:off x="8275320" y="1920240"/>
            <a:ext cx="292608" cy="29260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62" name="Text 57"/>
          <p:cNvSpPr/>
          <p:nvPr/>
        </p:nvSpPr>
        <p:spPr>
          <a:xfrm>
            <a:off x="8659368" y="1929384"/>
            <a:ext cx="3474720" cy="292608"/>
          </a:xfrm>
          <a:prstGeom prst="rect">
            <a:avLst/>
          </a:prstGeom>
          <a:noFill/>
          <a:ln/>
        </p:spPr>
        <p:txBody>
          <a:bodyPr wrap="square" lIns="0" tIns="0" rIns="0" bIns="0" rtlCol="0" anchor="ctr"/>
          <a:lstStyle/>
          <a:p>
            <a:pPr indent="0" marL="0">
              <a:buNone/>
            </a:pPr>
            <a:r>
              <a:rPr lang="en-US" sz="1350" b="1" dirty="0">
                <a:solidFill>
                  <a:srgbClr val="2A0A45"/>
                </a:solidFill>
                <a:latin typeface="Calibri" pitchFamily="34" charset="0"/>
                <a:ea typeface="Calibri" pitchFamily="34" charset="-122"/>
                <a:cs typeface="Calibri" pitchFamily="34" charset="-120"/>
              </a:rPr>
              <a:t>The boundary with 620 principals</a:t>
            </a:r>
            <a:endParaRPr lang="en-US" sz="1350" dirty="0"/>
          </a:p>
        </p:txBody>
      </p:sp>
      <p:sp>
        <p:nvSpPr>
          <p:cNvPr id="63" name="Shape 58"/>
          <p:cNvSpPr/>
          <p:nvPr/>
        </p:nvSpPr>
        <p:spPr>
          <a:xfrm>
            <a:off x="8275320" y="2304288"/>
            <a:ext cx="1847088" cy="2011680"/>
          </a:xfrm>
          <a:prstGeom prst="rect">
            <a:avLst/>
          </a:prstGeom>
          <a:solidFill>
            <a:srgbClr val="2A0A45"/>
          </a:solidFill>
          <a:ln w="12700">
            <a:solidFill>
              <a:srgbClr val="333333"/>
            </a:solidFill>
            <a:prstDash val="solid"/>
          </a:ln>
        </p:spPr>
      </p:sp>
      <p:sp>
        <p:nvSpPr>
          <p:cNvPr id="64" name="Shape 59"/>
          <p:cNvSpPr/>
          <p:nvPr/>
        </p:nvSpPr>
        <p:spPr>
          <a:xfrm>
            <a:off x="10195560" y="2304288"/>
            <a:ext cx="1856232" cy="2011680"/>
          </a:xfrm>
          <a:prstGeom prst="rect">
            <a:avLst/>
          </a:prstGeom>
          <a:solidFill>
            <a:srgbClr val="EADCF9"/>
          </a:solidFill>
          <a:ln w="12700">
            <a:solidFill>
              <a:srgbClr val="333333"/>
            </a:solidFill>
            <a:prstDash val="solid"/>
          </a:ln>
        </p:spPr>
      </p:sp>
      <p:sp>
        <p:nvSpPr>
          <p:cNvPr id="65" name="Text 60"/>
          <p:cNvSpPr/>
          <p:nvPr/>
        </p:nvSpPr>
        <p:spPr>
          <a:xfrm>
            <a:off x="8348472" y="2359152"/>
            <a:ext cx="1719072" cy="1901952"/>
          </a:xfrm>
          <a:prstGeom prst="rect">
            <a:avLst/>
          </a:prstGeom>
          <a:noFill/>
          <a:ln/>
        </p:spPr>
        <p:txBody>
          <a:bodyPr wrap="square" lIns="0" tIns="0" rIns="0" bIns="0" rtlCol="0" anchor="t"/>
          <a:lstStyle/>
          <a:p>
            <a:pPr indent="0" marL="0">
              <a:lnSpc>
                <a:spcPct val="112000"/>
              </a:lnSpc>
              <a:buNone/>
            </a:pPr>
            <a:r>
              <a:rPr lang="en-US" sz="1200" b="1" dirty="0">
                <a:solidFill>
                  <a:srgbClr val="C98CFF"/>
                </a:solidFill>
                <a:latin typeface="Calibri" pitchFamily="34" charset="0"/>
                <a:ea typeface="Calibri" pitchFamily="34" charset="-122"/>
                <a:cs typeface="Calibri" pitchFamily="34" charset="-120"/>
              </a:rPr>
              <a:t>ASTERON MANDATES
</a:t>
            </a:r>
            <a:pPr indent="0" marL="0">
              <a:lnSpc>
                <a:spcPct val="112000"/>
              </a:lnSpc>
              <a:buNone/>
            </a:pPr>
            <a:r>
              <a:rPr lang="en-US" sz="1200" dirty="0">
                <a:solidFill>
                  <a:srgbClr val="FFFFFF"/>
                </a:solidFill>
                <a:latin typeface="Calibri" pitchFamily="34" charset="0"/>
                <a:ea typeface="Calibri" pitchFamily="34" charset="-122"/>
                <a:cs typeface="Calibri" pitchFamily="34" charset="-120"/>
              </a:rPr>
              <a:t>Response SLA &amp; routing
</a:t>
            </a:r>
            <a:pPr indent="0" marL="0">
              <a:lnSpc>
                <a:spcPct val="112000"/>
              </a:lnSpc>
              <a:buNone/>
            </a:pPr>
            <a:r>
              <a:rPr lang="en-US" sz="1200" dirty="0">
                <a:solidFill>
                  <a:srgbClr val="FFFFFF"/>
                </a:solidFill>
                <a:latin typeface="Calibri" pitchFamily="34" charset="0"/>
                <a:ea typeface="Calibri" pitchFamily="34" charset="-122"/>
                <a:cs typeface="Calibri" pitchFamily="34" charset="-120"/>
              </a:rPr>
              <a:t>Data capture, common ID
</a:t>
            </a:r>
            <a:pPr indent="0" marL="0">
              <a:lnSpc>
                <a:spcPct val="112000"/>
              </a:lnSpc>
              <a:buNone/>
            </a:pPr>
            <a:r>
              <a:rPr lang="en-US" sz="1200" dirty="0">
                <a:solidFill>
                  <a:srgbClr val="FFFFFF"/>
                </a:solidFill>
                <a:latin typeface="Calibri" pitchFamily="34" charset="0"/>
                <a:ea typeface="Calibri" pitchFamily="34" charset="-122"/>
                <a:cs typeface="Calibri" pitchFamily="34" charset="-120"/>
              </a:rPr>
              <a:t>Service transparency
</a:t>
            </a:r>
            <a:pPr indent="0" marL="0">
              <a:lnSpc>
                <a:spcPct val="112000"/>
              </a:lnSpc>
              <a:buNone/>
            </a:pPr>
            <a:r>
              <a:rPr lang="en-US" sz="1200" dirty="0">
                <a:solidFill>
                  <a:srgbClr val="FFFFFF"/>
                </a:solidFill>
                <a:latin typeface="Calibri" pitchFamily="34" charset="0"/>
                <a:ea typeface="Calibri" pitchFamily="34" charset="-122"/>
                <a:cs typeface="Calibri" pitchFamily="34" charset="-120"/>
              </a:rPr>
              <a:t>Complaint escalation</a:t>
            </a:r>
            <a:endParaRPr lang="en-US" sz="1200" dirty="0"/>
          </a:p>
        </p:txBody>
      </p:sp>
      <p:sp>
        <p:nvSpPr>
          <p:cNvPr id="66" name="Text 61"/>
          <p:cNvSpPr/>
          <p:nvPr/>
        </p:nvSpPr>
        <p:spPr>
          <a:xfrm>
            <a:off x="10268712" y="2359152"/>
            <a:ext cx="1719072" cy="1901952"/>
          </a:xfrm>
          <a:prstGeom prst="rect">
            <a:avLst/>
          </a:prstGeom>
          <a:noFill/>
          <a:ln/>
        </p:spPr>
        <p:txBody>
          <a:bodyPr wrap="square" lIns="0" tIns="0" rIns="0" bIns="0" rtlCol="0" anchor="t"/>
          <a:lstStyle/>
          <a:p>
            <a:pPr indent="0" marL="0">
              <a:lnSpc>
                <a:spcPct val="112000"/>
              </a:lnSpc>
              <a:buNone/>
            </a:pPr>
            <a:r>
              <a:rPr lang="en-US" sz="1200" b="1" dirty="0">
                <a:solidFill>
                  <a:srgbClr val="6A00B8"/>
                </a:solidFill>
                <a:latin typeface="Calibri" pitchFamily="34" charset="0"/>
                <a:ea typeface="Calibri" pitchFamily="34" charset="-122"/>
                <a:cs typeface="Calibri" pitchFamily="34" charset="-120"/>
              </a:rPr>
              <a:t>DEALERS KEEP
</a:t>
            </a:r>
            <a:pPr indent="0" marL="0">
              <a:lnSpc>
                <a:spcPct val="112000"/>
              </a:lnSpc>
              <a:buNone/>
            </a:pPr>
            <a:r>
              <a:rPr lang="en-US" sz="1200" dirty="0">
                <a:solidFill>
                  <a:srgbClr val="2A0A45"/>
                </a:solidFill>
                <a:latin typeface="Calibri" pitchFamily="34" charset="0"/>
                <a:ea typeface="Calibri" pitchFamily="34" charset="-122"/>
                <a:cs typeface="Calibri" pitchFamily="34" charset="-120"/>
              </a:rPr>
              <a:t>Pricing &amp; discount
</a:t>
            </a:r>
            <a:pPr indent="0" marL="0">
              <a:lnSpc>
                <a:spcPct val="112000"/>
              </a:lnSpc>
              <a:buNone/>
            </a:pPr>
            <a:r>
              <a:rPr lang="en-US" sz="1200" dirty="0">
                <a:solidFill>
                  <a:srgbClr val="2A0A45"/>
                </a:solidFill>
                <a:latin typeface="Calibri" pitchFamily="34" charset="0"/>
                <a:ea typeface="Calibri" pitchFamily="34" charset="-122"/>
                <a:cs typeface="Calibri" pitchFamily="34" charset="-120"/>
              </a:rPr>
              <a:t>Negotiation &amp; closing
</a:t>
            </a:r>
            <a:pPr indent="0" marL="0">
              <a:lnSpc>
                <a:spcPct val="112000"/>
              </a:lnSpc>
              <a:buNone/>
            </a:pPr>
            <a:r>
              <a:rPr lang="en-US" sz="1200" dirty="0">
                <a:solidFill>
                  <a:srgbClr val="2A0A45"/>
                </a:solidFill>
                <a:latin typeface="Calibri" pitchFamily="34" charset="0"/>
                <a:ea typeface="Calibri" pitchFamily="34" charset="-122"/>
                <a:cs typeface="Calibri" pitchFamily="34" charset="-120"/>
              </a:rPr>
              <a:t>Local relationships
</a:t>
            </a:r>
            <a:pPr indent="0" marL="0">
              <a:lnSpc>
                <a:spcPct val="112000"/>
              </a:lnSpc>
              <a:buNone/>
            </a:pPr>
            <a:r>
              <a:rPr lang="en-US" sz="1200" dirty="0">
                <a:solidFill>
                  <a:srgbClr val="2A0A45"/>
                </a:solidFill>
                <a:latin typeface="Calibri" pitchFamily="34" charset="0"/>
                <a:ea typeface="Calibri" pitchFamily="34" charset="-122"/>
                <a:cs typeface="Calibri" pitchFamily="34" charset="-120"/>
              </a:rPr>
              <a:t>Staffing, showroom ops</a:t>
            </a:r>
            <a:endParaRPr lang="en-US" sz="1200" dirty="0"/>
          </a:p>
        </p:txBody>
      </p:sp>
      <p:sp>
        <p:nvSpPr>
          <p:cNvPr id="67" name="Text 62"/>
          <p:cNvSpPr/>
          <p:nvPr/>
        </p:nvSpPr>
        <p:spPr>
          <a:xfrm>
            <a:off x="8275320" y="4407408"/>
            <a:ext cx="3776472" cy="329184"/>
          </a:xfrm>
          <a:prstGeom prst="rect">
            <a:avLst/>
          </a:prstGeom>
          <a:noFill/>
          <a:ln/>
        </p:spPr>
        <p:txBody>
          <a:bodyPr wrap="square" lIns="0" tIns="0" rIns="0" bIns="0" rtlCol="0" anchor="ctr"/>
          <a:lstStyle/>
          <a:p>
            <a:pPr indent="0" marL="0">
              <a:buNone/>
            </a:pPr>
            <a:r>
              <a:rPr lang="en-US" sz="1200" dirty="0">
                <a:solidFill>
                  <a:srgbClr val="3A3838"/>
                </a:solidFill>
                <a:latin typeface="Calibri" pitchFamily="34" charset="0"/>
                <a:ea typeface="Calibri" pitchFamily="34" charset="-122"/>
                <a:cs typeface="Calibri" pitchFamily="34" charset="-120"/>
              </a:rPr>
              <a:t>The rule: standardise </a:t>
            </a:r>
            <a:pPr indent="0" marL="0">
              <a:buNone/>
            </a:pPr>
            <a:r>
              <a:rPr lang="en-US" sz="1200" b="1" dirty="0">
                <a:solidFill>
                  <a:srgbClr val="3A3838"/>
                </a:solidFill>
                <a:latin typeface="Calibri" pitchFamily="34" charset="0"/>
                <a:ea typeface="Calibri" pitchFamily="34" charset="-122"/>
                <a:cs typeface="Calibri" pitchFamily="34" charset="-120"/>
              </a:rPr>
              <a:t>what the customer notices</a:t>
            </a:r>
            <a:pPr indent="0" marL="0">
              <a:buNone/>
            </a:pPr>
            <a:r>
              <a:rPr lang="en-US" sz="1200" dirty="0">
                <a:solidFill>
                  <a:srgbClr val="3A3838"/>
                </a:solidFill>
                <a:latin typeface="Calibri" pitchFamily="34" charset="0"/>
                <a:ea typeface="Calibri" pitchFamily="34" charset="-122"/>
                <a:cs typeface="Calibri" pitchFamily="34" charset="-120"/>
              </a:rPr>
              <a:t>; dealers keep </a:t>
            </a:r>
            <a:pPr indent="0" marL="0">
              <a:buNone/>
            </a:pPr>
            <a:r>
              <a:rPr lang="en-US" sz="1200" b="1" dirty="0">
                <a:solidFill>
                  <a:srgbClr val="3A3838"/>
                </a:solidFill>
                <a:latin typeface="Calibri" pitchFamily="34" charset="0"/>
                <a:ea typeface="Calibri" pitchFamily="34" charset="-122"/>
                <a:cs typeface="Calibri" pitchFamily="34" charset="-120"/>
              </a:rPr>
              <a:t>what they compete on</a:t>
            </a:r>
            <a:pPr indent="0" marL="0">
              <a:buNone/>
            </a:pPr>
            <a:r>
              <a:rPr lang="en-US" sz="1200" dirty="0">
                <a:solidFill>
                  <a:srgbClr val="3A3838"/>
                </a:solidFill>
                <a:latin typeface="Calibri" pitchFamily="34" charset="0"/>
                <a:ea typeface="Calibri" pitchFamily="34" charset="-122"/>
                <a:cs typeface="Calibri" pitchFamily="34" charset="-120"/>
              </a:rPr>
              <a:t>.</a:t>
            </a:r>
            <a:endParaRPr lang="en-US" sz="1200" dirty="0"/>
          </a:p>
        </p:txBody>
      </p:sp>
      <p:sp>
        <p:nvSpPr>
          <p:cNvPr id="68" name="Text 63"/>
          <p:cNvSpPr/>
          <p:nvPr/>
        </p:nvSpPr>
        <p:spPr>
          <a:xfrm>
            <a:off x="8275320" y="4791456"/>
            <a:ext cx="3776472" cy="768096"/>
          </a:xfrm>
          <a:prstGeom prst="rect">
            <a:avLst/>
          </a:prstGeom>
          <a:solidFill>
            <a:srgbClr val="2A0A45"/>
          </a:solidFill>
          <a:ln/>
        </p:spPr>
        <p:txBody>
          <a:bodyPr wrap="square" lIns="762" tIns="762" rIns="762" bIns="762" rtlCol="0" anchor="ctr"/>
          <a:lstStyle/>
          <a:p>
            <a:pPr indent="0" marL="0">
              <a:lnSpc>
                <a:spcPct val="98000"/>
              </a:lnSpc>
              <a:buNone/>
            </a:pPr>
            <a:r>
              <a:rPr lang="en-US" sz="1200" dirty="0">
                <a:solidFill>
                  <a:srgbClr val="FFFFFF"/>
                </a:solidFill>
                <a:latin typeface="Calibri" pitchFamily="34" charset="0"/>
                <a:ea typeface="Calibri" pitchFamily="34" charset="-122"/>
                <a:cs typeface="Calibri" pitchFamily="34" charset="-120"/>
              </a:rPr>
              <a:t>Naming what we are </a:t>
            </a:r>
            <a:pPr indent="0" marL="0">
              <a:lnSpc>
                <a:spcPct val="98000"/>
              </a:lnSpc>
              <a:buNone/>
            </a:pPr>
            <a:r>
              <a:rPr lang="en-US" sz="1200" b="1" dirty="0">
                <a:solidFill>
                  <a:srgbClr val="C98CFF"/>
                </a:solidFill>
                <a:latin typeface="Calibri" pitchFamily="34" charset="0"/>
                <a:ea typeface="Calibri" pitchFamily="34" charset="-122"/>
                <a:cs typeface="Calibri" pitchFamily="34" charset="-120"/>
              </a:rPr>
              <a:t>not</a:t>
            </a:r>
            <a:pPr indent="0" marL="0">
              <a:lnSpc>
                <a:spcPct val="98000"/>
              </a:lnSpc>
              <a:buNone/>
            </a:pPr>
            <a:r>
              <a:rPr lang="en-US" sz="1200" dirty="0">
                <a:solidFill>
                  <a:srgbClr val="FFFFFF"/>
                </a:solidFill>
                <a:latin typeface="Calibri" pitchFamily="34" charset="0"/>
                <a:ea typeface="Calibri" pitchFamily="34" charset="-122"/>
                <a:cs typeface="Calibri" pitchFamily="34" charset="-120"/>
              </a:rPr>
              <a:t> taking is the adoption argument, not just governance — dealers are independent businesses; you cannot instruct your way past that.</a:t>
            </a:r>
            <a:endParaRPr lang="en-US" sz="1200" dirty="0"/>
          </a:p>
        </p:txBody>
      </p:sp>
      <p:sp>
        <p:nvSpPr>
          <p:cNvPr id="69" name="Text 64"/>
          <p:cNvSpPr/>
          <p:nvPr/>
        </p:nvSpPr>
        <p:spPr>
          <a:xfrm>
            <a:off x="8275320" y="5650992"/>
            <a:ext cx="3776472" cy="676656"/>
          </a:xfrm>
          <a:prstGeom prst="rect">
            <a:avLst/>
          </a:prstGeom>
          <a:noFill/>
          <a:ln/>
        </p:spPr>
        <p:txBody>
          <a:bodyPr wrap="square" lIns="0" tIns="0" rIns="0" bIns="0" rtlCol="0" anchor="ctr"/>
          <a:lstStyle/>
          <a:p>
            <a:pPr indent="0" marL="0">
              <a:lnSpc>
                <a:spcPct val="98000"/>
              </a:lnSpc>
              <a:buNone/>
            </a:pPr>
            <a:r>
              <a:rPr lang="en-US" sz="1200" b="1" dirty="0">
                <a:solidFill>
                  <a:srgbClr val="3A3838"/>
                </a:solidFill>
                <a:latin typeface="Calibri" pitchFamily="34" charset="0"/>
                <a:ea typeface="Calibri" pitchFamily="34" charset="-122"/>
                <a:cs typeface="Calibri" pitchFamily="34" charset="-120"/>
              </a:rPr>
              <a:t>Tech spine: </a:t>
            </a:r>
            <a:pPr indent="0" marL="0">
              <a:lnSpc>
                <a:spcPct val="98000"/>
              </a:lnSpc>
              <a:buNone/>
            </a:pPr>
            <a:r>
              <a:rPr lang="en-US" sz="1200" dirty="0">
                <a:solidFill>
                  <a:srgbClr val="3A3838"/>
                </a:solidFill>
                <a:latin typeface="Calibri" pitchFamily="34" charset="0"/>
                <a:ea typeface="Calibri" pitchFamily="34" charset="-122"/>
                <a:cs typeface="Calibri" pitchFamily="34" charset="-120"/>
              </a:rPr>
              <a:t>match engine Q1–Q2 · event API across OEM + DMS Q2–Q3 · agent MVP Q2 · vendor estate 11 → 4 by Q6.</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137160" y="155448"/>
            <a:ext cx="1874520" cy="41148"/>
          </a:xfrm>
          <a:prstGeom prst="rect">
            <a:avLst/>
          </a:prstGeom>
          <a:solidFill>
            <a:srgbClr val="2A0A45"/>
          </a:solidFill>
          <a:ln w="12700">
            <a:solidFill>
              <a:srgbClr val="333333"/>
            </a:solidFill>
            <a:prstDash val="solid"/>
          </a:ln>
        </p:spPr>
      </p:sp>
      <p:sp>
        <p:nvSpPr>
          <p:cNvPr id="3" name="Shape 1"/>
          <p:cNvSpPr/>
          <p:nvPr/>
        </p:nvSpPr>
        <p:spPr>
          <a:xfrm>
            <a:off x="137160" y="246888"/>
            <a:ext cx="1453896" cy="41148"/>
          </a:xfrm>
          <a:prstGeom prst="rect">
            <a:avLst/>
          </a:prstGeom>
          <a:solidFill>
            <a:srgbClr val="2A0A45"/>
          </a:solidFill>
          <a:ln w="12700">
            <a:solidFill>
              <a:srgbClr val="333333"/>
            </a:solidFill>
            <a:prstDash val="solid"/>
          </a:ln>
        </p:spPr>
      </p:sp>
      <p:sp>
        <p:nvSpPr>
          <p:cNvPr id="4" name="Shape 2"/>
          <p:cNvSpPr/>
          <p:nvPr/>
        </p:nvSpPr>
        <p:spPr>
          <a:xfrm>
            <a:off x="137160" y="338328"/>
            <a:ext cx="1874520" cy="41148"/>
          </a:xfrm>
          <a:prstGeom prst="rect">
            <a:avLst/>
          </a:prstGeom>
          <a:solidFill>
            <a:srgbClr val="2A0A45"/>
          </a:solidFill>
          <a:ln w="12700">
            <a:solidFill>
              <a:srgbClr val="333333"/>
            </a:solidFill>
            <a:prstDash val="solid"/>
          </a:ln>
        </p:spPr>
      </p:sp>
      <p:sp>
        <p:nvSpPr>
          <p:cNvPr id="5" name="Shape 3"/>
          <p:cNvSpPr/>
          <p:nvPr/>
        </p:nvSpPr>
        <p:spPr>
          <a:xfrm>
            <a:off x="10177272" y="155448"/>
            <a:ext cx="1874520" cy="41148"/>
          </a:xfrm>
          <a:prstGeom prst="rect">
            <a:avLst/>
          </a:prstGeom>
          <a:solidFill>
            <a:srgbClr val="2A0A45"/>
          </a:solidFill>
          <a:ln w="12700">
            <a:solidFill>
              <a:srgbClr val="333333"/>
            </a:solidFill>
            <a:prstDash val="solid"/>
          </a:ln>
        </p:spPr>
      </p:sp>
      <p:sp>
        <p:nvSpPr>
          <p:cNvPr id="6" name="Shape 4"/>
          <p:cNvSpPr/>
          <p:nvPr/>
        </p:nvSpPr>
        <p:spPr>
          <a:xfrm>
            <a:off x="10597896" y="246888"/>
            <a:ext cx="1453896" cy="41148"/>
          </a:xfrm>
          <a:prstGeom prst="rect">
            <a:avLst/>
          </a:prstGeom>
          <a:solidFill>
            <a:srgbClr val="2A0A45"/>
          </a:solidFill>
          <a:ln w="12700">
            <a:solidFill>
              <a:srgbClr val="333333"/>
            </a:solidFill>
            <a:prstDash val="solid"/>
          </a:ln>
        </p:spPr>
      </p:sp>
      <p:sp>
        <p:nvSpPr>
          <p:cNvPr id="7" name="Shape 5"/>
          <p:cNvSpPr/>
          <p:nvPr/>
        </p:nvSpPr>
        <p:spPr>
          <a:xfrm>
            <a:off x="10177272" y="338328"/>
            <a:ext cx="1874520" cy="41148"/>
          </a:xfrm>
          <a:prstGeom prst="rect">
            <a:avLst/>
          </a:prstGeom>
          <a:solidFill>
            <a:srgbClr val="2A0A45"/>
          </a:solidFill>
          <a:ln w="12700">
            <a:solidFill>
              <a:srgbClr val="333333"/>
            </a:solidFill>
            <a:prstDash val="solid"/>
          </a:ln>
        </p:spPr>
      </p:sp>
      <p:sp>
        <p:nvSpPr>
          <p:cNvPr id="8" name="Text 6"/>
          <p:cNvSpPr/>
          <p:nvPr/>
        </p:nvSpPr>
        <p:spPr>
          <a:xfrm>
            <a:off x="2057400" y="0"/>
            <a:ext cx="8092440" cy="530352"/>
          </a:xfrm>
          <a:prstGeom prst="rect">
            <a:avLst/>
          </a:prstGeom>
          <a:noFill/>
          <a:ln/>
        </p:spPr>
        <p:txBody>
          <a:bodyPr wrap="square" lIns="0" tIns="0" rIns="0" bIns="0" rtlCol="0" anchor="ctr"/>
          <a:lstStyle/>
          <a:p>
            <a:pPr algn="ctr" indent="0" marL="0">
              <a:buNone/>
            </a:pPr>
            <a:r>
              <a:rPr lang="en-US" sz="2600" b="1" dirty="0">
                <a:solidFill>
                  <a:srgbClr val="000000"/>
                </a:solidFill>
                <a:latin typeface="Calibri" pitchFamily="34" charset="0"/>
                <a:ea typeface="Calibri" pitchFamily="34" charset="-122"/>
                <a:cs typeface="Calibri" pitchFamily="34" charset="-120"/>
              </a:rPr>
              <a:t>FOUNDATIONS IN TWO QUARTERS, NOT TWO YEARS</a:t>
            </a:r>
            <a:endParaRPr lang="en-US" sz="2600" dirty="0"/>
          </a:p>
        </p:txBody>
      </p:sp>
      <p:sp>
        <p:nvSpPr>
          <p:cNvPr id="9" name="Text 7"/>
          <p:cNvSpPr/>
          <p:nvPr/>
        </p:nvSpPr>
        <p:spPr>
          <a:xfrm>
            <a:off x="0" y="548640"/>
            <a:ext cx="12191695" cy="310896"/>
          </a:xfrm>
          <a:prstGeom prst="rect">
            <a:avLst/>
          </a:prstGeom>
          <a:solidFill>
            <a:srgbClr val="A100FF"/>
          </a:solid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38% CUSTOMER RECOGNITION AND 34% STANDARDISED JOURNEYS ARE FIXED BEFORE SCALE — WITHOUT A TWO-YEAR DATA PROGRAMME (REALITY 1)</a:t>
            </a:r>
            <a:endParaRPr lang="en-US" sz="1300" dirty="0"/>
          </a:p>
        </p:txBody>
      </p:sp>
      <p:sp>
        <p:nvSpPr>
          <p:cNvPr id="10" name="Shape 8"/>
          <p:cNvSpPr/>
          <p:nvPr/>
        </p:nvSpPr>
        <p:spPr>
          <a:xfrm>
            <a:off x="0" y="859536"/>
            <a:ext cx="12191695" cy="27432"/>
          </a:xfrm>
          <a:prstGeom prst="rect">
            <a:avLst/>
          </a:prstGeom>
          <a:solidFill>
            <a:srgbClr val="2A0A45"/>
          </a:solidFill>
          <a:ln w="12700">
            <a:solidFill>
              <a:srgbClr val="333333"/>
            </a:solidFill>
            <a:prstDash val="solid"/>
          </a:ln>
        </p:spPr>
      </p:sp>
      <p:sp>
        <p:nvSpPr>
          <p:cNvPr id="11" name="Shape 9"/>
          <p:cNvSpPr/>
          <p:nvPr/>
        </p:nvSpPr>
        <p:spPr>
          <a:xfrm>
            <a:off x="0" y="1783080"/>
            <a:ext cx="12191695" cy="27432"/>
          </a:xfrm>
          <a:prstGeom prst="rect">
            <a:avLst/>
          </a:prstGeom>
          <a:solidFill>
            <a:srgbClr val="2A0A45"/>
          </a:solidFill>
          <a:ln w="12700">
            <a:solidFill>
              <a:srgbClr val="333333"/>
            </a:solidFill>
            <a:prstDash val="solid"/>
          </a:ln>
        </p:spPr>
      </p:sp>
      <p:sp>
        <p:nvSpPr>
          <p:cNvPr id="12" name="Shape 10"/>
          <p:cNvSpPr/>
          <p:nvPr/>
        </p:nvSpPr>
        <p:spPr>
          <a:xfrm>
            <a:off x="0" y="6528816"/>
            <a:ext cx="12191695" cy="329184"/>
          </a:xfrm>
          <a:prstGeom prst="rect">
            <a:avLst/>
          </a:prstGeom>
          <a:solidFill>
            <a:srgbClr val="2A0A45"/>
          </a:solidFill>
          <a:ln w="12700">
            <a:solidFill>
              <a:srgbClr val="333333"/>
            </a:solidFill>
            <a:prstDash val="solid"/>
          </a:ln>
        </p:spPr>
      </p:sp>
      <p:sp>
        <p:nvSpPr>
          <p:cNvPr id="13" name="Text 11"/>
          <p:cNvSpPr/>
          <p:nvPr/>
        </p:nvSpPr>
        <p:spPr>
          <a:xfrm>
            <a:off x="137160" y="6528816"/>
            <a:ext cx="9601200" cy="329184"/>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Building blocks 01 &amp; 02 · delivered Q1–Q2, before any wave scales</a:t>
            </a:r>
            <a:endParaRPr lang="en-US" sz="1200" dirty="0"/>
          </a:p>
        </p:txBody>
      </p:sp>
      <p:sp>
        <p:nvSpPr>
          <p:cNvPr id="14" name="Text 12"/>
          <p:cNvSpPr/>
          <p:nvPr/>
        </p:nvSpPr>
        <p:spPr>
          <a:xfrm>
            <a:off x="10789920" y="6528816"/>
            <a:ext cx="1280160" cy="329184"/>
          </a:xfrm>
          <a:prstGeom prst="rect">
            <a:avLst/>
          </a:prstGeom>
          <a:noFill/>
          <a:ln/>
        </p:spPr>
        <p:txBody>
          <a:bodyPr wrap="square" lIns="0" tIns="0" rIns="0" bIns="0" rtlCol="0" anchor="ctr"/>
          <a:lstStyle/>
          <a:p>
            <a:pPr algn="r" indent="0" marL="0">
              <a:buNone/>
            </a:pPr>
            <a:r>
              <a:rPr lang="en-US" sz="1200" dirty="0">
                <a:solidFill>
                  <a:srgbClr val="FFFFFF"/>
                </a:solidFill>
                <a:latin typeface="Calibri" pitchFamily="34" charset="0"/>
                <a:ea typeface="Calibri" pitchFamily="34" charset="-122"/>
                <a:cs typeface="Calibri" pitchFamily="34" charset="-120"/>
              </a:rPr>
              <a:t>3 / 7</a:t>
            </a:r>
            <a:endParaRPr lang="en-US" sz="1200" dirty="0"/>
          </a:p>
        </p:txBody>
      </p:sp>
      <p:sp>
        <p:nvSpPr>
          <p:cNvPr id="15" name="Shape 13"/>
          <p:cNvSpPr/>
          <p:nvPr/>
        </p:nvSpPr>
        <p:spPr>
          <a:xfrm>
            <a:off x="0" y="886968"/>
            <a:ext cx="1938528" cy="896112"/>
          </a:xfrm>
          <a:prstGeom prst="homePlate">
            <a:avLst/>
          </a:prstGeom>
          <a:solidFill>
            <a:srgbClr val="2A0A45"/>
          </a:solidFill>
          <a:ln w="12700">
            <a:solidFill>
              <a:srgbClr val="333333"/>
            </a:solidFill>
            <a:prstDash val="solid"/>
          </a:ln>
        </p:spPr>
      </p:sp>
      <p:pic>
        <p:nvPicPr>
          <p:cNvPr id="16" name="Image 0" descr="preencoded.png">    </p:cNvPr>
          <p:cNvPicPr>
            <a:picLocks noChangeAspect="1"/>
          </p:cNvPicPr>
          <p:nvPr/>
        </p:nvPicPr>
        <p:blipFill>
          <a:blip r:embed="rId1"/>
          <a:stretch>
            <a:fillRect/>
          </a:stretch>
        </p:blipFill>
        <p:spPr>
          <a:xfrm>
            <a:off x="128016" y="1005840"/>
            <a:ext cx="274320" cy="274320"/>
          </a:xfrm>
          <a:prstGeom prst="rect">
            <a:avLst/>
          </a:prstGeom>
        </p:spPr>
      </p:pic>
      <p:sp>
        <p:nvSpPr>
          <p:cNvPr id="17" name="Text 14"/>
          <p:cNvSpPr/>
          <p:nvPr/>
        </p:nvSpPr>
        <p:spPr>
          <a:xfrm>
            <a:off x="457200" y="905256"/>
            <a:ext cx="1325880" cy="859536"/>
          </a:xfrm>
          <a:prstGeom prst="rect">
            <a:avLst/>
          </a:prstGeom>
          <a:noFill/>
          <a:ln/>
        </p:spPr>
        <p:txBody>
          <a:bodyPr wrap="square" lIns="0" tIns="0" rIns="0" bIns="0" rtlCol="0" anchor="ctr"/>
          <a:lstStyle/>
          <a:p>
            <a:pPr indent="0" marL="0">
              <a:lnSpc>
                <a:spcPct val="100000"/>
              </a:lnSpc>
              <a:buNone/>
            </a:pPr>
            <a:r>
              <a:rPr lang="en-US" sz="1200" b="1" dirty="0">
                <a:solidFill>
                  <a:srgbClr val="FFFFFF"/>
                </a:solidFill>
                <a:latin typeface="Calibri" pitchFamily="34" charset="0"/>
                <a:ea typeface="Calibri" pitchFamily="34" charset="-122"/>
                <a:cs typeface="Calibri" pitchFamily="34" charset="-120"/>
              </a:rPr>
              <a:t>IDENTITY</a:t>
            </a:r>
            <a:pPr indent="0" marL="0">
              <a:lnSpc>
                <a:spcPct val="100000"/>
              </a:lnSpc>
              <a:buNone/>
            </a:pPr>
            <a:endParaRPr lang="en-US" sz="1200" dirty="0"/>
          </a:p>
          <a:p>
            <a:pPr indent="0" marL="0">
              <a:lnSpc>
                <a:spcPct val="100000"/>
              </a:lnSpc>
              <a:buNone/>
            </a:pPr>
            <a:r>
              <a:rPr lang="en-US" sz="1200" b="1" dirty="0">
                <a:solidFill>
                  <a:srgbClr val="FFFFFF"/>
                </a:solidFill>
                <a:latin typeface="Calibri" pitchFamily="34" charset="0"/>
                <a:ea typeface="Calibri" pitchFamily="34" charset="-122"/>
                <a:cs typeface="Calibri" pitchFamily="34" charset="-120"/>
              </a:rPr>
              <a:t>COVERAGE BUILD</a:t>
            </a:r>
            <a:endParaRPr lang="en-US" sz="1200" dirty="0"/>
          </a:p>
          <a:p>
            <a:pPr indent="0" marL="0">
              <a:lnSpc>
                <a:spcPct val="100000"/>
              </a:lnSpc>
              <a:buNone/>
            </a:pPr>
            <a:endParaRPr lang="en-US" sz="1200" dirty="0"/>
          </a:p>
          <a:p>
            <a:pPr indent="0" marL="0">
              <a:lnSpc>
                <a:spcPct val="100000"/>
              </a:lnSpc>
              <a:buNone/>
            </a:pPr>
            <a:r>
              <a:rPr lang="en-US" sz="1200" b="1" dirty="0">
                <a:solidFill>
                  <a:srgbClr val="C98CFF"/>
                </a:solidFill>
                <a:latin typeface="Calibri" pitchFamily="34" charset="0"/>
                <a:ea typeface="Calibri" pitchFamily="34" charset="-122"/>
                <a:cs typeface="Calibri" pitchFamily="34" charset="-120"/>
              </a:rPr>
              <a:t>metro base</a:t>
            </a:r>
            <a:endParaRPr lang="en-US" sz="1200" dirty="0"/>
          </a:p>
        </p:txBody>
      </p:sp>
      <p:sp>
        <p:nvSpPr>
          <p:cNvPr id="18" name="Shape 15"/>
          <p:cNvSpPr/>
          <p:nvPr/>
        </p:nvSpPr>
        <p:spPr>
          <a:xfrm>
            <a:off x="2103120" y="1115568"/>
            <a:ext cx="2779776" cy="384048"/>
          </a:xfrm>
          <a:prstGeom prst="rect">
            <a:avLst/>
          </a:prstGeom>
          <a:solidFill>
            <a:srgbClr val="2A0A45"/>
          </a:solidFill>
          <a:ln w="12700">
            <a:solidFill>
              <a:srgbClr val="333333"/>
            </a:solidFill>
            <a:prstDash val="solid"/>
          </a:ln>
        </p:spPr>
      </p:sp>
      <p:sp>
        <p:nvSpPr>
          <p:cNvPr id="19" name="Text 16"/>
          <p:cNvSpPr/>
          <p:nvPr/>
        </p:nvSpPr>
        <p:spPr>
          <a:xfrm>
            <a:off x="2103120" y="1115568"/>
            <a:ext cx="2779776"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38% today</a:t>
            </a:r>
            <a:endParaRPr lang="en-US" sz="1200" dirty="0"/>
          </a:p>
        </p:txBody>
      </p:sp>
      <p:sp>
        <p:nvSpPr>
          <p:cNvPr id="20" name="Shape 17"/>
          <p:cNvSpPr/>
          <p:nvPr/>
        </p:nvSpPr>
        <p:spPr>
          <a:xfrm>
            <a:off x="4924044" y="1115568"/>
            <a:ext cx="1024128" cy="384048"/>
          </a:xfrm>
          <a:prstGeom prst="rect">
            <a:avLst/>
          </a:prstGeom>
          <a:solidFill>
            <a:srgbClr val="6A00B8"/>
          </a:solidFill>
          <a:ln w="12700">
            <a:solidFill>
              <a:srgbClr val="333333"/>
            </a:solidFill>
            <a:prstDash val="solid"/>
          </a:ln>
        </p:spPr>
      </p:sp>
      <p:sp>
        <p:nvSpPr>
          <p:cNvPr id="21" name="Text 18"/>
          <p:cNvSpPr/>
          <p:nvPr/>
        </p:nvSpPr>
        <p:spPr>
          <a:xfrm>
            <a:off x="4924044" y="1115568"/>
            <a:ext cx="10241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+14</a:t>
            </a:r>
            <a:endParaRPr lang="en-US" sz="1200" dirty="0"/>
          </a:p>
        </p:txBody>
      </p:sp>
      <p:sp>
        <p:nvSpPr>
          <p:cNvPr id="22" name="Shape 19"/>
          <p:cNvSpPr/>
          <p:nvPr/>
        </p:nvSpPr>
        <p:spPr>
          <a:xfrm>
            <a:off x="5989320" y="1115568"/>
            <a:ext cx="1170432" cy="384048"/>
          </a:xfrm>
          <a:prstGeom prst="rect">
            <a:avLst/>
          </a:prstGeom>
          <a:solidFill>
            <a:srgbClr val="A100FF"/>
          </a:solidFill>
          <a:ln w="12700">
            <a:solidFill>
              <a:srgbClr val="333333"/>
            </a:solidFill>
            <a:prstDash val="solid"/>
          </a:ln>
        </p:spPr>
      </p:sp>
      <p:sp>
        <p:nvSpPr>
          <p:cNvPr id="23" name="Text 20"/>
          <p:cNvSpPr/>
          <p:nvPr/>
        </p:nvSpPr>
        <p:spPr>
          <a:xfrm>
            <a:off x="5989320" y="1115568"/>
            <a:ext cx="1170432"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+16</a:t>
            </a:r>
            <a:endParaRPr lang="en-US" sz="1200" dirty="0"/>
          </a:p>
        </p:txBody>
      </p:sp>
      <p:sp>
        <p:nvSpPr>
          <p:cNvPr id="24" name="Shape 21"/>
          <p:cNvSpPr/>
          <p:nvPr/>
        </p:nvSpPr>
        <p:spPr>
          <a:xfrm>
            <a:off x="7200900" y="1115568"/>
            <a:ext cx="512064" cy="384048"/>
          </a:xfrm>
          <a:prstGeom prst="rect">
            <a:avLst/>
          </a:prstGeom>
          <a:solidFill>
            <a:srgbClr val="C98CFF"/>
          </a:solidFill>
          <a:ln w="12700">
            <a:solidFill>
              <a:srgbClr val="333333"/>
            </a:solidFill>
            <a:prstDash val="solid"/>
          </a:ln>
        </p:spPr>
      </p:sp>
      <p:sp>
        <p:nvSpPr>
          <p:cNvPr id="25" name="Text 22"/>
          <p:cNvSpPr/>
          <p:nvPr/>
        </p:nvSpPr>
        <p:spPr>
          <a:xfrm>
            <a:off x="7200900" y="1115568"/>
            <a:ext cx="512064" cy="384048"/>
          </a:xfrm>
          <a:prstGeom prst="rect">
            <a:avLst/>
          </a:prstGeom>
          <a:noFill/>
          <a:ln/>
        </p:spPr>
        <p:txBody>
          <a:bodyPr wrap="square" lIns="0" tIns="0" rIns="0" bIns="0" rtlCol="0" anchor="ctr"/>
          <a:lstStyle/>
          <a:p>
            <a:pPr algn="ctr" indent="0" marL="0">
              <a:buNone/>
            </a:pPr>
            <a:r>
              <a:rPr lang="en-US" sz="1200" b="1" dirty="0">
                <a:solidFill>
                  <a:srgbClr val="2A0A45"/>
                </a:solidFill>
                <a:latin typeface="Calibri" pitchFamily="34" charset="0"/>
                <a:ea typeface="Calibri" pitchFamily="34" charset="-122"/>
                <a:cs typeface="Calibri" pitchFamily="34" charset="-120"/>
              </a:rPr>
              <a:t>+7</a:t>
            </a:r>
            <a:endParaRPr lang="en-US" sz="1200" dirty="0"/>
          </a:p>
        </p:txBody>
      </p:sp>
      <p:sp>
        <p:nvSpPr>
          <p:cNvPr id="26" name="Shape 23"/>
          <p:cNvSpPr/>
          <p:nvPr/>
        </p:nvSpPr>
        <p:spPr>
          <a:xfrm>
            <a:off x="7754112" y="1115568"/>
            <a:ext cx="1463040" cy="384048"/>
          </a:xfrm>
          <a:prstGeom prst="rect">
            <a:avLst/>
          </a:prstGeom>
          <a:solidFill>
            <a:srgbClr val="2A0A45"/>
          </a:solidFill>
          <a:ln w="12700">
            <a:solidFill>
              <a:srgbClr val="333333"/>
            </a:solidFill>
            <a:prstDash val="solid"/>
          </a:ln>
        </p:spPr>
      </p:sp>
      <p:sp>
        <p:nvSpPr>
          <p:cNvPr id="27" name="Text 24"/>
          <p:cNvSpPr/>
          <p:nvPr/>
        </p:nvSpPr>
        <p:spPr>
          <a:xfrm>
            <a:off x="7754112" y="1115568"/>
            <a:ext cx="146304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75% by Q2</a:t>
            </a:r>
            <a:endParaRPr lang="en-US" sz="1200" dirty="0"/>
          </a:p>
        </p:txBody>
      </p:sp>
      <p:sp>
        <p:nvSpPr>
          <p:cNvPr id="28" name="Text 25"/>
          <p:cNvSpPr/>
          <p:nvPr/>
        </p:nvSpPr>
        <p:spPr>
          <a:xfrm>
            <a:off x="4709160" y="905256"/>
            <a:ext cx="1463040" cy="201168"/>
          </a:xfrm>
          <a:prstGeom prst="rect">
            <a:avLst/>
          </a:prstGeom>
          <a:noFill/>
          <a:ln/>
        </p:spPr>
        <p:txBody>
          <a:bodyPr wrap="square" lIns="0" tIns="0" rIns="0" bIns="0" rtlCol="0" anchor="ctr"/>
          <a:lstStyle/>
          <a:p>
            <a:pPr algn="ctr" indent="0" marL="0">
              <a:buNone/>
            </a:pPr>
            <a:r>
              <a:rPr lang="en-US" sz="1200" b="1" dirty="0">
                <a:solidFill>
                  <a:srgbClr val="6A00B8"/>
                </a:solidFill>
                <a:latin typeface="Calibri" pitchFamily="34" charset="0"/>
                <a:ea typeface="Calibri" pitchFamily="34" charset="-122"/>
                <a:cs typeface="Calibri" pitchFamily="34" charset="-120"/>
              </a:rPr>
              <a:t>Exact mobile match</a:t>
            </a:r>
            <a:endParaRPr lang="en-US" sz="1200" dirty="0"/>
          </a:p>
        </p:txBody>
      </p:sp>
      <p:sp>
        <p:nvSpPr>
          <p:cNvPr id="29" name="Text 26"/>
          <p:cNvSpPr/>
          <p:nvPr/>
        </p:nvSpPr>
        <p:spPr>
          <a:xfrm>
            <a:off x="5888736" y="1554480"/>
            <a:ext cx="1371600" cy="201168"/>
          </a:xfrm>
          <a:prstGeom prst="rect">
            <a:avLst/>
          </a:prstGeom>
          <a:noFill/>
          <a:ln/>
        </p:spPr>
        <p:txBody>
          <a:bodyPr wrap="square" lIns="0" tIns="0" rIns="0" bIns="0" rtlCol="0" anchor="ctr"/>
          <a:lstStyle/>
          <a:p>
            <a:pPr algn="ctr" indent="0" marL="0">
              <a:buNone/>
            </a:pPr>
            <a:r>
              <a:rPr lang="en-US" sz="1200" b="1" dirty="0">
                <a:solidFill>
                  <a:srgbClr val="A100FF"/>
                </a:solidFill>
                <a:latin typeface="Calibri" pitchFamily="34" charset="0"/>
                <a:ea typeface="Calibri" pitchFamily="34" charset="-122"/>
                <a:cs typeface="Calibri" pitchFamily="34" charset="-120"/>
              </a:rPr>
              <a:t>VIN ↔ workshop</a:t>
            </a:r>
            <a:endParaRPr lang="en-US" sz="1200" dirty="0"/>
          </a:p>
        </p:txBody>
      </p:sp>
      <p:sp>
        <p:nvSpPr>
          <p:cNvPr id="30" name="Text 27"/>
          <p:cNvSpPr/>
          <p:nvPr/>
        </p:nvSpPr>
        <p:spPr>
          <a:xfrm>
            <a:off x="6821424" y="905256"/>
            <a:ext cx="1280160" cy="201168"/>
          </a:xfrm>
          <a:prstGeom prst="rect">
            <a:avLst/>
          </a:prstGeom>
          <a:noFill/>
          <a:ln/>
        </p:spPr>
        <p:txBody>
          <a:bodyPr wrap="square" lIns="0" tIns="0" rIns="0" bIns="0" rtlCol="0" anchor="ctr"/>
          <a:lstStyle/>
          <a:p>
            <a:pPr algn="ctr" indent="0" marL="0">
              <a:buNone/>
            </a:pPr>
            <a:r>
              <a:rPr lang="en-US" sz="1200" dirty="0">
                <a:solidFill>
                  <a:srgbClr val="6E6875"/>
                </a:solidFill>
                <a:latin typeface="Calibri" pitchFamily="34" charset="0"/>
                <a:ea typeface="Calibri" pitchFamily="34" charset="-122"/>
                <a:cs typeface="Calibri" pitchFamily="34" charset="-120"/>
              </a:rPr>
              <a:t>Name+PIN rule</a:t>
            </a:r>
            <a:endParaRPr lang="en-US" sz="1200" dirty="0"/>
          </a:p>
        </p:txBody>
      </p:sp>
      <p:sp>
        <p:nvSpPr>
          <p:cNvPr id="31" name="Text 28"/>
          <p:cNvSpPr/>
          <p:nvPr/>
        </p:nvSpPr>
        <p:spPr>
          <a:xfrm>
            <a:off x="9418320" y="1188720"/>
            <a:ext cx="2651760" cy="384048"/>
          </a:xfrm>
          <a:prstGeom prst="rect">
            <a:avLst/>
          </a:prstGeom>
          <a:noFill/>
          <a:ln/>
        </p:spPr>
        <p:txBody>
          <a:bodyPr wrap="square" lIns="0" tIns="0" rIns="0" bIns="0" rtlCol="0" anchor="ctr"/>
          <a:lstStyle/>
          <a:p>
            <a:pPr indent="0" marL="0">
              <a:buNone/>
            </a:pPr>
            <a:r>
              <a:rPr lang="en-US" sz="1200" dirty="0">
                <a:solidFill>
                  <a:srgbClr val="3A3838"/>
                </a:solidFill>
                <a:latin typeface="Calibri" pitchFamily="34" charset="0"/>
                <a:ea typeface="Calibri" pitchFamily="34" charset="-122"/>
                <a:cs typeface="Calibri" pitchFamily="34" charset="-120"/>
              </a:rPr>
              <a:t>Remaining 25% → outlet review queue</a:t>
            </a:r>
            <a:endParaRPr lang="en-US" sz="1200" dirty="0"/>
          </a:p>
        </p:txBody>
      </p:sp>
      <p:sp>
        <p:nvSpPr>
          <p:cNvPr id="32" name="Shape 29"/>
          <p:cNvSpPr/>
          <p:nvPr/>
        </p:nvSpPr>
        <p:spPr>
          <a:xfrm>
            <a:off x="4123944" y="1874520"/>
            <a:ext cx="13716" cy="4526280"/>
          </a:xfrm>
          <a:prstGeom prst="rect">
            <a:avLst/>
          </a:prstGeom>
          <a:solidFill>
            <a:srgbClr val="DCD4E8"/>
          </a:solidFill>
          <a:ln w="12700">
            <a:solidFill>
              <a:srgbClr val="333333"/>
            </a:solidFill>
            <a:prstDash val="solid"/>
          </a:ln>
        </p:spPr>
      </p:sp>
      <p:sp>
        <p:nvSpPr>
          <p:cNvPr id="33" name="Shape 30"/>
          <p:cNvSpPr/>
          <p:nvPr/>
        </p:nvSpPr>
        <p:spPr>
          <a:xfrm>
            <a:off x="8174736" y="1874520"/>
            <a:ext cx="13716" cy="4526280"/>
          </a:xfrm>
          <a:prstGeom prst="rect">
            <a:avLst/>
          </a:prstGeom>
          <a:solidFill>
            <a:srgbClr val="DCD4E8"/>
          </a:solidFill>
          <a:ln w="12700">
            <a:solidFill>
              <a:srgbClr val="333333"/>
            </a:solidFill>
            <a:prstDash val="solid"/>
          </a:ln>
        </p:spPr>
      </p:sp>
      <p:sp>
        <p:nvSpPr>
          <p:cNvPr id="34" name="Shape 31"/>
          <p:cNvSpPr/>
          <p:nvPr/>
        </p:nvSpPr>
        <p:spPr>
          <a:xfrm>
            <a:off x="137160" y="1920240"/>
            <a:ext cx="292608" cy="292608"/>
          </a:xfrm>
          <a:prstGeom prst="ellipse">
            <a:avLst/>
          </a:prstGeom>
          <a:solidFill>
            <a:srgbClr val="A100FF"/>
          </a:solidFill>
          <a:ln w="12700">
            <a:solidFill>
              <a:srgbClr val="333333"/>
            </a:solidFill>
            <a:prstDash val="solid"/>
          </a:ln>
        </p:spPr>
      </p:sp>
      <p:sp>
        <p:nvSpPr>
          <p:cNvPr id="35" name="Text 32"/>
          <p:cNvSpPr/>
          <p:nvPr/>
        </p:nvSpPr>
        <p:spPr>
          <a:xfrm>
            <a:off x="137160" y="1920240"/>
            <a:ext cx="292608" cy="29260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36" name="Text 33"/>
          <p:cNvSpPr/>
          <p:nvPr/>
        </p:nvSpPr>
        <p:spPr>
          <a:xfrm>
            <a:off x="521208" y="1929384"/>
            <a:ext cx="3474720" cy="292608"/>
          </a:xfrm>
          <a:prstGeom prst="rect">
            <a:avLst/>
          </a:prstGeom>
          <a:noFill/>
          <a:ln/>
        </p:spPr>
        <p:txBody>
          <a:bodyPr wrap="square" lIns="0" tIns="0" rIns="0" bIns="0" rtlCol="0" anchor="ctr"/>
          <a:lstStyle/>
          <a:p>
            <a:pPr indent="0" marL="0">
              <a:buNone/>
            </a:pPr>
            <a:r>
              <a:rPr lang="en-US" sz="1350" b="1" dirty="0">
                <a:solidFill>
                  <a:srgbClr val="2A0A45"/>
                </a:solidFill>
                <a:latin typeface="Calibri" pitchFamily="34" charset="0"/>
                <a:ea typeface="Calibri" pitchFamily="34" charset="-122"/>
                <a:cs typeface="Calibri" pitchFamily="34" charset="-120"/>
              </a:rPr>
              <a:t>The match engine — how it runs</a:t>
            </a:r>
            <a:endParaRPr lang="en-US" sz="135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137160" y="2304288"/>
          <a:ext cx="3904488" cy="914400"/>
        </p:xfrm>
        <a:graphic>
          <a:graphicData uri="http://schemas.openxmlformats.org/drawingml/2006/table">
            <a:tbl>
              <a:tblPr/>
              <a:tblGrid>
                <a:gridCol w="1627632"/>
                <a:gridCol w="1481328"/>
                <a:gridCol w="795528"/>
              </a:tblGrid>
              <a:tr h="228600">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Rule</a:t>
                      </a:r>
                      <a:endParaRPr lang="en-US" sz="1200" dirty="0">
                        <a:latin typeface="Calibri" charset="0"/>
                        <a:ea typeface="Calibri" charset="0"/>
                        <a:cs typeface="Calibri" charset="0"/>
                      </a:endParaRPr>
                    </a:p>
                  </a:txBody>
                  <a:tcPr marL="36576" marR="36576" marT="36576" marB="36576" anchor="ctr">
                    <a:lnL w="9525" cap="flat" cmpd="sng" algn="ctr">
                      <a:solidFill>
                        <a:srgbClr val="DCD4E8"/>
                      </a:solidFill>
                      <a:prstDash val="solid"/>
                      <a:round/>
                      <a:headEnd type="none" w="med" len="med"/>
                      <a:tailEnd type="none" w="med" len="med"/>
                    </a:lnL>
                    <a:lnR w="9525" cap="flat" cmpd="sng" algn="ctr">
                      <a:solidFill>
                        <a:srgbClr val="DCD4E8"/>
                      </a:solidFill>
                      <a:prstDash val="solid"/>
                      <a:round/>
                      <a:headEnd type="none" w="med" len="med"/>
                      <a:tailEnd type="none" w="med" len="med"/>
                    </a:lnR>
                    <a:lnT w="9525" cap="flat" cmpd="sng" algn="ctr">
                      <a:solidFill>
                        <a:srgbClr val="DCD4E8"/>
                      </a:solidFill>
                      <a:prstDash val="solid"/>
                      <a:round/>
                      <a:headEnd type="none" w="med" len="med"/>
                      <a:tailEnd type="none" w="med" len="med"/>
                    </a:lnT>
                    <a:lnB w="9525" cap="flat" cmpd="sng" algn="ctr">
                      <a:solidFill>
                        <a:srgbClr val="DCD4E8"/>
                      </a:solidFill>
                      <a:prstDash val="solid"/>
                      <a:round/>
                      <a:headEnd type="none" w="med" len="med"/>
                      <a:tailEnd type="none" w="med" len="med"/>
                    </a:lnB>
                    <a:solidFill>
                      <a:srgbClr val="2A0A45"/>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Source</a:t>
                      </a:r>
                      <a:endParaRPr lang="en-US" sz="1200" dirty="0">
                        <a:latin typeface="Calibri" charset="0"/>
                        <a:ea typeface="Calibri" charset="0"/>
                        <a:cs typeface="Calibri" charset="0"/>
                      </a:endParaRPr>
                    </a:p>
                  </a:txBody>
                  <a:tcPr marL="36576" marR="36576" marT="36576" marB="36576" anchor="ctr">
                    <a:lnL w="9525" cap="flat" cmpd="sng" algn="ctr">
                      <a:solidFill>
                        <a:srgbClr val="DCD4E8"/>
                      </a:solidFill>
                      <a:prstDash val="solid"/>
                      <a:round/>
                      <a:headEnd type="none" w="med" len="med"/>
                      <a:tailEnd type="none" w="med" len="med"/>
                    </a:lnL>
                    <a:lnR w="9525" cap="flat" cmpd="sng" algn="ctr">
                      <a:solidFill>
                        <a:srgbClr val="DCD4E8"/>
                      </a:solidFill>
                      <a:prstDash val="solid"/>
                      <a:round/>
                      <a:headEnd type="none" w="med" len="med"/>
                      <a:tailEnd type="none" w="med" len="med"/>
                    </a:lnR>
                    <a:lnT w="9525" cap="flat" cmpd="sng" algn="ctr">
                      <a:solidFill>
                        <a:srgbClr val="DCD4E8"/>
                      </a:solidFill>
                      <a:prstDash val="solid"/>
                      <a:round/>
                      <a:headEnd type="none" w="med" len="med"/>
                      <a:tailEnd type="none" w="med" len="med"/>
                    </a:lnT>
                    <a:lnB w="9525" cap="flat" cmpd="sng" algn="ctr">
                      <a:solidFill>
                        <a:srgbClr val="DCD4E8"/>
                      </a:solidFill>
                      <a:prstDash val="solid"/>
                      <a:round/>
                      <a:headEnd type="none" w="med" len="med"/>
                      <a:tailEnd type="none" w="med" len="med"/>
                    </a:lnB>
                    <a:solidFill>
                      <a:srgbClr val="2A0A45"/>
                    </a:solidFill>
                  </a:tcPr>
                </a:tc>
                <a:tc>
                  <a:txBody>
                    <a:bodyPr/>
                    <a:lstStyle/>
                    <a:p>
                      <a:pPr algn="r" indent="0" marL="0">
                        <a:buNone/>
                      </a:pPr>
                      <a:r>
                        <a:rPr lang="en-US" sz="1200" b="1" dirty="0">
                          <a:solidFill>
                            <a:srgbClr val="FFFFFF"/>
                          </a:solidFill>
                          <a:latin typeface="Calibri" pitchFamily="34" charset="0"/>
                          <a:ea typeface="Calibri" pitchFamily="34" charset="-122"/>
                          <a:cs typeface="Calibri" pitchFamily="34" charset="-120"/>
                        </a:rPr>
                        <a:t>Adds</a:t>
                      </a:r>
                      <a:endParaRPr lang="en-US" sz="1200" dirty="0">
                        <a:latin typeface="Calibri" charset="0"/>
                        <a:ea typeface="Calibri" charset="0"/>
                        <a:cs typeface="Calibri" charset="0"/>
                      </a:endParaRPr>
                    </a:p>
                  </a:txBody>
                  <a:tcPr marL="36576" marR="36576" marT="36576" marB="36576" anchor="ctr">
                    <a:lnL w="9525" cap="flat" cmpd="sng" algn="ctr">
                      <a:solidFill>
                        <a:srgbClr val="DCD4E8"/>
                      </a:solidFill>
                      <a:prstDash val="solid"/>
                      <a:round/>
                      <a:headEnd type="none" w="med" len="med"/>
                      <a:tailEnd type="none" w="med" len="med"/>
                    </a:lnL>
                    <a:lnR w="9525" cap="flat" cmpd="sng" algn="ctr">
                      <a:solidFill>
                        <a:srgbClr val="DCD4E8"/>
                      </a:solidFill>
                      <a:prstDash val="solid"/>
                      <a:round/>
                      <a:headEnd type="none" w="med" len="med"/>
                      <a:tailEnd type="none" w="med" len="med"/>
                    </a:lnR>
                    <a:lnT w="9525" cap="flat" cmpd="sng" algn="ctr">
                      <a:solidFill>
                        <a:srgbClr val="DCD4E8"/>
                      </a:solidFill>
                      <a:prstDash val="solid"/>
                      <a:round/>
                      <a:headEnd type="none" w="med" len="med"/>
                      <a:tailEnd type="none" w="med" len="med"/>
                    </a:lnT>
                    <a:lnB w="9525" cap="flat" cmpd="sng" algn="ctr">
                      <a:solidFill>
                        <a:srgbClr val="DCD4E8"/>
                      </a:solidFill>
                      <a:prstDash val="solid"/>
                      <a:round/>
                      <a:headEnd type="none" w="med" len="med"/>
                      <a:tailEnd type="none" w="med" len="med"/>
                    </a:lnB>
                    <a:solidFill>
                      <a:srgbClr val="2A0A45"/>
                    </a:solidFill>
                  </a:tcPr>
                </a:tc>
              </a:tr>
              <a:tr h="228600">
                <a:tc>
                  <a:txBody>
                    <a:bodyPr/>
                    <a:lstStyle/>
                    <a:p>
                      <a:pPr algn="l" indent="0" marL="0">
                        <a:buNone/>
                      </a:pPr>
                      <a:r>
                        <a:rPr lang="en-US" sz="1200" dirty="0">
                          <a:solidFill>
                            <a:srgbClr val="3A3838"/>
                          </a:solidFill>
                          <a:latin typeface="Calibri" pitchFamily="34" charset="0"/>
                          <a:ea typeface="Calibri" pitchFamily="34" charset="-122"/>
                          <a:cs typeface="Calibri" pitchFamily="34" charset="-120"/>
                        </a:rPr>
                        <a:t>1 · Exact mobile (10-digit)</a:t>
                      </a:r>
                      <a:endParaRPr lang="en-US" sz="1200" dirty="0">
                        <a:latin typeface="Calibri" charset="0"/>
                        <a:ea typeface="Calibri" charset="0"/>
                        <a:cs typeface="Calibri" charset="0"/>
                      </a:endParaRPr>
                    </a:p>
                  </a:txBody>
                  <a:tcPr marL="36576" marR="36576" marT="36576" marB="36576" anchor="ctr">
                    <a:lnL w="9525" cap="flat" cmpd="sng" algn="ctr">
                      <a:solidFill>
                        <a:srgbClr val="DCD4E8"/>
                      </a:solidFill>
                      <a:prstDash val="solid"/>
                      <a:round/>
                      <a:headEnd type="none" w="med" len="med"/>
                      <a:tailEnd type="none" w="med" len="med"/>
                    </a:lnL>
                    <a:lnR w="9525" cap="flat" cmpd="sng" algn="ctr">
                      <a:solidFill>
                        <a:srgbClr val="DCD4E8"/>
                      </a:solidFill>
                      <a:prstDash val="solid"/>
                      <a:round/>
                      <a:headEnd type="none" w="med" len="med"/>
                      <a:tailEnd type="none" w="med" len="med"/>
                    </a:lnR>
                    <a:lnT w="9525" cap="flat" cmpd="sng" algn="ctr">
                      <a:solidFill>
                        <a:srgbClr val="DCD4E8"/>
                      </a:solidFill>
                      <a:prstDash val="solid"/>
                      <a:round/>
                      <a:headEnd type="none" w="med" len="med"/>
                      <a:tailEnd type="none" w="med" len="med"/>
                    </a:lnT>
                    <a:lnB w="9525" cap="flat" cmpd="sng" algn="ctr">
                      <a:solidFill>
                        <a:srgbClr val="DCD4E8"/>
                      </a:solidFill>
                      <a:prstDash val="solid"/>
                      <a:round/>
                      <a:headEnd type="none" w="med" len="med"/>
                      <a:tailEnd type="none" w="med" len="med"/>
                    </a:lnB>
                    <a:solidFill>
                      <a:srgbClr val="FBF8FE"/>
                    </a:solidFill>
                  </a:tcPr>
                </a:tc>
                <a:tc>
                  <a:txBody>
                    <a:bodyPr/>
                    <a:lstStyle/>
                    <a:p>
                      <a:pPr algn="l" indent="0" marL="0">
                        <a:buNone/>
                      </a:pPr>
                      <a:r>
                        <a:rPr lang="en-US" sz="1200" dirty="0">
                          <a:solidFill>
                            <a:srgbClr val="3A3838"/>
                          </a:solidFill>
                          <a:latin typeface="Calibri" pitchFamily="34" charset="0"/>
                          <a:ea typeface="Calibri" pitchFamily="34" charset="-122"/>
                          <a:cs typeface="Calibri" pitchFamily="34" charset="-120"/>
                        </a:rPr>
                        <a:t>CRM + dealer DMS</a:t>
                      </a:r>
                      <a:endParaRPr lang="en-US" sz="1200" dirty="0">
                        <a:latin typeface="Calibri" charset="0"/>
                        <a:ea typeface="Calibri" charset="0"/>
                        <a:cs typeface="Calibri" charset="0"/>
                      </a:endParaRPr>
                    </a:p>
                  </a:txBody>
                  <a:tcPr marL="36576" marR="36576" marT="36576" marB="36576" anchor="ctr">
                    <a:lnL w="9525" cap="flat" cmpd="sng" algn="ctr">
                      <a:solidFill>
                        <a:srgbClr val="DCD4E8"/>
                      </a:solidFill>
                      <a:prstDash val="solid"/>
                      <a:round/>
                      <a:headEnd type="none" w="med" len="med"/>
                      <a:tailEnd type="none" w="med" len="med"/>
                    </a:lnL>
                    <a:lnR w="9525" cap="flat" cmpd="sng" algn="ctr">
                      <a:solidFill>
                        <a:srgbClr val="DCD4E8"/>
                      </a:solidFill>
                      <a:prstDash val="solid"/>
                      <a:round/>
                      <a:headEnd type="none" w="med" len="med"/>
                      <a:tailEnd type="none" w="med" len="med"/>
                    </a:lnR>
                    <a:lnT w="9525" cap="flat" cmpd="sng" algn="ctr">
                      <a:solidFill>
                        <a:srgbClr val="DCD4E8"/>
                      </a:solidFill>
                      <a:prstDash val="solid"/>
                      <a:round/>
                      <a:headEnd type="none" w="med" len="med"/>
                      <a:tailEnd type="none" w="med" len="med"/>
                    </a:lnT>
                    <a:lnB w="9525" cap="flat" cmpd="sng" algn="ctr">
                      <a:solidFill>
                        <a:srgbClr val="DCD4E8"/>
                      </a:solidFill>
                      <a:prstDash val="solid"/>
                      <a:round/>
                      <a:headEnd type="none" w="med" len="med"/>
                      <a:tailEnd type="none" w="med" len="med"/>
                    </a:lnB>
                    <a:solidFill>
                      <a:srgbClr val="FBF8FE"/>
                    </a:solidFill>
                  </a:tcPr>
                </a:tc>
                <a:tc>
                  <a:txBody>
                    <a:bodyPr/>
                    <a:lstStyle/>
                    <a:p>
                      <a:pPr algn="r" indent="0" marL="0">
                        <a:buNone/>
                      </a:pPr>
                      <a:r>
                        <a:rPr lang="en-US" sz="1200" dirty="0">
                          <a:solidFill>
                            <a:srgbClr val="3A3838"/>
                          </a:solidFill>
                          <a:latin typeface="Calibri" pitchFamily="34" charset="0"/>
                          <a:ea typeface="Calibri" pitchFamily="34" charset="-122"/>
                          <a:cs typeface="Calibri" pitchFamily="34" charset="-120"/>
                        </a:rPr>
                        <a:t>+14pp</a:t>
                      </a:r>
                      <a:endParaRPr lang="en-US" sz="1200" dirty="0">
                        <a:latin typeface="Calibri" charset="0"/>
                        <a:ea typeface="Calibri" charset="0"/>
                        <a:cs typeface="Calibri" charset="0"/>
                      </a:endParaRPr>
                    </a:p>
                  </a:txBody>
                  <a:tcPr marL="36576" marR="36576" marT="36576" marB="36576" anchor="ctr">
                    <a:lnL w="9525" cap="flat" cmpd="sng" algn="ctr">
                      <a:solidFill>
                        <a:srgbClr val="DCD4E8"/>
                      </a:solidFill>
                      <a:prstDash val="solid"/>
                      <a:round/>
                      <a:headEnd type="none" w="med" len="med"/>
                      <a:tailEnd type="none" w="med" len="med"/>
                    </a:lnL>
                    <a:lnR w="9525" cap="flat" cmpd="sng" algn="ctr">
                      <a:solidFill>
                        <a:srgbClr val="DCD4E8"/>
                      </a:solidFill>
                      <a:prstDash val="solid"/>
                      <a:round/>
                      <a:headEnd type="none" w="med" len="med"/>
                      <a:tailEnd type="none" w="med" len="med"/>
                    </a:lnR>
                    <a:lnT w="9525" cap="flat" cmpd="sng" algn="ctr">
                      <a:solidFill>
                        <a:srgbClr val="DCD4E8"/>
                      </a:solidFill>
                      <a:prstDash val="solid"/>
                      <a:round/>
                      <a:headEnd type="none" w="med" len="med"/>
                      <a:tailEnd type="none" w="med" len="med"/>
                    </a:lnT>
                    <a:lnB w="9525" cap="flat" cmpd="sng" algn="ctr">
                      <a:solidFill>
                        <a:srgbClr val="DCD4E8"/>
                      </a:solidFill>
                      <a:prstDash val="solid"/>
                      <a:round/>
                      <a:headEnd type="none" w="med" len="med"/>
                      <a:tailEnd type="none" w="med" len="med"/>
                    </a:lnB>
                    <a:solidFill>
                      <a:srgbClr val="FBF8FE"/>
                    </a:solidFill>
                  </a:tcPr>
                </a:tc>
              </a:tr>
              <a:tr h="228600">
                <a:tc>
                  <a:txBody>
                    <a:bodyPr/>
                    <a:lstStyle/>
                    <a:p>
                      <a:pPr algn="l" indent="0" marL="0">
                        <a:buNone/>
                      </a:pPr>
                      <a:r>
                        <a:rPr lang="en-US" sz="1200" dirty="0">
                          <a:solidFill>
                            <a:srgbClr val="3A3838"/>
                          </a:solidFill>
                          <a:latin typeface="Calibri" pitchFamily="34" charset="0"/>
                          <a:ea typeface="Calibri" pitchFamily="34" charset="-122"/>
                          <a:cs typeface="Calibri" pitchFamily="34" charset="-120"/>
                        </a:rPr>
                        <a:t>2 · VIN → owner record</a:t>
                      </a:r>
                      <a:endParaRPr lang="en-US" sz="1200" dirty="0">
                        <a:latin typeface="Calibri" charset="0"/>
                        <a:ea typeface="Calibri" charset="0"/>
                        <a:cs typeface="Calibri" charset="0"/>
                      </a:endParaRPr>
                    </a:p>
                  </a:txBody>
                  <a:tcPr marL="36576" marR="36576" marT="36576" marB="36576" anchor="ctr">
                    <a:lnL w="9525" cap="flat" cmpd="sng" algn="ctr">
                      <a:solidFill>
                        <a:srgbClr val="DCD4E8"/>
                      </a:solidFill>
                      <a:prstDash val="solid"/>
                      <a:round/>
                      <a:headEnd type="none" w="med" len="med"/>
                      <a:tailEnd type="none" w="med" len="med"/>
                    </a:lnL>
                    <a:lnR w="9525" cap="flat" cmpd="sng" algn="ctr">
                      <a:solidFill>
                        <a:srgbClr val="DCD4E8"/>
                      </a:solidFill>
                      <a:prstDash val="solid"/>
                      <a:round/>
                      <a:headEnd type="none" w="med" len="med"/>
                      <a:tailEnd type="none" w="med" len="med"/>
                    </a:lnR>
                    <a:lnT w="9525" cap="flat" cmpd="sng" algn="ctr">
                      <a:solidFill>
                        <a:srgbClr val="DCD4E8"/>
                      </a:solidFill>
                      <a:prstDash val="solid"/>
                      <a:round/>
                      <a:headEnd type="none" w="med" len="med"/>
                      <a:tailEnd type="none" w="med" len="med"/>
                    </a:lnT>
                    <a:lnB w="9525" cap="flat" cmpd="sng" algn="ctr">
                      <a:solidFill>
                        <a:srgbClr val="DCD4E8"/>
                      </a:solidFill>
                      <a:prstDash val="solid"/>
                      <a:round/>
                      <a:headEnd type="none" w="med" len="med"/>
                      <a:tailEnd type="none" w="med" len="med"/>
                    </a:lnB>
                    <a:solidFill>
                      <a:srgbClr val="FFFFFF"/>
                    </a:solidFill>
                  </a:tcPr>
                </a:tc>
                <a:tc>
                  <a:txBody>
                    <a:bodyPr/>
                    <a:lstStyle/>
                    <a:p>
                      <a:pPr algn="l" indent="0" marL="0">
                        <a:buNone/>
                      </a:pPr>
                      <a:r>
                        <a:rPr lang="en-US" sz="1200" dirty="0">
                          <a:solidFill>
                            <a:srgbClr val="3A3838"/>
                          </a:solidFill>
                          <a:latin typeface="Calibri" pitchFamily="34" charset="0"/>
                          <a:ea typeface="Calibri" pitchFamily="34" charset="-122"/>
                          <a:cs typeface="Calibri" pitchFamily="34" charset="-120"/>
                        </a:rPr>
                        <a:t>Workshop job cards</a:t>
                      </a:r>
                      <a:endParaRPr lang="en-US" sz="1200" dirty="0">
                        <a:latin typeface="Calibri" charset="0"/>
                        <a:ea typeface="Calibri" charset="0"/>
                        <a:cs typeface="Calibri" charset="0"/>
                      </a:endParaRPr>
                    </a:p>
                  </a:txBody>
                  <a:tcPr marL="36576" marR="36576" marT="36576" marB="36576" anchor="ctr">
                    <a:lnL w="9525" cap="flat" cmpd="sng" algn="ctr">
                      <a:solidFill>
                        <a:srgbClr val="DCD4E8"/>
                      </a:solidFill>
                      <a:prstDash val="solid"/>
                      <a:round/>
                      <a:headEnd type="none" w="med" len="med"/>
                      <a:tailEnd type="none" w="med" len="med"/>
                    </a:lnL>
                    <a:lnR w="9525" cap="flat" cmpd="sng" algn="ctr">
                      <a:solidFill>
                        <a:srgbClr val="DCD4E8"/>
                      </a:solidFill>
                      <a:prstDash val="solid"/>
                      <a:round/>
                      <a:headEnd type="none" w="med" len="med"/>
                      <a:tailEnd type="none" w="med" len="med"/>
                    </a:lnR>
                    <a:lnT w="9525" cap="flat" cmpd="sng" algn="ctr">
                      <a:solidFill>
                        <a:srgbClr val="DCD4E8"/>
                      </a:solidFill>
                      <a:prstDash val="solid"/>
                      <a:round/>
                      <a:headEnd type="none" w="med" len="med"/>
                      <a:tailEnd type="none" w="med" len="med"/>
                    </a:lnT>
                    <a:lnB w="9525" cap="flat" cmpd="sng" algn="ctr">
                      <a:solidFill>
                        <a:srgbClr val="DCD4E8"/>
                      </a:solidFill>
                      <a:prstDash val="solid"/>
                      <a:round/>
                      <a:headEnd type="none" w="med" len="med"/>
                      <a:tailEnd type="none" w="med" len="med"/>
                    </a:lnB>
                    <a:solidFill>
                      <a:srgbClr val="FFFFFF"/>
                    </a:solidFill>
                  </a:tcPr>
                </a:tc>
                <a:tc>
                  <a:txBody>
                    <a:bodyPr/>
                    <a:lstStyle/>
                    <a:p>
                      <a:pPr algn="r" indent="0" marL="0">
                        <a:buNone/>
                      </a:pPr>
                      <a:r>
                        <a:rPr lang="en-US" sz="1200" dirty="0">
                          <a:solidFill>
                            <a:srgbClr val="3A3838"/>
                          </a:solidFill>
                          <a:latin typeface="Calibri" pitchFamily="34" charset="0"/>
                          <a:ea typeface="Calibri" pitchFamily="34" charset="-122"/>
                          <a:cs typeface="Calibri" pitchFamily="34" charset="-120"/>
                        </a:rPr>
                        <a:t>+16pp</a:t>
                      </a:r>
                      <a:endParaRPr lang="en-US" sz="1200" dirty="0">
                        <a:latin typeface="Calibri" charset="0"/>
                        <a:ea typeface="Calibri" charset="0"/>
                        <a:cs typeface="Calibri" charset="0"/>
                      </a:endParaRPr>
                    </a:p>
                  </a:txBody>
                  <a:tcPr marL="36576" marR="36576" marT="36576" marB="36576" anchor="ctr">
                    <a:lnL w="9525" cap="flat" cmpd="sng" algn="ctr">
                      <a:solidFill>
                        <a:srgbClr val="DCD4E8"/>
                      </a:solidFill>
                      <a:prstDash val="solid"/>
                      <a:round/>
                      <a:headEnd type="none" w="med" len="med"/>
                      <a:tailEnd type="none" w="med" len="med"/>
                    </a:lnL>
                    <a:lnR w="9525" cap="flat" cmpd="sng" algn="ctr">
                      <a:solidFill>
                        <a:srgbClr val="DCD4E8"/>
                      </a:solidFill>
                      <a:prstDash val="solid"/>
                      <a:round/>
                      <a:headEnd type="none" w="med" len="med"/>
                      <a:tailEnd type="none" w="med" len="med"/>
                    </a:lnR>
                    <a:lnT w="9525" cap="flat" cmpd="sng" algn="ctr">
                      <a:solidFill>
                        <a:srgbClr val="DCD4E8"/>
                      </a:solidFill>
                      <a:prstDash val="solid"/>
                      <a:round/>
                      <a:headEnd type="none" w="med" len="med"/>
                      <a:tailEnd type="none" w="med" len="med"/>
                    </a:lnT>
                    <a:lnB w="9525" cap="flat" cmpd="sng" algn="ctr">
                      <a:solidFill>
                        <a:srgbClr val="DCD4E8"/>
                      </a:solidFill>
                      <a:prstDash val="solid"/>
                      <a:round/>
                      <a:headEnd type="none" w="med" len="med"/>
                      <a:tailEnd type="none" w="med" len="med"/>
                    </a:lnB>
                    <a:solidFill>
                      <a:srgbClr val="FFFFFF"/>
                    </a:solidFill>
                  </a:tcPr>
                </a:tc>
              </a:tr>
              <a:tr h="228600">
                <a:tc>
                  <a:txBody>
                    <a:bodyPr/>
                    <a:lstStyle/>
                    <a:p>
                      <a:pPr algn="l" indent="0" marL="0">
                        <a:buNone/>
                      </a:pPr>
                      <a:r>
                        <a:rPr lang="en-US" sz="1200" dirty="0">
                          <a:solidFill>
                            <a:srgbClr val="3A3838"/>
                          </a:solidFill>
                          <a:latin typeface="Calibri" pitchFamily="34" charset="0"/>
                          <a:ea typeface="Calibri" pitchFamily="34" charset="-122"/>
                          <a:cs typeface="Calibri" pitchFamily="34" charset="-120"/>
                        </a:rPr>
                        <a:t>3 · Name + PIN + model</a:t>
                      </a:r>
                      <a:endParaRPr lang="en-US" sz="1200" dirty="0">
                        <a:latin typeface="Calibri" charset="0"/>
                        <a:ea typeface="Calibri" charset="0"/>
                        <a:cs typeface="Calibri" charset="0"/>
                      </a:endParaRPr>
                    </a:p>
                  </a:txBody>
                  <a:tcPr marL="36576" marR="36576" marT="36576" marB="36576" anchor="ctr">
                    <a:lnL w="9525" cap="flat" cmpd="sng" algn="ctr">
                      <a:solidFill>
                        <a:srgbClr val="DCD4E8"/>
                      </a:solidFill>
                      <a:prstDash val="solid"/>
                      <a:round/>
                      <a:headEnd type="none" w="med" len="med"/>
                      <a:tailEnd type="none" w="med" len="med"/>
                    </a:lnL>
                    <a:lnR w="9525" cap="flat" cmpd="sng" algn="ctr">
                      <a:solidFill>
                        <a:srgbClr val="DCD4E8"/>
                      </a:solidFill>
                      <a:prstDash val="solid"/>
                      <a:round/>
                      <a:headEnd type="none" w="med" len="med"/>
                      <a:tailEnd type="none" w="med" len="med"/>
                    </a:lnR>
                    <a:lnT w="9525" cap="flat" cmpd="sng" algn="ctr">
                      <a:solidFill>
                        <a:srgbClr val="DCD4E8"/>
                      </a:solidFill>
                      <a:prstDash val="solid"/>
                      <a:round/>
                      <a:headEnd type="none" w="med" len="med"/>
                      <a:tailEnd type="none" w="med" len="med"/>
                    </a:lnT>
                    <a:lnB w="9525" cap="flat" cmpd="sng" algn="ctr">
                      <a:solidFill>
                        <a:srgbClr val="DCD4E8"/>
                      </a:solidFill>
                      <a:prstDash val="solid"/>
                      <a:round/>
                      <a:headEnd type="none" w="med" len="med"/>
                      <a:tailEnd type="none" w="med" len="med"/>
                    </a:lnB>
                    <a:solidFill>
                      <a:srgbClr val="FBF8FE"/>
                    </a:solidFill>
                  </a:tcPr>
                </a:tc>
                <a:tc>
                  <a:txBody>
                    <a:bodyPr/>
                    <a:lstStyle/>
                    <a:p>
                      <a:pPr algn="l" indent="0" marL="0">
                        <a:buNone/>
                      </a:pPr>
                      <a:r>
                        <a:rPr lang="en-US" sz="1200" dirty="0">
                          <a:solidFill>
                            <a:srgbClr val="3A3838"/>
                          </a:solidFill>
                          <a:latin typeface="Calibri" pitchFamily="34" charset="0"/>
                          <a:ea typeface="Calibri" pitchFamily="34" charset="-122"/>
                          <a:cs typeface="Calibri" pitchFamily="34" charset="-120"/>
                        </a:rPr>
                        <a:t>Finance &amp; insurance</a:t>
                      </a:r>
                      <a:endParaRPr lang="en-US" sz="1200" dirty="0">
                        <a:latin typeface="Calibri" charset="0"/>
                        <a:ea typeface="Calibri" charset="0"/>
                        <a:cs typeface="Calibri" charset="0"/>
                      </a:endParaRPr>
                    </a:p>
                  </a:txBody>
                  <a:tcPr marL="36576" marR="36576" marT="36576" marB="36576" anchor="ctr">
                    <a:lnL w="9525" cap="flat" cmpd="sng" algn="ctr">
                      <a:solidFill>
                        <a:srgbClr val="DCD4E8"/>
                      </a:solidFill>
                      <a:prstDash val="solid"/>
                      <a:round/>
                      <a:headEnd type="none" w="med" len="med"/>
                      <a:tailEnd type="none" w="med" len="med"/>
                    </a:lnL>
                    <a:lnR w="9525" cap="flat" cmpd="sng" algn="ctr">
                      <a:solidFill>
                        <a:srgbClr val="DCD4E8"/>
                      </a:solidFill>
                      <a:prstDash val="solid"/>
                      <a:round/>
                      <a:headEnd type="none" w="med" len="med"/>
                      <a:tailEnd type="none" w="med" len="med"/>
                    </a:lnR>
                    <a:lnT w="9525" cap="flat" cmpd="sng" algn="ctr">
                      <a:solidFill>
                        <a:srgbClr val="DCD4E8"/>
                      </a:solidFill>
                      <a:prstDash val="solid"/>
                      <a:round/>
                      <a:headEnd type="none" w="med" len="med"/>
                      <a:tailEnd type="none" w="med" len="med"/>
                    </a:lnT>
                    <a:lnB w="9525" cap="flat" cmpd="sng" algn="ctr">
                      <a:solidFill>
                        <a:srgbClr val="DCD4E8"/>
                      </a:solidFill>
                      <a:prstDash val="solid"/>
                      <a:round/>
                      <a:headEnd type="none" w="med" len="med"/>
                      <a:tailEnd type="none" w="med" len="med"/>
                    </a:lnB>
                    <a:solidFill>
                      <a:srgbClr val="FBF8FE"/>
                    </a:solidFill>
                  </a:tcPr>
                </a:tc>
                <a:tc>
                  <a:txBody>
                    <a:bodyPr/>
                    <a:lstStyle/>
                    <a:p>
                      <a:pPr algn="r" indent="0" marL="0">
                        <a:buNone/>
                      </a:pPr>
                      <a:r>
                        <a:rPr lang="en-US" sz="1200" dirty="0">
                          <a:solidFill>
                            <a:srgbClr val="3A3838"/>
                          </a:solidFill>
                          <a:latin typeface="Calibri" pitchFamily="34" charset="0"/>
                          <a:ea typeface="Calibri" pitchFamily="34" charset="-122"/>
                          <a:cs typeface="Calibri" pitchFamily="34" charset="-120"/>
                        </a:rPr>
                        <a:t>+7pp</a:t>
                      </a:r>
                      <a:endParaRPr lang="en-US" sz="1200" dirty="0">
                        <a:latin typeface="Calibri" charset="0"/>
                        <a:ea typeface="Calibri" charset="0"/>
                        <a:cs typeface="Calibri" charset="0"/>
                      </a:endParaRPr>
                    </a:p>
                  </a:txBody>
                  <a:tcPr marL="36576" marR="36576" marT="36576" marB="36576" anchor="ctr">
                    <a:lnL w="9525" cap="flat" cmpd="sng" algn="ctr">
                      <a:solidFill>
                        <a:srgbClr val="DCD4E8"/>
                      </a:solidFill>
                      <a:prstDash val="solid"/>
                      <a:round/>
                      <a:headEnd type="none" w="med" len="med"/>
                      <a:tailEnd type="none" w="med" len="med"/>
                    </a:lnL>
                    <a:lnR w="9525" cap="flat" cmpd="sng" algn="ctr">
                      <a:solidFill>
                        <a:srgbClr val="DCD4E8"/>
                      </a:solidFill>
                      <a:prstDash val="solid"/>
                      <a:round/>
                      <a:headEnd type="none" w="med" len="med"/>
                      <a:tailEnd type="none" w="med" len="med"/>
                    </a:lnR>
                    <a:lnT w="9525" cap="flat" cmpd="sng" algn="ctr">
                      <a:solidFill>
                        <a:srgbClr val="DCD4E8"/>
                      </a:solidFill>
                      <a:prstDash val="solid"/>
                      <a:round/>
                      <a:headEnd type="none" w="med" len="med"/>
                      <a:tailEnd type="none" w="med" len="med"/>
                    </a:lnT>
                    <a:lnB w="9525" cap="flat" cmpd="sng" algn="ctr">
                      <a:solidFill>
                        <a:srgbClr val="DCD4E8"/>
                      </a:solidFill>
                      <a:prstDash val="solid"/>
                      <a:round/>
                      <a:headEnd type="none" w="med" len="med"/>
                      <a:tailEnd type="none" w="med" len="med"/>
                    </a:lnB>
                    <a:solidFill>
                      <a:srgbClr val="FBF8FE"/>
                    </a:solidFill>
                  </a:tcPr>
                </a:tc>
              </a:tr>
              <a:tr h="228600">
                <a:tc>
                  <a:txBody>
                    <a:bodyPr/>
                    <a:lstStyle/>
                    <a:p>
                      <a:pPr algn="l" indent="0" marL="0">
                        <a:buNone/>
                      </a:pPr>
                      <a:r>
                        <a:rPr lang="en-US" sz="1200" dirty="0">
                          <a:solidFill>
                            <a:srgbClr val="3A3838"/>
                          </a:solidFill>
                          <a:latin typeface="Calibri" pitchFamily="34" charset="0"/>
                          <a:ea typeface="Calibri" pitchFamily="34" charset="-122"/>
                          <a:cs typeface="Calibri" pitchFamily="34" charset="-120"/>
                        </a:rPr>
                        <a:t>4 · Manual review queue</a:t>
                      </a:r>
                      <a:endParaRPr lang="en-US" sz="1200" dirty="0">
                        <a:latin typeface="Calibri" charset="0"/>
                        <a:ea typeface="Calibri" charset="0"/>
                        <a:cs typeface="Calibri" charset="0"/>
                      </a:endParaRPr>
                    </a:p>
                  </a:txBody>
                  <a:tcPr marL="36576" marR="36576" marT="36576" marB="36576" anchor="ctr">
                    <a:lnL w="9525" cap="flat" cmpd="sng" algn="ctr">
                      <a:solidFill>
                        <a:srgbClr val="DCD4E8"/>
                      </a:solidFill>
                      <a:prstDash val="solid"/>
                      <a:round/>
                      <a:headEnd type="none" w="med" len="med"/>
                      <a:tailEnd type="none" w="med" len="med"/>
                    </a:lnL>
                    <a:lnR w="9525" cap="flat" cmpd="sng" algn="ctr">
                      <a:solidFill>
                        <a:srgbClr val="DCD4E8"/>
                      </a:solidFill>
                      <a:prstDash val="solid"/>
                      <a:round/>
                      <a:headEnd type="none" w="med" len="med"/>
                      <a:tailEnd type="none" w="med" len="med"/>
                    </a:lnR>
                    <a:lnT w="9525" cap="flat" cmpd="sng" algn="ctr">
                      <a:solidFill>
                        <a:srgbClr val="DCD4E8"/>
                      </a:solidFill>
                      <a:prstDash val="solid"/>
                      <a:round/>
                      <a:headEnd type="none" w="med" len="med"/>
                      <a:tailEnd type="none" w="med" len="med"/>
                    </a:lnT>
                    <a:lnB w="9525" cap="flat" cmpd="sng" algn="ctr">
                      <a:solidFill>
                        <a:srgbClr val="DCD4E8"/>
                      </a:solidFill>
                      <a:prstDash val="solid"/>
                      <a:round/>
                      <a:headEnd type="none" w="med" len="med"/>
                      <a:tailEnd type="none" w="med" len="med"/>
                    </a:lnB>
                    <a:solidFill>
                      <a:srgbClr val="FFFFFF"/>
                    </a:solidFill>
                  </a:tcPr>
                </a:tc>
                <a:tc>
                  <a:txBody>
                    <a:bodyPr/>
                    <a:lstStyle/>
                    <a:p>
                      <a:pPr algn="l" indent="0" marL="0">
                        <a:buNone/>
                      </a:pPr>
                      <a:r>
                        <a:rPr lang="en-US" sz="1200" dirty="0">
                          <a:solidFill>
                            <a:srgbClr val="3A3838"/>
                          </a:solidFill>
                          <a:latin typeface="Calibri" pitchFamily="34" charset="0"/>
                          <a:ea typeface="Calibri" pitchFamily="34" charset="-122"/>
                          <a:cs typeface="Calibri" pitchFamily="34" charset="-120"/>
                        </a:rPr>
                        <a:t>Outlet champion</a:t>
                      </a:r>
                      <a:endParaRPr lang="en-US" sz="1200" dirty="0">
                        <a:latin typeface="Calibri" charset="0"/>
                        <a:ea typeface="Calibri" charset="0"/>
                        <a:cs typeface="Calibri" charset="0"/>
                      </a:endParaRPr>
                    </a:p>
                  </a:txBody>
                  <a:tcPr marL="36576" marR="36576" marT="36576" marB="36576" anchor="ctr">
                    <a:lnL w="9525" cap="flat" cmpd="sng" algn="ctr">
                      <a:solidFill>
                        <a:srgbClr val="DCD4E8"/>
                      </a:solidFill>
                      <a:prstDash val="solid"/>
                      <a:round/>
                      <a:headEnd type="none" w="med" len="med"/>
                      <a:tailEnd type="none" w="med" len="med"/>
                    </a:lnL>
                    <a:lnR w="9525" cap="flat" cmpd="sng" algn="ctr">
                      <a:solidFill>
                        <a:srgbClr val="DCD4E8"/>
                      </a:solidFill>
                      <a:prstDash val="solid"/>
                      <a:round/>
                      <a:headEnd type="none" w="med" len="med"/>
                      <a:tailEnd type="none" w="med" len="med"/>
                    </a:lnR>
                    <a:lnT w="9525" cap="flat" cmpd="sng" algn="ctr">
                      <a:solidFill>
                        <a:srgbClr val="DCD4E8"/>
                      </a:solidFill>
                      <a:prstDash val="solid"/>
                      <a:round/>
                      <a:headEnd type="none" w="med" len="med"/>
                      <a:tailEnd type="none" w="med" len="med"/>
                    </a:lnT>
                    <a:lnB w="9525" cap="flat" cmpd="sng" algn="ctr">
                      <a:solidFill>
                        <a:srgbClr val="DCD4E8"/>
                      </a:solidFill>
                      <a:prstDash val="solid"/>
                      <a:round/>
                      <a:headEnd type="none" w="med" len="med"/>
                      <a:tailEnd type="none" w="med" len="med"/>
                    </a:lnB>
                    <a:solidFill>
                      <a:srgbClr val="FFFFFF"/>
                    </a:solidFill>
                  </a:tcPr>
                </a:tc>
                <a:tc>
                  <a:txBody>
                    <a:bodyPr/>
                    <a:lstStyle/>
                    <a:p>
                      <a:pPr algn="r" indent="0" marL="0">
                        <a:buNone/>
                      </a:pPr>
                      <a:r>
                        <a:rPr lang="en-US" sz="1200" dirty="0">
                          <a:solidFill>
                            <a:srgbClr val="3A3838"/>
                          </a:solidFill>
                          <a:latin typeface="Calibri" pitchFamily="34" charset="0"/>
                          <a:ea typeface="Calibri" pitchFamily="34" charset="-122"/>
                          <a:cs typeface="Calibri" pitchFamily="34" charset="-120"/>
                        </a:rPr>
                        <a:t>ongoing</a:t>
                      </a:r>
                      <a:endParaRPr lang="en-US" sz="1200" dirty="0">
                        <a:latin typeface="Calibri" charset="0"/>
                        <a:ea typeface="Calibri" charset="0"/>
                        <a:cs typeface="Calibri" charset="0"/>
                      </a:endParaRPr>
                    </a:p>
                  </a:txBody>
                  <a:tcPr marL="36576" marR="36576" marT="36576" marB="36576" anchor="ctr">
                    <a:lnL w="9525" cap="flat" cmpd="sng" algn="ctr">
                      <a:solidFill>
                        <a:srgbClr val="DCD4E8"/>
                      </a:solidFill>
                      <a:prstDash val="solid"/>
                      <a:round/>
                      <a:headEnd type="none" w="med" len="med"/>
                      <a:tailEnd type="none" w="med" len="med"/>
                    </a:lnL>
                    <a:lnR w="9525" cap="flat" cmpd="sng" algn="ctr">
                      <a:solidFill>
                        <a:srgbClr val="DCD4E8"/>
                      </a:solidFill>
                      <a:prstDash val="solid"/>
                      <a:round/>
                      <a:headEnd type="none" w="med" len="med"/>
                      <a:tailEnd type="none" w="med" len="med"/>
                    </a:lnR>
                    <a:lnT w="9525" cap="flat" cmpd="sng" algn="ctr">
                      <a:solidFill>
                        <a:srgbClr val="DCD4E8"/>
                      </a:solidFill>
                      <a:prstDash val="solid"/>
                      <a:round/>
                      <a:headEnd type="none" w="med" len="med"/>
                      <a:tailEnd type="none" w="med" len="med"/>
                    </a:lnT>
                    <a:lnB w="9525" cap="flat" cmpd="sng" algn="ctr">
                      <a:solidFill>
                        <a:srgbClr val="DCD4E8"/>
                      </a:solidFill>
                      <a:prstDash val="solid"/>
                      <a:round/>
                      <a:headEnd type="none" w="med" len="med"/>
                      <a:tailEnd type="none" w="med" len="med"/>
                    </a:lnB>
                    <a:solidFill>
                      <a:srgbClr val="FFFFFF"/>
                    </a:solidFill>
                  </a:tcPr>
                </a:tc>
              </a:tr>
            </a:tbl>
          </a:graphicData>
        </a:graphic>
      </p:graphicFrame>
      <p:sp>
        <p:nvSpPr>
          <p:cNvPr id="38" name="Text 34"/>
          <p:cNvSpPr/>
          <p:nvPr/>
        </p:nvSpPr>
        <p:spPr>
          <a:xfrm>
            <a:off x="137160" y="3803904"/>
            <a:ext cx="3904488" cy="420624"/>
          </a:xfrm>
          <a:prstGeom prst="rect">
            <a:avLst/>
          </a:prstGeom>
          <a:noFill/>
          <a:ln/>
        </p:spPr>
        <p:txBody>
          <a:bodyPr wrap="square" lIns="0" tIns="0" rIns="0" bIns="0" rtlCol="0" anchor="ctr"/>
          <a:lstStyle/>
          <a:p>
            <a:pPr indent="0" marL="0">
              <a:lnSpc>
                <a:spcPct val="98000"/>
              </a:lnSpc>
              <a:buNone/>
            </a:pPr>
            <a:r>
              <a:rPr lang="en-US" sz="1200" b="1" dirty="0">
                <a:solidFill>
                  <a:srgbClr val="A100FF"/>
                </a:solidFill>
                <a:latin typeface="Calibri" pitchFamily="34" charset="0"/>
                <a:ea typeface="Calibri" pitchFamily="34" charset="-122"/>
                <a:cs typeface="Calibri" pitchFamily="34" charset="-120"/>
              </a:rPr>
              <a:t>Why mobile + VIN:</a:t>
            </a:r>
            <a:pPr indent="0" marL="0">
              <a:lnSpc>
                <a:spcPct val="98000"/>
              </a:lnSpc>
              <a:buNone/>
            </a:pPr>
            <a:r>
              <a:rPr lang="en-US" sz="1200" dirty="0">
                <a:solidFill>
                  <a:srgbClr val="3A3838"/>
                </a:solidFill>
                <a:latin typeface="Calibri" pitchFamily="34" charset="0"/>
                <a:ea typeface="Calibri" pitchFamily="34" charset="-122"/>
                <a:cs typeface="Calibri" pitchFamily="34" charset="-120"/>
              </a:rPr>
              <a:t> both are already captured at every touchpoint, so coverage moves in </a:t>
            </a:r>
            <a:pPr indent="0" marL="0">
              <a:lnSpc>
                <a:spcPct val="98000"/>
              </a:lnSpc>
              <a:buNone/>
            </a:pPr>
            <a:r>
              <a:rPr lang="en-US" sz="1200" b="1" dirty="0">
                <a:solidFill>
                  <a:srgbClr val="3A3838"/>
                </a:solidFill>
                <a:latin typeface="Calibri" pitchFamily="34" charset="0"/>
                <a:ea typeface="Calibri" pitchFamily="34" charset="-122"/>
                <a:cs typeface="Calibri" pitchFamily="34" charset="-120"/>
              </a:rPr>
              <a:t>quarters, not years</a:t>
            </a:r>
            <a:pPr indent="0" marL="0">
              <a:lnSpc>
                <a:spcPct val="98000"/>
              </a:lnSpc>
              <a:buNone/>
            </a:pPr>
            <a:r>
              <a:rPr lang="en-US" sz="1200" dirty="0">
                <a:solidFill>
                  <a:srgbClr val="3A3838"/>
                </a:solidFill>
                <a:latin typeface="Calibri" pitchFamily="34" charset="0"/>
                <a:ea typeface="Calibri" pitchFamily="34" charset="-122"/>
                <a:cs typeface="Calibri" pitchFamily="34" charset="-120"/>
              </a:rPr>
              <a:t> — no new form needed.</a:t>
            </a:r>
            <a:endParaRPr lang="en-US" sz="1200" dirty="0"/>
          </a:p>
        </p:txBody>
      </p:sp>
      <p:sp>
        <p:nvSpPr>
          <p:cNvPr id="39" name="Text 35"/>
          <p:cNvSpPr/>
          <p:nvPr/>
        </p:nvSpPr>
        <p:spPr>
          <a:xfrm>
            <a:off x="137160" y="4261104"/>
            <a:ext cx="3904488" cy="676656"/>
          </a:xfrm>
          <a:prstGeom prst="rect">
            <a:avLst/>
          </a:prstGeom>
          <a:solidFill>
            <a:srgbClr val="2A0A45"/>
          </a:solidFill>
          <a:ln/>
        </p:spPr>
        <p:txBody>
          <a:bodyPr wrap="square" lIns="762" tIns="762" rIns="762" bIns="762" rtlCol="0" anchor="ctr"/>
          <a:lstStyle/>
          <a:p>
            <a:pPr indent="0" marL="0">
              <a:lnSpc>
                <a:spcPct val="98000"/>
              </a:lnSpc>
              <a:buNone/>
            </a:pPr>
            <a:r>
              <a:rPr lang="en-US" sz="1200" dirty="0">
                <a:solidFill>
                  <a:srgbClr val="FFFFFF"/>
                </a:solidFill>
                <a:latin typeface="Calibri" pitchFamily="34" charset="0"/>
                <a:ea typeface="Calibri" pitchFamily="34" charset="-122"/>
                <a:cs typeface="Calibri" pitchFamily="34" charset="-120"/>
              </a:rPr>
              <a:t>We link </a:t>
            </a:r>
            <a:pPr indent="0" marL="0">
              <a:lnSpc>
                <a:spcPct val="98000"/>
              </a:lnSpc>
              <a:buNone/>
            </a:pPr>
            <a:r>
              <a:rPr lang="en-US" sz="1200" b="1" dirty="0">
                <a:solidFill>
                  <a:srgbClr val="C98CFF"/>
                </a:solidFill>
                <a:latin typeface="Calibri" pitchFamily="34" charset="0"/>
                <a:ea typeface="Calibri" pitchFamily="34" charset="-122"/>
                <a:cs typeface="Calibri" pitchFamily="34" charset="-120"/>
              </a:rPr>
              <a:t>identity only</a:t>
            </a:r>
            <a:pPr indent="0" marL="0">
              <a:lnSpc>
                <a:spcPct val="98000"/>
              </a:lnSpc>
              <a:buNone/>
            </a:pPr>
            <a:r>
              <a:rPr lang="en-US" sz="1200" dirty="0">
                <a:solidFill>
                  <a:srgbClr val="FFFFFF"/>
                </a:solidFill>
                <a:latin typeface="Calibri" pitchFamily="34" charset="0"/>
                <a:ea typeface="Calibri" pitchFamily="34" charset="-122"/>
                <a:cs typeface="Calibri" pitchFamily="34" charset="-120"/>
              </a:rPr>
              <a:t>, opt-in at first contact. Deal terms, margins and local prospects </a:t>
            </a:r>
            <a:pPr indent="0" marL="0">
              <a:lnSpc>
                <a:spcPct val="98000"/>
              </a:lnSpc>
              <a:buNone/>
            </a:pPr>
            <a:r>
              <a:rPr lang="en-US" sz="1200" b="1" dirty="0">
                <a:solidFill>
                  <a:srgbClr val="C98CFF"/>
                </a:solidFill>
                <a:latin typeface="Calibri" pitchFamily="34" charset="0"/>
                <a:ea typeface="Calibri" pitchFamily="34" charset="-122"/>
                <a:cs typeface="Calibri" pitchFamily="34" charset="-120"/>
              </a:rPr>
              <a:t>stay with the dealer</a:t>
            </a:r>
            <a:pPr indent="0" marL="0">
              <a:lnSpc>
                <a:spcPct val="98000"/>
              </a:lnSpc>
              <a:buNone/>
            </a:pPr>
            <a:r>
              <a:rPr lang="en-US" sz="1200" dirty="0">
                <a:solidFill>
                  <a:srgbClr val="FFFFFF"/>
                </a:solidFill>
                <a:latin typeface="Calibri" pitchFamily="34" charset="0"/>
                <a:ea typeface="Calibri" pitchFamily="34" charset="-122"/>
                <a:cs typeface="Calibri" pitchFamily="34" charset="-120"/>
              </a:rPr>
              <a:t> — under a DPDP-compliant data charter co-written with dealers.</a:t>
            </a:r>
            <a:endParaRPr lang="en-US" sz="1200" dirty="0"/>
          </a:p>
        </p:txBody>
      </p:sp>
      <p:sp>
        <p:nvSpPr>
          <p:cNvPr id="40" name="Text 36"/>
          <p:cNvSpPr/>
          <p:nvPr/>
        </p:nvSpPr>
        <p:spPr>
          <a:xfrm>
            <a:off x="137160" y="4992624"/>
            <a:ext cx="3904488" cy="694944"/>
          </a:xfrm>
          <a:prstGeom prst="rect">
            <a:avLst/>
          </a:prstGeom>
          <a:solidFill>
            <a:srgbClr val="F6F1FC"/>
          </a:solidFill>
          <a:ln w="19050">
            <a:solidFill>
              <a:srgbClr val="A100FF"/>
            </a:solidFill>
          </a:ln>
        </p:spPr>
        <p:txBody>
          <a:bodyPr wrap="square" lIns="1270" tIns="1270" rIns="1270" bIns="1270" rtlCol="0" anchor="ctr"/>
          <a:lstStyle/>
          <a:p>
            <a:pPr indent="0" marL="0">
              <a:lnSpc>
                <a:spcPct val="98000"/>
              </a:lnSpc>
              <a:buNone/>
            </a:pPr>
            <a:r>
              <a:rPr lang="en-US" sz="1200" dirty="0">
                <a:solidFill>
                  <a:srgbClr val="000000"/>
                </a:solidFill>
                <a:latin typeface="Calibri" pitchFamily="34" charset="0"/>
                <a:ea typeface="Calibri" pitchFamily="34" charset="-122"/>
                <a:cs typeface="Calibri" pitchFamily="34" charset="-120"/>
              </a:rPr>
              <a:t>Records are 58% complete. Fixed </a:t>
            </a:r>
            <a:pPr indent="0" marL="0">
              <a:lnSpc>
                <a:spcPct val="98000"/>
              </a:lnSpc>
              <a:buNone/>
            </a:pPr>
            <a:r>
              <a:rPr lang="en-US" sz="1200" b="1" dirty="0">
                <a:solidFill>
                  <a:srgbClr val="A100FF"/>
                </a:solidFill>
                <a:latin typeface="Calibri" pitchFamily="34" charset="0"/>
                <a:ea typeface="Calibri" pitchFamily="34" charset="-122"/>
                <a:cs typeface="Calibri" pitchFamily="34" charset="-120"/>
              </a:rPr>
              <a:t>at the source</a:t>
            </a:r>
            <a:pPr indent="0" marL="0">
              <a:lnSpc>
                <a:spcPct val="98000"/>
              </a:lnSpc>
              <a:buNone/>
            </a:pPr>
            <a:r>
              <a:rPr lang="en-US" sz="1200" dirty="0">
                <a:solidFill>
                  <a:srgbClr val="000000"/>
                </a:solidFill>
                <a:latin typeface="Calibri" pitchFamily="34" charset="0"/>
                <a:ea typeface="Calibri" pitchFamily="34" charset="-122"/>
                <a:cs typeface="Calibri" pitchFamily="34" charset="-120"/>
              </a:rPr>
              <a:t>: mandatory fields on the enquiry form, entry validation, a weekly completeness score per outlet.</a:t>
            </a:r>
            <a:endParaRPr lang="en-US" sz="1200" dirty="0"/>
          </a:p>
        </p:txBody>
      </p:sp>
      <p:sp>
        <p:nvSpPr>
          <p:cNvPr id="41" name="Text 37"/>
          <p:cNvSpPr/>
          <p:nvPr/>
        </p:nvSpPr>
        <p:spPr>
          <a:xfrm>
            <a:off x="137160" y="5742432"/>
            <a:ext cx="3904488" cy="475488"/>
          </a:xfrm>
          <a:prstGeom prst="rect">
            <a:avLst/>
          </a:prstGeom>
          <a:solidFill>
            <a:srgbClr val="A100FF"/>
          </a:solidFill>
          <a:ln w="25400">
            <a:solidFill>
              <a:srgbClr val="2A0A45"/>
            </a:solidFill>
          </a:ln>
        </p:spPr>
        <p:txBody>
          <a:bodyPr wrap="square" lIns="0" tIns="0" rIns="0" bIns="0" rtlCol="0" anchor="ctr"/>
          <a:lstStyle/>
          <a:p>
            <a:pPr algn="ctr" indent="0" marL="0">
              <a:lnSpc>
                <a:spcPct val="98000"/>
              </a:lnSpc>
              <a:buNone/>
            </a:pPr>
            <a:r>
              <a:rPr lang="en-US" sz="1200" b="1" dirty="0">
                <a:solidFill>
                  <a:srgbClr val="FFFFFF"/>
                </a:solidFill>
                <a:latin typeface="Calibri" pitchFamily="34" charset="0"/>
                <a:ea typeface="Calibri" pitchFamily="34" charset="-122"/>
                <a:cs typeface="Calibri" pitchFamily="34" charset="-120"/>
              </a:rPr>
              <a:t>FIX THE PROCESS FIRST, THEN BUY THE MODEL</a:t>
            </a:r>
            <a:endParaRPr lang="en-US" sz="1200" dirty="0"/>
          </a:p>
        </p:txBody>
      </p:sp>
      <p:sp>
        <p:nvSpPr>
          <p:cNvPr id="42" name="Shape 38"/>
          <p:cNvSpPr/>
          <p:nvPr/>
        </p:nvSpPr>
        <p:spPr>
          <a:xfrm>
            <a:off x="4224528" y="1920240"/>
            <a:ext cx="292608" cy="292608"/>
          </a:xfrm>
          <a:prstGeom prst="ellipse">
            <a:avLst/>
          </a:prstGeom>
          <a:solidFill>
            <a:srgbClr val="A100FF"/>
          </a:solidFill>
          <a:ln w="12700">
            <a:solidFill>
              <a:srgbClr val="333333"/>
            </a:solidFill>
            <a:prstDash val="solid"/>
          </a:ln>
        </p:spPr>
      </p:sp>
      <p:sp>
        <p:nvSpPr>
          <p:cNvPr id="43" name="Text 39"/>
          <p:cNvSpPr/>
          <p:nvPr/>
        </p:nvSpPr>
        <p:spPr>
          <a:xfrm>
            <a:off x="4224528" y="1920240"/>
            <a:ext cx="292608" cy="29260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44" name="Text 40"/>
          <p:cNvSpPr/>
          <p:nvPr/>
        </p:nvSpPr>
        <p:spPr>
          <a:xfrm>
            <a:off x="4608576" y="1929384"/>
            <a:ext cx="3474720" cy="292608"/>
          </a:xfrm>
          <a:prstGeom prst="rect">
            <a:avLst/>
          </a:prstGeom>
          <a:noFill/>
          <a:ln/>
        </p:spPr>
        <p:txBody>
          <a:bodyPr wrap="square" lIns="0" tIns="0" rIns="0" bIns="0" rtlCol="0" anchor="ctr"/>
          <a:lstStyle/>
          <a:p>
            <a:pPr indent="0" marL="0">
              <a:buNone/>
            </a:pPr>
            <a:r>
              <a:rPr lang="en-US" sz="1350" b="1" dirty="0">
                <a:solidFill>
                  <a:srgbClr val="2A0A45"/>
                </a:solidFill>
                <a:latin typeface="Calibri" pitchFamily="34" charset="0"/>
                <a:ea typeface="Calibri" pitchFamily="34" charset="-122"/>
                <a:cs typeface="Calibri" pitchFamily="34" charset="-120"/>
              </a:rPr>
              <a:t>Four journeys, one standard each</a:t>
            </a:r>
            <a:endParaRPr lang="en-US" sz="1350" dirty="0"/>
          </a:p>
        </p:txBody>
      </p:sp>
      <p:graphicFrame>
        <p:nvGraphicFramePr>
          <p:cNvPr id="7" name="Table 1"/>
          <p:cNvGraphicFramePr>
            <a:graphicFrameLocks noGrp="1"/>
          </p:cNvGraphicFramePr>
          <p:nvPr>
            <p:extLst>
              <p:ext uri="{D42A27DB-BD31-4B8C-83A1-F6EECF244321}">
                <p14:modId xmlns:p14="http://schemas.microsoft.com/office/powerpoint/2010/main" val="1579011935"/>
              </p:ext>
            </p:extLst>
          </p:nvPr>
        </p:nvGraphicFramePr>
        <p:xfrm>
          <a:off x="4224528" y="2304288"/>
          <a:ext cx="3867912" cy="914400"/>
        </p:xfrm>
        <a:graphic>
          <a:graphicData uri="http://schemas.openxmlformats.org/drawingml/2006/table">
            <a:tbl>
              <a:tblPr/>
              <a:tblGrid>
                <a:gridCol w="841248"/>
                <a:gridCol w="2194560"/>
                <a:gridCol w="832104"/>
              </a:tblGrid>
              <a:tr h="228600">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Journey</a:t>
                      </a:r>
                      <a:endParaRPr lang="en-US" sz="1200" dirty="0">
                        <a:latin typeface="Calibri" charset="0"/>
                        <a:ea typeface="Calibri" charset="0"/>
                        <a:cs typeface="Calibri" charset="0"/>
                      </a:endParaRPr>
                    </a:p>
                  </a:txBody>
                  <a:tcPr marL="36576" marR="36576" marT="36576" marB="36576" anchor="ctr">
                    <a:lnL w="9525" cap="flat" cmpd="sng" algn="ctr">
                      <a:solidFill>
                        <a:srgbClr val="DCD4E8"/>
                      </a:solidFill>
                      <a:prstDash val="solid"/>
                      <a:round/>
                      <a:headEnd type="none" w="med" len="med"/>
                      <a:tailEnd type="none" w="med" len="med"/>
                    </a:lnL>
                    <a:lnR w="9525" cap="flat" cmpd="sng" algn="ctr">
                      <a:solidFill>
                        <a:srgbClr val="DCD4E8"/>
                      </a:solidFill>
                      <a:prstDash val="solid"/>
                      <a:round/>
                      <a:headEnd type="none" w="med" len="med"/>
                      <a:tailEnd type="none" w="med" len="med"/>
                    </a:lnR>
                    <a:lnT w="9525" cap="flat" cmpd="sng" algn="ctr">
                      <a:solidFill>
                        <a:srgbClr val="DCD4E8"/>
                      </a:solidFill>
                      <a:prstDash val="solid"/>
                      <a:round/>
                      <a:headEnd type="none" w="med" len="med"/>
                      <a:tailEnd type="none" w="med" len="med"/>
                    </a:lnT>
                    <a:lnB w="9525" cap="flat" cmpd="sng" algn="ctr">
                      <a:solidFill>
                        <a:srgbClr val="DCD4E8"/>
                      </a:solidFill>
                      <a:prstDash val="solid"/>
                      <a:round/>
                      <a:headEnd type="none" w="med" len="med"/>
                      <a:tailEnd type="none" w="med" len="med"/>
                    </a:lnB>
                    <a:solidFill>
                      <a:srgbClr val="2A0A45"/>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Mandated standard</a:t>
                      </a:r>
                      <a:endParaRPr lang="en-US" sz="1200" dirty="0">
                        <a:latin typeface="Calibri" charset="0"/>
                        <a:ea typeface="Calibri" charset="0"/>
                        <a:cs typeface="Calibri" charset="0"/>
                      </a:endParaRPr>
                    </a:p>
                  </a:txBody>
                  <a:tcPr marL="36576" marR="36576" marT="36576" marB="36576" anchor="ctr">
                    <a:lnL w="9525" cap="flat" cmpd="sng" algn="ctr">
                      <a:solidFill>
                        <a:srgbClr val="DCD4E8"/>
                      </a:solidFill>
                      <a:prstDash val="solid"/>
                      <a:round/>
                      <a:headEnd type="none" w="med" len="med"/>
                      <a:tailEnd type="none" w="med" len="med"/>
                    </a:lnL>
                    <a:lnR w="9525" cap="flat" cmpd="sng" algn="ctr">
                      <a:solidFill>
                        <a:srgbClr val="DCD4E8"/>
                      </a:solidFill>
                      <a:prstDash val="solid"/>
                      <a:round/>
                      <a:headEnd type="none" w="med" len="med"/>
                      <a:tailEnd type="none" w="med" len="med"/>
                    </a:lnR>
                    <a:lnT w="9525" cap="flat" cmpd="sng" algn="ctr">
                      <a:solidFill>
                        <a:srgbClr val="DCD4E8"/>
                      </a:solidFill>
                      <a:prstDash val="solid"/>
                      <a:round/>
                      <a:headEnd type="none" w="med" len="med"/>
                      <a:tailEnd type="none" w="med" len="med"/>
                    </a:lnT>
                    <a:lnB w="9525" cap="flat" cmpd="sng" algn="ctr">
                      <a:solidFill>
                        <a:srgbClr val="DCD4E8"/>
                      </a:solidFill>
                      <a:prstDash val="solid"/>
                      <a:round/>
                      <a:headEnd type="none" w="med" len="med"/>
                      <a:tailEnd type="none" w="med" len="med"/>
                    </a:lnB>
                    <a:solidFill>
                      <a:srgbClr val="2A0A45"/>
                    </a:solidFill>
                  </a:tcPr>
                </a:tc>
                <a:tc>
                  <a:txBody>
                    <a:bodyPr/>
                    <a:lstStyle/>
                    <a:p>
                      <a:pPr algn="r" indent="0" marL="0">
                        <a:buNone/>
                      </a:pPr>
                      <a:r>
                        <a:rPr lang="en-US" sz="1200" b="1" dirty="0">
                          <a:solidFill>
                            <a:srgbClr val="FFFFFF"/>
                          </a:solidFill>
                          <a:latin typeface="Calibri" pitchFamily="34" charset="0"/>
                          <a:ea typeface="Calibri" pitchFamily="34" charset="-122"/>
                          <a:cs typeface="Calibri" pitchFamily="34" charset="-120"/>
                        </a:rPr>
                        <a:t>Clock</a:t>
                      </a:r>
                      <a:endParaRPr lang="en-US" sz="1200" dirty="0">
                        <a:latin typeface="Calibri" charset="0"/>
                        <a:ea typeface="Calibri" charset="0"/>
                        <a:cs typeface="Calibri" charset="0"/>
                      </a:endParaRPr>
                    </a:p>
                  </a:txBody>
                  <a:tcPr marL="36576" marR="36576" marT="36576" marB="36576" anchor="ctr">
                    <a:lnL w="9525" cap="flat" cmpd="sng" algn="ctr">
                      <a:solidFill>
                        <a:srgbClr val="DCD4E8"/>
                      </a:solidFill>
                      <a:prstDash val="solid"/>
                      <a:round/>
                      <a:headEnd type="none" w="med" len="med"/>
                      <a:tailEnd type="none" w="med" len="med"/>
                    </a:lnL>
                    <a:lnR w="9525" cap="flat" cmpd="sng" algn="ctr">
                      <a:solidFill>
                        <a:srgbClr val="DCD4E8"/>
                      </a:solidFill>
                      <a:prstDash val="solid"/>
                      <a:round/>
                      <a:headEnd type="none" w="med" len="med"/>
                      <a:tailEnd type="none" w="med" len="med"/>
                    </a:lnR>
                    <a:lnT w="9525" cap="flat" cmpd="sng" algn="ctr">
                      <a:solidFill>
                        <a:srgbClr val="DCD4E8"/>
                      </a:solidFill>
                      <a:prstDash val="solid"/>
                      <a:round/>
                      <a:headEnd type="none" w="med" len="med"/>
                      <a:tailEnd type="none" w="med" len="med"/>
                    </a:lnT>
                    <a:lnB w="9525" cap="flat" cmpd="sng" algn="ctr">
                      <a:solidFill>
                        <a:srgbClr val="DCD4E8"/>
                      </a:solidFill>
                      <a:prstDash val="solid"/>
                      <a:round/>
                      <a:headEnd type="none" w="med" len="med"/>
                      <a:tailEnd type="none" w="med" len="med"/>
                    </a:lnB>
                    <a:solidFill>
                      <a:srgbClr val="2A0A45"/>
                    </a:solidFill>
                  </a:tcPr>
                </a:tc>
              </a:tr>
              <a:tr h="228600">
                <a:tc>
                  <a:txBody>
                    <a:bodyPr/>
                    <a:lstStyle/>
                    <a:p>
                      <a:pPr algn="l" indent="0" marL="0">
                        <a:buNone/>
                      </a:pPr>
                      <a:r>
                        <a:rPr lang="en-US" sz="1200" dirty="0">
                          <a:solidFill>
                            <a:srgbClr val="3A3838"/>
                          </a:solidFill>
                          <a:latin typeface="Calibri" pitchFamily="34" charset="0"/>
                          <a:ea typeface="Calibri" pitchFamily="34" charset="-122"/>
                          <a:cs typeface="Calibri" pitchFamily="34" charset="-120"/>
                        </a:rPr>
                        <a:t>Enquiry</a:t>
                      </a:r>
                      <a:endParaRPr lang="en-US" sz="1200" dirty="0">
                        <a:latin typeface="Calibri" charset="0"/>
                        <a:ea typeface="Calibri" charset="0"/>
                        <a:cs typeface="Calibri" charset="0"/>
                      </a:endParaRPr>
                    </a:p>
                  </a:txBody>
                  <a:tcPr marL="36576" marR="36576" marT="36576" marB="36576" anchor="ctr">
                    <a:lnL w="9525" cap="flat" cmpd="sng" algn="ctr">
                      <a:solidFill>
                        <a:srgbClr val="DCD4E8"/>
                      </a:solidFill>
                      <a:prstDash val="solid"/>
                      <a:round/>
                      <a:headEnd type="none" w="med" len="med"/>
                      <a:tailEnd type="none" w="med" len="med"/>
                    </a:lnL>
                    <a:lnR w="9525" cap="flat" cmpd="sng" algn="ctr">
                      <a:solidFill>
                        <a:srgbClr val="DCD4E8"/>
                      </a:solidFill>
                      <a:prstDash val="solid"/>
                      <a:round/>
                      <a:headEnd type="none" w="med" len="med"/>
                      <a:tailEnd type="none" w="med" len="med"/>
                    </a:lnR>
                    <a:lnT w="9525" cap="flat" cmpd="sng" algn="ctr">
                      <a:solidFill>
                        <a:srgbClr val="DCD4E8"/>
                      </a:solidFill>
                      <a:prstDash val="solid"/>
                      <a:round/>
                      <a:headEnd type="none" w="med" len="med"/>
                      <a:tailEnd type="none" w="med" len="med"/>
                    </a:lnT>
                    <a:lnB w="9525" cap="flat" cmpd="sng" algn="ctr">
                      <a:solidFill>
                        <a:srgbClr val="DCD4E8"/>
                      </a:solidFill>
                      <a:prstDash val="solid"/>
                      <a:round/>
                      <a:headEnd type="none" w="med" len="med"/>
                      <a:tailEnd type="none" w="med" len="med"/>
                    </a:lnB>
                    <a:solidFill>
                      <a:srgbClr val="FBF8FE"/>
                    </a:solidFill>
                  </a:tcPr>
                </a:tc>
                <a:tc>
                  <a:txBody>
                    <a:bodyPr/>
                    <a:lstStyle/>
                    <a:p>
                      <a:pPr algn="l" indent="0" marL="0">
                        <a:buNone/>
                      </a:pPr>
                      <a:r>
                        <a:rPr lang="en-US" sz="1200" dirty="0">
                          <a:solidFill>
                            <a:srgbClr val="3A3838"/>
                          </a:solidFill>
                          <a:latin typeface="Calibri" pitchFamily="34" charset="0"/>
                          <a:ea typeface="Calibri" pitchFamily="34" charset="-122"/>
                          <a:cs typeface="Calibri" pitchFamily="34" charset="-120"/>
                        </a:rPr>
                        <a:t>Acknowledge, qualify, route to a named consultant</a:t>
                      </a:r>
                      <a:endParaRPr lang="en-US" sz="1200" dirty="0">
                        <a:latin typeface="Calibri" charset="0"/>
                        <a:ea typeface="Calibri" charset="0"/>
                        <a:cs typeface="Calibri" charset="0"/>
                      </a:endParaRPr>
                    </a:p>
                  </a:txBody>
                  <a:tcPr marL="36576" marR="36576" marT="36576" marB="36576" anchor="ctr">
                    <a:lnL w="9525" cap="flat" cmpd="sng" algn="ctr">
                      <a:solidFill>
                        <a:srgbClr val="DCD4E8"/>
                      </a:solidFill>
                      <a:prstDash val="solid"/>
                      <a:round/>
                      <a:headEnd type="none" w="med" len="med"/>
                      <a:tailEnd type="none" w="med" len="med"/>
                    </a:lnL>
                    <a:lnR w="9525" cap="flat" cmpd="sng" algn="ctr">
                      <a:solidFill>
                        <a:srgbClr val="DCD4E8"/>
                      </a:solidFill>
                      <a:prstDash val="solid"/>
                      <a:round/>
                      <a:headEnd type="none" w="med" len="med"/>
                      <a:tailEnd type="none" w="med" len="med"/>
                    </a:lnR>
                    <a:lnT w="9525" cap="flat" cmpd="sng" algn="ctr">
                      <a:solidFill>
                        <a:srgbClr val="DCD4E8"/>
                      </a:solidFill>
                      <a:prstDash val="solid"/>
                      <a:round/>
                      <a:headEnd type="none" w="med" len="med"/>
                      <a:tailEnd type="none" w="med" len="med"/>
                    </a:lnT>
                    <a:lnB w="9525" cap="flat" cmpd="sng" algn="ctr">
                      <a:solidFill>
                        <a:srgbClr val="DCD4E8"/>
                      </a:solidFill>
                      <a:prstDash val="solid"/>
                      <a:round/>
                      <a:headEnd type="none" w="med" len="med"/>
                      <a:tailEnd type="none" w="med" len="med"/>
                    </a:lnB>
                    <a:solidFill>
                      <a:srgbClr val="FBF8FE"/>
                    </a:solidFill>
                  </a:tcPr>
                </a:tc>
                <a:tc>
                  <a:txBody>
                    <a:bodyPr/>
                    <a:lstStyle/>
                    <a:p>
                      <a:pPr algn="r" indent="0" marL="0">
                        <a:buNone/>
                      </a:pPr>
                      <a:r>
                        <a:rPr lang="en-US" sz="1200" dirty="0">
                          <a:solidFill>
                            <a:srgbClr val="3A3838"/>
                          </a:solidFill>
                          <a:latin typeface="Calibri" pitchFamily="34" charset="0"/>
                          <a:ea typeface="Calibri" pitchFamily="34" charset="-122"/>
                          <a:cs typeface="Calibri" pitchFamily="34" charset="-120"/>
                        </a:rPr>
                        <a:t>15 min</a:t>
                      </a:r>
                      <a:endParaRPr lang="en-US" sz="1200" dirty="0">
                        <a:latin typeface="Calibri" charset="0"/>
                        <a:ea typeface="Calibri" charset="0"/>
                        <a:cs typeface="Calibri" charset="0"/>
                      </a:endParaRPr>
                    </a:p>
                  </a:txBody>
                  <a:tcPr marL="36576" marR="36576" marT="36576" marB="36576" anchor="ctr">
                    <a:lnL w="9525" cap="flat" cmpd="sng" algn="ctr">
                      <a:solidFill>
                        <a:srgbClr val="DCD4E8"/>
                      </a:solidFill>
                      <a:prstDash val="solid"/>
                      <a:round/>
                      <a:headEnd type="none" w="med" len="med"/>
                      <a:tailEnd type="none" w="med" len="med"/>
                    </a:lnL>
                    <a:lnR w="9525" cap="flat" cmpd="sng" algn="ctr">
                      <a:solidFill>
                        <a:srgbClr val="DCD4E8"/>
                      </a:solidFill>
                      <a:prstDash val="solid"/>
                      <a:round/>
                      <a:headEnd type="none" w="med" len="med"/>
                      <a:tailEnd type="none" w="med" len="med"/>
                    </a:lnR>
                    <a:lnT w="9525" cap="flat" cmpd="sng" algn="ctr">
                      <a:solidFill>
                        <a:srgbClr val="DCD4E8"/>
                      </a:solidFill>
                      <a:prstDash val="solid"/>
                      <a:round/>
                      <a:headEnd type="none" w="med" len="med"/>
                      <a:tailEnd type="none" w="med" len="med"/>
                    </a:lnT>
                    <a:lnB w="9525" cap="flat" cmpd="sng" algn="ctr">
                      <a:solidFill>
                        <a:srgbClr val="DCD4E8"/>
                      </a:solidFill>
                      <a:prstDash val="solid"/>
                      <a:round/>
                      <a:headEnd type="none" w="med" len="med"/>
                      <a:tailEnd type="none" w="med" len="med"/>
                    </a:lnB>
                    <a:solidFill>
                      <a:srgbClr val="FBF8FE"/>
                    </a:solidFill>
                  </a:tcPr>
                </a:tc>
              </a:tr>
              <a:tr h="228600">
                <a:tc>
                  <a:txBody>
                    <a:bodyPr/>
                    <a:lstStyle/>
                    <a:p>
                      <a:pPr algn="l" indent="0" marL="0">
                        <a:buNone/>
                      </a:pPr>
                      <a:r>
                        <a:rPr lang="en-US" sz="1200" dirty="0">
                          <a:solidFill>
                            <a:srgbClr val="3A3838"/>
                          </a:solidFill>
                          <a:latin typeface="Calibri" pitchFamily="34" charset="0"/>
                          <a:ea typeface="Calibri" pitchFamily="34" charset="-122"/>
                          <a:cs typeface="Calibri" pitchFamily="34" charset="-120"/>
                        </a:rPr>
                        <a:t>Purchase</a:t>
                      </a:r>
                      <a:endParaRPr lang="en-US" sz="1200" dirty="0">
                        <a:latin typeface="Calibri" charset="0"/>
                        <a:ea typeface="Calibri" charset="0"/>
                        <a:cs typeface="Calibri" charset="0"/>
                      </a:endParaRPr>
                    </a:p>
                  </a:txBody>
                  <a:tcPr marL="36576" marR="36576" marT="36576" marB="36576" anchor="ctr">
                    <a:lnL w="9525" cap="flat" cmpd="sng" algn="ctr">
                      <a:solidFill>
                        <a:srgbClr val="DCD4E8"/>
                      </a:solidFill>
                      <a:prstDash val="solid"/>
                      <a:round/>
                      <a:headEnd type="none" w="med" len="med"/>
                      <a:tailEnd type="none" w="med" len="med"/>
                    </a:lnL>
                    <a:lnR w="9525" cap="flat" cmpd="sng" algn="ctr">
                      <a:solidFill>
                        <a:srgbClr val="DCD4E8"/>
                      </a:solidFill>
                      <a:prstDash val="solid"/>
                      <a:round/>
                      <a:headEnd type="none" w="med" len="med"/>
                      <a:tailEnd type="none" w="med" len="med"/>
                    </a:lnR>
                    <a:lnT w="9525" cap="flat" cmpd="sng" algn="ctr">
                      <a:solidFill>
                        <a:srgbClr val="DCD4E8"/>
                      </a:solidFill>
                      <a:prstDash val="solid"/>
                      <a:round/>
                      <a:headEnd type="none" w="med" len="med"/>
                      <a:tailEnd type="none" w="med" len="med"/>
                    </a:lnT>
                    <a:lnB w="9525" cap="flat" cmpd="sng" algn="ctr">
                      <a:solidFill>
                        <a:srgbClr val="DCD4E8"/>
                      </a:solidFill>
                      <a:prstDash val="solid"/>
                      <a:round/>
                      <a:headEnd type="none" w="med" len="med"/>
                      <a:tailEnd type="none" w="med" len="med"/>
                    </a:lnB>
                    <a:solidFill>
                      <a:srgbClr val="FFFFFF"/>
                    </a:solidFill>
                  </a:tcPr>
                </a:tc>
                <a:tc>
                  <a:txBody>
                    <a:bodyPr/>
                    <a:lstStyle/>
                    <a:p>
                      <a:pPr algn="l" indent="0" marL="0">
                        <a:buNone/>
                      </a:pPr>
                      <a:r>
                        <a:rPr lang="en-US" sz="1200" dirty="0">
                          <a:solidFill>
                            <a:srgbClr val="3A3838"/>
                          </a:solidFill>
                          <a:latin typeface="Calibri" pitchFamily="34" charset="0"/>
                          <a:ea typeface="Calibri" pitchFamily="34" charset="-122"/>
                          <a:cs typeface="Calibri" pitchFamily="34" charset="-120"/>
                        </a:rPr>
                        <a:t>Test-drive outcome captured before customer leaves</a:t>
                      </a:r>
                      <a:endParaRPr lang="en-US" sz="1200" dirty="0">
                        <a:latin typeface="Calibri" charset="0"/>
                        <a:ea typeface="Calibri" charset="0"/>
                        <a:cs typeface="Calibri" charset="0"/>
                      </a:endParaRPr>
                    </a:p>
                  </a:txBody>
                  <a:tcPr marL="36576" marR="36576" marT="36576" marB="36576" anchor="ctr">
                    <a:lnL w="9525" cap="flat" cmpd="sng" algn="ctr">
                      <a:solidFill>
                        <a:srgbClr val="DCD4E8"/>
                      </a:solidFill>
                      <a:prstDash val="solid"/>
                      <a:round/>
                      <a:headEnd type="none" w="med" len="med"/>
                      <a:tailEnd type="none" w="med" len="med"/>
                    </a:lnL>
                    <a:lnR w="9525" cap="flat" cmpd="sng" algn="ctr">
                      <a:solidFill>
                        <a:srgbClr val="DCD4E8"/>
                      </a:solidFill>
                      <a:prstDash val="solid"/>
                      <a:round/>
                      <a:headEnd type="none" w="med" len="med"/>
                      <a:tailEnd type="none" w="med" len="med"/>
                    </a:lnR>
                    <a:lnT w="9525" cap="flat" cmpd="sng" algn="ctr">
                      <a:solidFill>
                        <a:srgbClr val="DCD4E8"/>
                      </a:solidFill>
                      <a:prstDash val="solid"/>
                      <a:round/>
                      <a:headEnd type="none" w="med" len="med"/>
                      <a:tailEnd type="none" w="med" len="med"/>
                    </a:lnT>
                    <a:lnB w="9525" cap="flat" cmpd="sng" algn="ctr">
                      <a:solidFill>
                        <a:srgbClr val="DCD4E8"/>
                      </a:solidFill>
                      <a:prstDash val="solid"/>
                      <a:round/>
                      <a:headEnd type="none" w="med" len="med"/>
                      <a:tailEnd type="none" w="med" len="med"/>
                    </a:lnB>
                    <a:solidFill>
                      <a:srgbClr val="FFFFFF"/>
                    </a:solidFill>
                  </a:tcPr>
                </a:tc>
                <a:tc>
                  <a:txBody>
                    <a:bodyPr/>
                    <a:lstStyle/>
                    <a:p>
                      <a:pPr algn="r" indent="0" marL="0">
                        <a:buNone/>
                      </a:pPr>
                      <a:r>
                        <a:rPr lang="en-US" sz="1200" dirty="0">
                          <a:solidFill>
                            <a:srgbClr val="3A3838"/>
                          </a:solidFill>
                          <a:latin typeface="Calibri" pitchFamily="34" charset="0"/>
                          <a:ea typeface="Calibri" pitchFamily="34" charset="-122"/>
                          <a:cs typeface="Calibri" pitchFamily="34" charset="-120"/>
                        </a:rPr>
                        <a:t>Same day</a:t>
                      </a:r>
                      <a:endParaRPr lang="en-US" sz="1200" dirty="0">
                        <a:latin typeface="Calibri" charset="0"/>
                        <a:ea typeface="Calibri" charset="0"/>
                        <a:cs typeface="Calibri" charset="0"/>
                      </a:endParaRPr>
                    </a:p>
                  </a:txBody>
                  <a:tcPr marL="36576" marR="36576" marT="36576" marB="36576" anchor="ctr">
                    <a:lnL w="9525" cap="flat" cmpd="sng" algn="ctr">
                      <a:solidFill>
                        <a:srgbClr val="DCD4E8"/>
                      </a:solidFill>
                      <a:prstDash val="solid"/>
                      <a:round/>
                      <a:headEnd type="none" w="med" len="med"/>
                      <a:tailEnd type="none" w="med" len="med"/>
                    </a:lnL>
                    <a:lnR w="9525" cap="flat" cmpd="sng" algn="ctr">
                      <a:solidFill>
                        <a:srgbClr val="DCD4E8"/>
                      </a:solidFill>
                      <a:prstDash val="solid"/>
                      <a:round/>
                      <a:headEnd type="none" w="med" len="med"/>
                      <a:tailEnd type="none" w="med" len="med"/>
                    </a:lnR>
                    <a:lnT w="9525" cap="flat" cmpd="sng" algn="ctr">
                      <a:solidFill>
                        <a:srgbClr val="DCD4E8"/>
                      </a:solidFill>
                      <a:prstDash val="solid"/>
                      <a:round/>
                      <a:headEnd type="none" w="med" len="med"/>
                      <a:tailEnd type="none" w="med" len="med"/>
                    </a:lnT>
                    <a:lnB w="9525" cap="flat" cmpd="sng" algn="ctr">
                      <a:solidFill>
                        <a:srgbClr val="DCD4E8"/>
                      </a:solidFill>
                      <a:prstDash val="solid"/>
                      <a:round/>
                      <a:headEnd type="none" w="med" len="med"/>
                      <a:tailEnd type="none" w="med" len="med"/>
                    </a:lnB>
                    <a:solidFill>
                      <a:srgbClr val="FFFFFF"/>
                    </a:solidFill>
                  </a:tcPr>
                </a:tc>
              </a:tr>
              <a:tr h="228600">
                <a:tc>
                  <a:txBody>
                    <a:bodyPr/>
                    <a:lstStyle/>
                    <a:p>
                      <a:pPr algn="l" indent="0" marL="0">
                        <a:buNone/>
                      </a:pPr>
                      <a:r>
                        <a:rPr lang="en-US" sz="1200" dirty="0">
                          <a:solidFill>
                            <a:srgbClr val="3A3838"/>
                          </a:solidFill>
                          <a:latin typeface="Calibri" pitchFamily="34" charset="0"/>
                          <a:ea typeface="Calibri" pitchFamily="34" charset="-122"/>
                          <a:cs typeface="Calibri" pitchFamily="34" charset="-120"/>
                        </a:rPr>
                        <a:t>Care</a:t>
                      </a:r>
                      <a:endParaRPr lang="en-US" sz="1200" dirty="0">
                        <a:latin typeface="Calibri" charset="0"/>
                        <a:ea typeface="Calibri" charset="0"/>
                        <a:cs typeface="Calibri" charset="0"/>
                      </a:endParaRPr>
                    </a:p>
                  </a:txBody>
                  <a:tcPr marL="36576" marR="36576" marT="36576" marB="36576" anchor="ctr">
                    <a:lnL w="9525" cap="flat" cmpd="sng" algn="ctr">
                      <a:solidFill>
                        <a:srgbClr val="DCD4E8"/>
                      </a:solidFill>
                      <a:prstDash val="solid"/>
                      <a:round/>
                      <a:headEnd type="none" w="med" len="med"/>
                      <a:tailEnd type="none" w="med" len="med"/>
                    </a:lnL>
                    <a:lnR w="9525" cap="flat" cmpd="sng" algn="ctr">
                      <a:solidFill>
                        <a:srgbClr val="DCD4E8"/>
                      </a:solidFill>
                      <a:prstDash val="solid"/>
                      <a:round/>
                      <a:headEnd type="none" w="med" len="med"/>
                      <a:tailEnd type="none" w="med" len="med"/>
                    </a:lnR>
                    <a:lnT w="9525" cap="flat" cmpd="sng" algn="ctr">
                      <a:solidFill>
                        <a:srgbClr val="DCD4E8"/>
                      </a:solidFill>
                      <a:prstDash val="solid"/>
                      <a:round/>
                      <a:headEnd type="none" w="med" len="med"/>
                      <a:tailEnd type="none" w="med" len="med"/>
                    </a:lnT>
                    <a:lnB w="9525" cap="flat" cmpd="sng" algn="ctr">
                      <a:solidFill>
                        <a:srgbClr val="DCD4E8"/>
                      </a:solidFill>
                      <a:prstDash val="solid"/>
                      <a:round/>
                      <a:headEnd type="none" w="med" len="med"/>
                      <a:tailEnd type="none" w="med" len="med"/>
                    </a:lnB>
                    <a:solidFill>
                      <a:srgbClr val="FBF8FE"/>
                    </a:solidFill>
                  </a:tcPr>
                </a:tc>
                <a:tc>
                  <a:txBody>
                    <a:bodyPr/>
                    <a:lstStyle/>
                    <a:p>
                      <a:pPr algn="l" indent="0" marL="0">
                        <a:buNone/>
                      </a:pPr>
                      <a:r>
                        <a:rPr lang="en-US" sz="1200" dirty="0">
                          <a:solidFill>
                            <a:srgbClr val="3A3838"/>
                          </a:solidFill>
                          <a:latin typeface="Calibri" pitchFamily="34" charset="0"/>
                          <a:ea typeface="Calibri" pitchFamily="34" charset="-122"/>
                          <a:cs typeface="Calibri" pitchFamily="34" charset="-120"/>
                        </a:rPr>
                        <a:t>One case ID, one owner, resolve or escalate</a:t>
                      </a:r>
                      <a:endParaRPr lang="en-US" sz="1200" dirty="0">
                        <a:latin typeface="Calibri" charset="0"/>
                        <a:ea typeface="Calibri" charset="0"/>
                        <a:cs typeface="Calibri" charset="0"/>
                      </a:endParaRPr>
                    </a:p>
                  </a:txBody>
                  <a:tcPr marL="36576" marR="36576" marT="36576" marB="36576" anchor="ctr">
                    <a:lnL w="9525" cap="flat" cmpd="sng" algn="ctr">
                      <a:solidFill>
                        <a:srgbClr val="DCD4E8"/>
                      </a:solidFill>
                      <a:prstDash val="solid"/>
                      <a:round/>
                      <a:headEnd type="none" w="med" len="med"/>
                      <a:tailEnd type="none" w="med" len="med"/>
                    </a:lnL>
                    <a:lnR w="9525" cap="flat" cmpd="sng" algn="ctr">
                      <a:solidFill>
                        <a:srgbClr val="DCD4E8"/>
                      </a:solidFill>
                      <a:prstDash val="solid"/>
                      <a:round/>
                      <a:headEnd type="none" w="med" len="med"/>
                      <a:tailEnd type="none" w="med" len="med"/>
                    </a:lnR>
                    <a:lnT w="9525" cap="flat" cmpd="sng" algn="ctr">
                      <a:solidFill>
                        <a:srgbClr val="DCD4E8"/>
                      </a:solidFill>
                      <a:prstDash val="solid"/>
                      <a:round/>
                      <a:headEnd type="none" w="med" len="med"/>
                      <a:tailEnd type="none" w="med" len="med"/>
                    </a:lnT>
                    <a:lnB w="9525" cap="flat" cmpd="sng" algn="ctr">
                      <a:solidFill>
                        <a:srgbClr val="DCD4E8"/>
                      </a:solidFill>
                      <a:prstDash val="solid"/>
                      <a:round/>
                      <a:headEnd type="none" w="med" len="med"/>
                      <a:tailEnd type="none" w="med" len="med"/>
                    </a:lnB>
                    <a:solidFill>
                      <a:srgbClr val="FBF8FE"/>
                    </a:solidFill>
                  </a:tcPr>
                </a:tc>
                <a:tc>
                  <a:txBody>
                    <a:bodyPr/>
                    <a:lstStyle/>
                    <a:p>
                      <a:pPr algn="r" indent="0" marL="0">
                        <a:buNone/>
                      </a:pPr>
                      <a:r>
                        <a:rPr lang="en-US" sz="1200" dirty="0">
                          <a:solidFill>
                            <a:srgbClr val="3A3838"/>
                          </a:solidFill>
                          <a:latin typeface="Calibri" pitchFamily="34" charset="0"/>
                          <a:ea typeface="Calibri" pitchFamily="34" charset="-122"/>
                          <a:cs typeface="Calibri" pitchFamily="34" charset="-120"/>
                        </a:rPr>
                        <a:t>48 hrs</a:t>
                      </a:r>
                      <a:endParaRPr lang="en-US" sz="1200" dirty="0">
                        <a:latin typeface="Calibri" charset="0"/>
                        <a:ea typeface="Calibri" charset="0"/>
                        <a:cs typeface="Calibri" charset="0"/>
                      </a:endParaRPr>
                    </a:p>
                  </a:txBody>
                  <a:tcPr marL="36576" marR="36576" marT="36576" marB="36576" anchor="ctr">
                    <a:lnL w="9525" cap="flat" cmpd="sng" algn="ctr">
                      <a:solidFill>
                        <a:srgbClr val="DCD4E8"/>
                      </a:solidFill>
                      <a:prstDash val="solid"/>
                      <a:round/>
                      <a:headEnd type="none" w="med" len="med"/>
                      <a:tailEnd type="none" w="med" len="med"/>
                    </a:lnL>
                    <a:lnR w="9525" cap="flat" cmpd="sng" algn="ctr">
                      <a:solidFill>
                        <a:srgbClr val="DCD4E8"/>
                      </a:solidFill>
                      <a:prstDash val="solid"/>
                      <a:round/>
                      <a:headEnd type="none" w="med" len="med"/>
                      <a:tailEnd type="none" w="med" len="med"/>
                    </a:lnR>
                    <a:lnT w="9525" cap="flat" cmpd="sng" algn="ctr">
                      <a:solidFill>
                        <a:srgbClr val="DCD4E8"/>
                      </a:solidFill>
                      <a:prstDash val="solid"/>
                      <a:round/>
                      <a:headEnd type="none" w="med" len="med"/>
                      <a:tailEnd type="none" w="med" len="med"/>
                    </a:lnT>
                    <a:lnB w="9525" cap="flat" cmpd="sng" algn="ctr">
                      <a:solidFill>
                        <a:srgbClr val="DCD4E8"/>
                      </a:solidFill>
                      <a:prstDash val="solid"/>
                      <a:round/>
                      <a:headEnd type="none" w="med" len="med"/>
                      <a:tailEnd type="none" w="med" len="med"/>
                    </a:lnB>
                    <a:solidFill>
                      <a:srgbClr val="FBF8FE"/>
                    </a:solidFill>
                  </a:tcPr>
                </a:tc>
              </a:tr>
              <a:tr h="228600">
                <a:tc>
                  <a:txBody>
                    <a:bodyPr/>
                    <a:lstStyle/>
                    <a:p>
                      <a:pPr algn="l" indent="0" marL="0">
                        <a:buNone/>
                      </a:pPr>
                      <a:r>
                        <a:rPr lang="en-US" sz="1200" dirty="0">
                          <a:solidFill>
                            <a:srgbClr val="3A3838"/>
                          </a:solidFill>
                          <a:latin typeface="Calibri" pitchFamily="34" charset="0"/>
                          <a:ea typeface="Calibri" pitchFamily="34" charset="-122"/>
                          <a:cs typeface="Calibri" pitchFamily="34" charset="-120"/>
                        </a:rPr>
                        <a:t>Service</a:t>
                      </a:r>
                      <a:endParaRPr lang="en-US" sz="1200" dirty="0">
                        <a:latin typeface="Calibri" charset="0"/>
                        <a:ea typeface="Calibri" charset="0"/>
                        <a:cs typeface="Calibri" charset="0"/>
                      </a:endParaRPr>
                    </a:p>
                  </a:txBody>
                  <a:tcPr marL="36576" marR="36576" marT="36576" marB="36576" anchor="ctr">
                    <a:lnL w="9525" cap="flat" cmpd="sng" algn="ctr">
                      <a:solidFill>
                        <a:srgbClr val="DCD4E8"/>
                      </a:solidFill>
                      <a:prstDash val="solid"/>
                      <a:round/>
                      <a:headEnd type="none" w="med" len="med"/>
                      <a:tailEnd type="none" w="med" len="med"/>
                    </a:lnL>
                    <a:lnR w="9525" cap="flat" cmpd="sng" algn="ctr">
                      <a:solidFill>
                        <a:srgbClr val="DCD4E8"/>
                      </a:solidFill>
                      <a:prstDash val="solid"/>
                      <a:round/>
                      <a:headEnd type="none" w="med" len="med"/>
                      <a:tailEnd type="none" w="med" len="med"/>
                    </a:lnR>
                    <a:lnT w="9525" cap="flat" cmpd="sng" algn="ctr">
                      <a:solidFill>
                        <a:srgbClr val="DCD4E8"/>
                      </a:solidFill>
                      <a:prstDash val="solid"/>
                      <a:round/>
                      <a:headEnd type="none" w="med" len="med"/>
                      <a:tailEnd type="none" w="med" len="med"/>
                    </a:lnT>
                    <a:lnB w="9525" cap="flat" cmpd="sng" algn="ctr">
                      <a:solidFill>
                        <a:srgbClr val="DCD4E8"/>
                      </a:solidFill>
                      <a:prstDash val="solid"/>
                      <a:round/>
                      <a:headEnd type="none" w="med" len="med"/>
                      <a:tailEnd type="none" w="med" len="med"/>
                    </a:lnB>
                    <a:solidFill>
                      <a:srgbClr val="FFFFFF"/>
                    </a:solidFill>
                  </a:tcPr>
                </a:tc>
                <a:tc>
                  <a:txBody>
                    <a:bodyPr/>
                    <a:lstStyle/>
                    <a:p>
                      <a:pPr algn="l" indent="0" marL="0">
                        <a:buNone/>
                      </a:pPr>
                      <a:r>
                        <a:rPr lang="en-US" sz="1200" dirty="0">
                          <a:solidFill>
                            <a:srgbClr val="3A3838"/>
                          </a:solidFill>
                          <a:latin typeface="Calibri" pitchFamily="34" charset="0"/>
                          <a:ea typeface="Calibri" pitchFamily="34" charset="-122"/>
                          <a:cs typeface="Calibri" pitchFamily="34" charset="-120"/>
                        </a:rPr>
                        <a:t>Estimate, approval, photo proof of work done</a:t>
                      </a:r>
                      <a:endParaRPr lang="en-US" sz="1200" dirty="0">
                        <a:latin typeface="Calibri" charset="0"/>
                        <a:ea typeface="Calibri" charset="0"/>
                        <a:cs typeface="Calibri" charset="0"/>
                      </a:endParaRPr>
                    </a:p>
                  </a:txBody>
                  <a:tcPr marL="36576" marR="36576" marT="36576" marB="36576" anchor="ctr">
                    <a:lnL w="9525" cap="flat" cmpd="sng" algn="ctr">
                      <a:solidFill>
                        <a:srgbClr val="DCD4E8"/>
                      </a:solidFill>
                      <a:prstDash val="solid"/>
                      <a:round/>
                      <a:headEnd type="none" w="med" len="med"/>
                      <a:tailEnd type="none" w="med" len="med"/>
                    </a:lnL>
                    <a:lnR w="9525" cap="flat" cmpd="sng" algn="ctr">
                      <a:solidFill>
                        <a:srgbClr val="DCD4E8"/>
                      </a:solidFill>
                      <a:prstDash val="solid"/>
                      <a:round/>
                      <a:headEnd type="none" w="med" len="med"/>
                      <a:tailEnd type="none" w="med" len="med"/>
                    </a:lnR>
                    <a:lnT w="9525" cap="flat" cmpd="sng" algn="ctr">
                      <a:solidFill>
                        <a:srgbClr val="DCD4E8"/>
                      </a:solidFill>
                      <a:prstDash val="solid"/>
                      <a:round/>
                      <a:headEnd type="none" w="med" len="med"/>
                      <a:tailEnd type="none" w="med" len="med"/>
                    </a:lnT>
                    <a:lnB w="9525" cap="flat" cmpd="sng" algn="ctr">
                      <a:solidFill>
                        <a:srgbClr val="DCD4E8"/>
                      </a:solidFill>
                      <a:prstDash val="solid"/>
                      <a:round/>
                      <a:headEnd type="none" w="med" len="med"/>
                      <a:tailEnd type="none" w="med" len="med"/>
                    </a:lnB>
                    <a:solidFill>
                      <a:srgbClr val="FFFFFF"/>
                    </a:solidFill>
                  </a:tcPr>
                </a:tc>
                <a:tc>
                  <a:txBody>
                    <a:bodyPr/>
                    <a:lstStyle/>
                    <a:p>
                      <a:pPr algn="r" indent="0" marL="0">
                        <a:buNone/>
                      </a:pPr>
                      <a:r>
                        <a:rPr lang="en-US" sz="1200" dirty="0">
                          <a:solidFill>
                            <a:srgbClr val="3A3838"/>
                          </a:solidFill>
                          <a:latin typeface="Calibri" pitchFamily="34" charset="0"/>
                          <a:ea typeface="Calibri" pitchFamily="34" charset="-122"/>
                          <a:cs typeface="Calibri" pitchFamily="34" charset="-120"/>
                        </a:rPr>
                        <a:t>Per visit</a:t>
                      </a:r>
                      <a:endParaRPr lang="en-US" sz="1200" dirty="0">
                        <a:latin typeface="Calibri" charset="0"/>
                        <a:ea typeface="Calibri" charset="0"/>
                        <a:cs typeface="Calibri" charset="0"/>
                      </a:endParaRPr>
                    </a:p>
                  </a:txBody>
                  <a:tcPr marL="36576" marR="36576" marT="36576" marB="36576" anchor="ctr">
                    <a:lnL w="9525" cap="flat" cmpd="sng" algn="ctr">
                      <a:solidFill>
                        <a:srgbClr val="DCD4E8"/>
                      </a:solidFill>
                      <a:prstDash val="solid"/>
                      <a:round/>
                      <a:headEnd type="none" w="med" len="med"/>
                      <a:tailEnd type="none" w="med" len="med"/>
                    </a:lnL>
                    <a:lnR w="9525" cap="flat" cmpd="sng" algn="ctr">
                      <a:solidFill>
                        <a:srgbClr val="DCD4E8"/>
                      </a:solidFill>
                      <a:prstDash val="solid"/>
                      <a:round/>
                      <a:headEnd type="none" w="med" len="med"/>
                      <a:tailEnd type="none" w="med" len="med"/>
                    </a:lnR>
                    <a:lnT w="9525" cap="flat" cmpd="sng" algn="ctr">
                      <a:solidFill>
                        <a:srgbClr val="DCD4E8"/>
                      </a:solidFill>
                      <a:prstDash val="solid"/>
                      <a:round/>
                      <a:headEnd type="none" w="med" len="med"/>
                      <a:tailEnd type="none" w="med" len="med"/>
                    </a:lnT>
                    <a:lnB w="9525" cap="flat" cmpd="sng" algn="ctr">
                      <a:solidFill>
                        <a:srgbClr val="DCD4E8"/>
                      </a:solidFill>
                      <a:prstDash val="solid"/>
                      <a:round/>
                      <a:headEnd type="none" w="med" len="med"/>
                      <a:tailEnd type="none" w="med" len="med"/>
                    </a:lnB>
                    <a:solidFill>
                      <a:srgbClr val="FFFFFF"/>
                    </a:solidFill>
                  </a:tcPr>
                </a:tc>
              </a:tr>
            </a:tbl>
          </a:graphicData>
        </a:graphic>
      </p:graphicFrame>
      <p:sp>
        <p:nvSpPr>
          <p:cNvPr id="46" name="Text 41"/>
          <p:cNvSpPr/>
          <p:nvPr/>
        </p:nvSpPr>
        <p:spPr>
          <a:xfrm>
            <a:off x="4224528" y="4443984"/>
            <a:ext cx="3867912" cy="502920"/>
          </a:xfrm>
          <a:prstGeom prst="rect">
            <a:avLst/>
          </a:prstGeom>
          <a:noFill/>
          <a:ln/>
        </p:spPr>
        <p:txBody>
          <a:bodyPr wrap="square" lIns="0" tIns="0" rIns="0" bIns="0" rtlCol="0" anchor="ctr"/>
          <a:lstStyle/>
          <a:p>
            <a:pPr indent="0" marL="0">
              <a:lnSpc>
                <a:spcPct val="98000"/>
              </a:lnSpc>
              <a:buNone/>
            </a:pPr>
            <a:r>
              <a:rPr lang="en-US" sz="1200" dirty="0">
                <a:solidFill>
                  <a:srgbClr val="3A3838"/>
                </a:solidFill>
                <a:latin typeface="Calibri" pitchFamily="34" charset="0"/>
                <a:ea typeface="Calibri" pitchFamily="34" charset="-122"/>
                <a:cs typeface="Calibri" pitchFamily="34" charset="-120"/>
              </a:rPr>
              <a:t>Journey coverage </a:t>
            </a:r>
            <a:pPr indent="0" marL="0">
              <a:lnSpc>
                <a:spcPct val="98000"/>
              </a:lnSpc>
              <a:buNone/>
            </a:pPr>
            <a:r>
              <a:rPr lang="en-US" sz="1200" b="1" dirty="0">
                <a:solidFill>
                  <a:srgbClr val="3A3838"/>
                </a:solidFill>
                <a:latin typeface="Calibri" pitchFamily="34" charset="0"/>
                <a:ea typeface="Calibri" pitchFamily="34" charset="-122"/>
                <a:cs typeface="Calibri" pitchFamily="34" charset="-120"/>
              </a:rPr>
              <a:t>34% → 90%</a:t>
            </a:r>
            <a:pPr indent="0" marL="0">
              <a:lnSpc>
                <a:spcPct val="98000"/>
              </a:lnSpc>
              <a:buNone/>
            </a:pPr>
            <a:r>
              <a:rPr lang="en-US" sz="1200" dirty="0">
                <a:solidFill>
                  <a:srgbClr val="3A3838"/>
                </a:solidFill>
                <a:latin typeface="Calibri" pitchFamily="34" charset="0"/>
                <a:ea typeface="Calibri" pitchFamily="34" charset="-122"/>
                <a:cs typeface="Calibri" pitchFamily="34" charset="-120"/>
              </a:rPr>
              <a:t> — every step gains an owner, a clock and a field that must be filled.</a:t>
            </a:r>
            <a:endParaRPr lang="en-US" sz="1200" dirty="0"/>
          </a:p>
        </p:txBody>
      </p:sp>
      <p:sp>
        <p:nvSpPr>
          <p:cNvPr id="47" name="Text 42"/>
          <p:cNvSpPr/>
          <p:nvPr/>
        </p:nvSpPr>
        <p:spPr>
          <a:xfrm>
            <a:off x="4224528" y="5010912"/>
            <a:ext cx="3867912" cy="1005840"/>
          </a:xfrm>
          <a:prstGeom prst="rect">
            <a:avLst/>
          </a:prstGeom>
          <a:solidFill>
            <a:srgbClr val="2A0A45"/>
          </a:solidFill>
          <a:ln/>
        </p:spPr>
        <p:txBody>
          <a:bodyPr wrap="square" lIns="762" tIns="762" rIns="762" bIns="762" rtlCol="0" anchor="ctr"/>
          <a:lstStyle/>
          <a:p>
            <a:pPr indent="0" marL="0">
              <a:lnSpc>
                <a:spcPct val="98000"/>
              </a:lnSpc>
              <a:buNone/>
            </a:pPr>
            <a:r>
              <a:rPr lang="en-US" sz="1200" dirty="0">
                <a:solidFill>
                  <a:srgbClr val="FFFFFF"/>
                </a:solidFill>
                <a:latin typeface="Calibri" pitchFamily="34" charset="0"/>
                <a:ea typeface="Calibri" pitchFamily="34" charset="-122"/>
                <a:cs typeface="Calibri" pitchFamily="34" charset="-120"/>
              </a:rPr>
              <a:t>The </a:t>
            </a:r>
            <a:pPr indent="0" marL="0">
              <a:lnSpc>
                <a:spcPct val="98000"/>
              </a:lnSpc>
              <a:buNone/>
            </a:pPr>
            <a:r>
              <a:rPr lang="en-US" sz="1200" b="1" dirty="0">
                <a:solidFill>
                  <a:srgbClr val="C98CFF"/>
                </a:solidFill>
                <a:latin typeface="Calibri" pitchFamily="34" charset="0"/>
                <a:ea typeface="Calibri" pitchFamily="34" charset="-122"/>
                <a:cs typeface="Calibri" pitchFamily="34" charset="-120"/>
              </a:rPr>
              <a:t>test-drive outcome field</a:t>
            </a:r>
            <a:pPr indent="0" marL="0">
              <a:lnSpc>
                <a:spcPct val="98000"/>
              </a:lnSpc>
              <a:buNone/>
            </a:pPr>
            <a:r>
              <a:rPr lang="en-US" sz="1200" dirty="0">
                <a:solidFill>
                  <a:srgbClr val="FFFFFF"/>
                </a:solidFill>
                <a:latin typeface="Calibri" pitchFamily="34" charset="0"/>
                <a:ea typeface="Calibri" pitchFamily="34" charset="-122"/>
                <a:cs typeface="Calibri" pitchFamily="34" charset="-120"/>
              </a:rPr>
              <a:t> is the smallest change with the largest effect — it is what lets the agent learn </a:t>
            </a:r>
            <a:pPr indent="0" marL="0">
              <a:lnSpc>
                <a:spcPct val="98000"/>
              </a:lnSpc>
              <a:buNone/>
            </a:pPr>
            <a:r>
              <a:rPr lang="en-US" sz="1200" b="1" dirty="0">
                <a:solidFill>
                  <a:srgbClr val="C98CFF"/>
                </a:solidFill>
                <a:latin typeface="Calibri" pitchFamily="34" charset="0"/>
                <a:ea typeface="Calibri" pitchFamily="34" charset="-122"/>
                <a:cs typeface="Calibri" pitchFamily="34" charset="-120"/>
              </a:rPr>
              <a:t>why</a:t>
            </a:r>
            <a:pPr indent="0" marL="0">
              <a:lnSpc>
                <a:spcPct val="98000"/>
              </a:lnSpc>
              <a:buNone/>
            </a:pPr>
            <a:r>
              <a:rPr lang="en-US" sz="1200" dirty="0">
                <a:solidFill>
                  <a:srgbClr val="FFFFFF"/>
                </a:solidFill>
                <a:latin typeface="Calibri" pitchFamily="34" charset="0"/>
                <a:ea typeface="Calibri" pitchFamily="34" charset="-122"/>
                <a:cs typeface="Calibri" pitchFamily="34" charset="-120"/>
              </a:rPr>
              <a:t> a prospect walked. The process work is what makes the AI possible.</a:t>
            </a:r>
            <a:endParaRPr lang="en-US" sz="1200" dirty="0"/>
          </a:p>
        </p:txBody>
      </p:sp>
      <p:sp>
        <p:nvSpPr>
          <p:cNvPr id="48" name="Shape 43"/>
          <p:cNvSpPr/>
          <p:nvPr/>
        </p:nvSpPr>
        <p:spPr>
          <a:xfrm>
            <a:off x="8275320" y="1920240"/>
            <a:ext cx="292608" cy="292608"/>
          </a:xfrm>
          <a:prstGeom prst="ellipse">
            <a:avLst/>
          </a:prstGeom>
          <a:solidFill>
            <a:srgbClr val="A100FF"/>
          </a:solidFill>
          <a:ln w="12700">
            <a:solidFill>
              <a:srgbClr val="333333"/>
            </a:solidFill>
            <a:prstDash val="solid"/>
          </a:ln>
        </p:spPr>
      </p:sp>
      <p:sp>
        <p:nvSpPr>
          <p:cNvPr id="49" name="Text 44"/>
          <p:cNvSpPr/>
          <p:nvPr/>
        </p:nvSpPr>
        <p:spPr>
          <a:xfrm>
            <a:off x="8275320" y="1920240"/>
            <a:ext cx="292608" cy="29260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50" name="Text 45"/>
          <p:cNvSpPr/>
          <p:nvPr/>
        </p:nvSpPr>
        <p:spPr>
          <a:xfrm>
            <a:off x="8659368" y="1929384"/>
            <a:ext cx="3474720" cy="292608"/>
          </a:xfrm>
          <a:prstGeom prst="rect">
            <a:avLst/>
          </a:prstGeom>
          <a:noFill/>
          <a:ln/>
        </p:spPr>
        <p:txBody>
          <a:bodyPr wrap="square" lIns="0" tIns="0" rIns="0" bIns="0" rtlCol="0" anchor="ctr"/>
          <a:lstStyle/>
          <a:p>
            <a:pPr indent="0" marL="0">
              <a:buNone/>
            </a:pPr>
            <a:r>
              <a:rPr lang="en-US" sz="1350" b="1" dirty="0">
                <a:solidFill>
                  <a:srgbClr val="2A0A45"/>
                </a:solidFill>
                <a:latin typeface="Calibri" pitchFamily="34" charset="0"/>
                <a:ea typeface="Calibri" pitchFamily="34" charset="-122"/>
                <a:cs typeface="Calibri" pitchFamily="34" charset="-120"/>
              </a:rPr>
              <a:t>Making the standard stick</a:t>
            </a:r>
            <a:endParaRPr lang="en-US" sz="1350" dirty="0"/>
          </a:p>
        </p:txBody>
      </p:sp>
      <p:sp>
        <p:nvSpPr>
          <p:cNvPr id="51" name="Shape 46"/>
          <p:cNvSpPr/>
          <p:nvPr/>
        </p:nvSpPr>
        <p:spPr>
          <a:xfrm>
            <a:off x="8275320" y="2304288"/>
            <a:ext cx="3776472" cy="310896"/>
          </a:xfrm>
          <a:prstGeom prst="rect">
            <a:avLst/>
          </a:prstGeom>
          <a:solidFill>
            <a:srgbClr val="2A0A45"/>
          </a:solidFill>
          <a:ln w="12700">
            <a:solidFill>
              <a:srgbClr val="333333"/>
            </a:solidFill>
            <a:prstDash val="solid"/>
          </a:ln>
        </p:spPr>
      </p:sp>
      <p:sp>
        <p:nvSpPr>
          <p:cNvPr id="52" name="Text 47"/>
          <p:cNvSpPr/>
          <p:nvPr/>
        </p:nvSpPr>
        <p:spPr>
          <a:xfrm>
            <a:off x="8348472" y="2304288"/>
            <a:ext cx="3685032" cy="310896"/>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WEEKLY DEALER SCORECARD — four lines only</a:t>
            </a:r>
            <a:endParaRPr lang="en-US" sz="1200" dirty="0"/>
          </a:p>
        </p:txBody>
      </p:sp>
      <p:sp>
        <p:nvSpPr>
          <p:cNvPr id="53" name="Shape 48"/>
          <p:cNvSpPr/>
          <p:nvPr/>
        </p:nvSpPr>
        <p:spPr>
          <a:xfrm>
            <a:off x="8275320" y="2688336"/>
            <a:ext cx="3776472" cy="274320"/>
          </a:xfrm>
          <a:prstGeom prst="rect">
            <a:avLst/>
          </a:prstGeom>
          <a:solidFill>
            <a:srgbClr val="EADCF9"/>
          </a:solidFill>
          <a:ln w="12700">
            <a:solidFill>
              <a:srgbClr val="333333"/>
            </a:solidFill>
            <a:prstDash val="solid"/>
          </a:ln>
        </p:spPr>
      </p:sp>
      <p:sp>
        <p:nvSpPr>
          <p:cNvPr id="54" name="Shape 49"/>
          <p:cNvSpPr/>
          <p:nvPr/>
        </p:nvSpPr>
        <p:spPr>
          <a:xfrm>
            <a:off x="8275320" y="2688336"/>
            <a:ext cx="2568001" cy="274320"/>
          </a:xfrm>
          <a:prstGeom prst="rect">
            <a:avLst/>
          </a:prstGeom>
          <a:solidFill>
            <a:srgbClr val="A100FF"/>
          </a:solidFill>
          <a:ln w="12700">
            <a:solidFill>
              <a:srgbClr val="333333"/>
            </a:solidFill>
            <a:prstDash val="solid"/>
          </a:ln>
        </p:spPr>
      </p:sp>
      <p:sp>
        <p:nvSpPr>
          <p:cNvPr id="55" name="Text 50"/>
          <p:cNvSpPr/>
          <p:nvPr/>
        </p:nvSpPr>
        <p:spPr>
          <a:xfrm>
            <a:off x="8348472" y="2688336"/>
            <a:ext cx="2377440" cy="27432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Contacted in 24 hrs</a:t>
            </a:r>
            <a:endParaRPr lang="en-US" sz="1200" dirty="0"/>
          </a:p>
        </p:txBody>
      </p:sp>
      <p:sp>
        <p:nvSpPr>
          <p:cNvPr id="56" name="Text 51"/>
          <p:cNvSpPr/>
          <p:nvPr/>
        </p:nvSpPr>
        <p:spPr>
          <a:xfrm>
            <a:off x="11000232" y="2688336"/>
            <a:ext cx="987552" cy="274320"/>
          </a:xfrm>
          <a:prstGeom prst="rect">
            <a:avLst/>
          </a:prstGeom>
          <a:noFill/>
          <a:ln/>
        </p:spPr>
        <p:txBody>
          <a:bodyPr wrap="square" lIns="0" tIns="0" rIns="0" bIns="0" rtlCol="0" anchor="ctr"/>
          <a:lstStyle/>
          <a:p>
            <a:pPr algn="r" indent="0" marL="0">
              <a:buNone/>
            </a:pPr>
            <a:r>
              <a:rPr lang="en-US" sz="1200" b="1" dirty="0">
                <a:solidFill>
                  <a:srgbClr val="2A0A45"/>
                </a:solidFill>
                <a:latin typeface="Calibri" pitchFamily="34" charset="0"/>
                <a:ea typeface="Calibri" pitchFamily="34" charset="-122"/>
                <a:cs typeface="Calibri" pitchFamily="34" charset="-120"/>
              </a:rPr>
              <a:t>68 → 98%</a:t>
            </a:r>
            <a:endParaRPr lang="en-US" sz="1200" dirty="0"/>
          </a:p>
        </p:txBody>
      </p:sp>
      <p:sp>
        <p:nvSpPr>
          <p:cNvPr id="57" name="Shape 52"/>
          <p:cNvSpPr/>
          <p:nvPr/>
        </p:nvSpPr>
        <p:spPr>
          <a:xfrm>
            <a:off x="8275320" y="3072384"/>
            <a:ext cx="3776472" cy="274320"/>
          </a:xfrm>
          <a:prstGeom prst="rect">
            <a:avLst/>
          </a:prstGeom>
          <a:solidFill>
            <a:srgbClr val="EADCF9"/>
          </a:solidFill>
          <a:ln w="12700">
            <a:solidFill>
              <a:srgbClr val="333333"/>
            </a:solidFill>
            <a:prstDash val="solid"/>
          </a:ln>
        </p:spPr>
      </p:sp>
      <p:sp>
        <p:nvSpPr>
          <p:cNvPr id="58" name="Shape 53"/>
          <p:cNvSpPr/>
          <p:nvPr/>
        </p:nvSpPr>
        <p:spPr>
          <a:xfrm>
            <a:off x="8275320" y="3072384"/>
            <a:ext cx="2190354" cy="274320"/>
          </a:xfrm>
          <a:prstGeom prst="rect">
            <a:avLst/>
          </a:prstGeom>
          <a:solidFill>
            <a:srgbClr val="A100FF"/>
          </a:solidFill>
          <a:ln w="12700">
            <a:solidFill>
              <a:srgbClr val="333333"/>
            </a:solidFill>
            <a:prstDash val="solid"/>
          </a:ln>
        </p:spPr>
      </p:sp>
      <p:sp>
        <p:nvSpPr>
          <p:cNvPr id="59" name="Text 54"/>
          <p:cNvSpPr/>
          <p:nvPr/>
        </p:nvSpPr>
        <p:spPr>
          <a:xfrm>
            <a:off x="8348472" y="3072384"/>
            <a:ext cx="2377440" cy="27432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Record completeness</a:t>
            </a:r>
            <a:endParaRPr lang="en-US" sz="1200" dirty="0"/>
          </a:p>
        </p:txBody>
      </p:sp>
      <p:sp>
        <p:nvSpPr>
          <p:cNvPr id="60" name="Text 55"/>
          <p:cNvSpPr/>
          <p:nvPr/>
        </p:nvSpPr>
        <p:spPr>
          <a:xfrm>
            <a:off x="11000232" y="3072384"/>
            <a:ext cx="987552" cy="274320"/>
          </a:xfrm>
          <a:prstGeom prst="rect">
            <a:avLst/>
          </a:prstGeom>
          <a:noFill/>
          <a:ln/>
        </p:spPr>
        <p:txBody>
          <a:bodyPr wrap="square" lIns="0" tIns="0" rIns="0" bIns="0" rtlCol="0" anchor="ctr"/>
          <a:lstStyle/>
          <a:p>
            <a:pPr algn="r" indent="0" marL="0">
              <a:buNone/>
            </a:pPr>
            <a:r>
              <a:rPr lang="en-US" sz="1200" b="1" dirty="0">
                <a:solidFill>
                  <a:srgbClr val="2A0A45"/>
                </a:solidFill>
                <a:latin typeface="Calibri" pitchFamily="34" charset="0"/>
                <a:ea typeface="Calibri" pitchFamily="34" charset="-122"/>
                <a:cs typeface="Calibri" pitchFamily="34" charset="-120"/>
              </a:rPr>
              <a:t>58 → 90%</a:t>
            </a:r>
            <a:endParaRPr lang="en-US" sz="1200" dirty="0"/>
          </a:p>
        </p:txBody>
      </p:sp>
      <p:sp>
        <p:nvSpPr>
          <p:cNvPr id="61" name="Shape 56"/>
          <p:cNvSpPr/>
          <p:nvPr/>
        </p:nvSpPr>
        <p:spPr>
          <a:xfrm>
            <a:off x="8275320" y="3456432"/>
            <a:ext cx="3776472" cy="274320"/>
          </a:xfrm>
          <a:prstGeom prst="rect">
            <a:avLst/>
          </a:prstGeom>
          <a:solidFill>
            <a:srgbClr val="EADCF9"/>
          </a:solidFill>
          <a:ln w="12700">
            <a:solidFill>
              <a:srgbClr val="333333"/>
            </a:solidFill>
            <a:prstDash val="solid"/>
          </a:ln>
        </p:spPr>
      </p:sp>
      <p:sp>
        <p:nvSpPr>
          <p:cNvPr id="62" name="Shape 57"/>
          <p:cNvSpPr/>
          <p:nvPr/>
        </p:nvSpPr>
        <p:spPr>
          <a:xfrm>
            <a:off x="8275320" y="3456432"/>
            <a:ext cx="1284000" cy="274320"/>
          </a:xfrm>
          <a:prstGeom prst="rect">
            <a:avLst/>
          </a:prstGeom>
          <a:solidFill>
            <a:srgbClr val="A100FF"/>
          </a:solidFill>
          <a:ln w="12700">
            <a:solidFill>
              <a:srgbClr val="333333"/>
            </a:solidFill>
            <a:prstDash val="solid"/>
          </a:ln>
        </p:spPr>
      </p:sp>
      <p:sp>
        <p:nvSpPr>
          <p:cNvPr id="63" name="Text 58"/>
          <p:cNvSpPr/>
          <p:nvPr/>
        </p:nvSpPr>
        <p:spPr>
          <a:xfrm>
            <a:off x="8348472" y="3456432"/>
            <a:ext cx="2377440" cy="27432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Outcome captured</a:t>
            </a:r>
            <a:endParaRPr lang="en-US" sz="1200" dirty="0"/>
          </a:p>
        </p:txBody>
      </p:sp>
      <p:sp>
        <p:nvSpPr>
          <p:cNvPr id="64" name="Text 59"/>
          <p:cNvSpPr/>
          <p:nvPr/>
        </p:nvSpPr>
        <p:spPr>
          <a:xfrm>
            <a:off x="11000232" y="3456432"/>
            <a:ext cx="987552" cy="274320"/>
          </a:xfrm>
          <a:prstGeom prst="rect">
            <a:avLst/>
          </a:prstGeom>
          <a:noFill/>
          <a:ln/>
        </p:spPr>
        <p:txBody>
          <a:bodyPr wrap="square" lIns="0" tIns="0" rIns="0" bIns="0" rtlCol="0" anchor="ctr"/>
          <a:lstStyle/>
          <a:p>
            <a:pPr algn="r" indent="0" marL="0">
              <a:buNone/>
            </a:pPr>
            <a:r>
              <a:rPr lang="en-US" sz="1200" b="1" dirty="0">
                <a:solidFill>
                  <a:srgbClr val="2A0A45"/>
                </a:solidFill>
                <a:latin typeface="Calibri" pitchFamily="34" charset="0"/>
                <a:ea typeface="Calibri" pitchFamily="34" charset="-122"/>
                <a:cs typeface="Calibri" pitchFamily="34" charset="-120"/>
              </a:rPr>
              <a:t>34 → 90%</a:t>
            </a:r>
            <a:endParaRPr lang="en-US" sz="1200" dirty="0"/>
          </a:p>
        </p:txBody>
      </p:sp>
      <p:sp>
        <p:nvSpPr>
          <p:cNvPr id="65" name="Text 60"/>
          <p:cNvSpPr/>
          <p:nvPr/>
        </p:nvSpPr>
        <p:spPr>
          <a:xfrm>
            <a:off x="8275320" y="3877056"/>
            <a:ext cx="3776472" cy="274320"/>
          </a:xfrm>
          <a:prstGeom prst="rect">
            <a:avLst/>
          </a:prstGeom>
          <a:noFill/>
          <a:ln/>
        </p:spPr>
        <p:txBody>
          <a:bodyPr wrap="square" lIns="0" tIns="0" rIns="0" bIns="0" rtlCol="0" anchor="ctr"/>
          <a:lstStyle/>
          <a:p>
            <a:pPr indent="0" marL="0">
              <a:buNone/>
            </a:pPr>
            <a:r>
              <a:rPr lang="en-US" sz="1200" i="1" dirty="0">
                <a:solidFill>
                  <a:srgbClr val="6E6875"/>
                </a:solidFill>
                <a:latin typeface="Calibri" pitchFamily="34" charset="0"/>
                <a:ea typeface="Calibri" pitchFamily="34" charset="-122"/>
                <a:cs typeface="Calibri" pitchFamily="34" charset="-120"/>
              </a:rPr>
              <a:t>Published to all 620 principals every Monday</a:t>
            </a:r>
            <a:endParaRPr lang="en-US" sz="1200" dirty="0"/>
          </a:p>
        </p:txBody>
      </p:sp>
      <p:sp>
        <p:nvSpPr>
          <p:cNvPr id="66" name="Text 61"/>
          <p:cNvSpPr/>
          <p:nvPr/>
        </p:nvSpPr>
        <p:spPr>
          <a:xfrm>
            <a:off x="8275320" y="4224528"/>
            <a:ext cx="3776472" cy="1188720"/>
          </a:xfrm>
          <a:prstGeom prst="rect">
            <a:avLst/>
          </a:prstGeom>
          <a:noFill/>
          <a:ln/>
        </p:spPr>
        <p:txBody>
          <a:bodyPr wrap="square" lIns="0" tIns="0" rIns="0" bIns="0" rtlCol="0" anchor="ctr"/>
          <a:lstStyle/>
          <a:p>
            <a:pPr marL="342900" indent="-342900">
              <a:lnSpc>
                <a:spcPct val="98000"/>
              </a:lnSpc>
              <a:spcAft>
                <a:spcPts val="600"/>
              </a:spcAft>
              <a:buSzPct val="100000"/>
              <a:buChar char="•"/>
            </a:pPr>
            <a:r>
              <a:rPr lang="en-US" sz="1200" dirty="0">
                <a:solidFill>
                  <a:srgbClr val="3A3838"/>
                </a:solidFill>
                <a:latin typeface="Calibri" pitchFamily="34" charset="0"/>
                <a:ea typeface="Calibri" pitchFamily="34" charset="-122"/>
                <a:cs typeface="Calibri" pitchFamily="34" charset="-120"/>
              </a:rPr>
              <a:t>Live network-wide in Q1 — near-zero cost, recovers units at once</a:t>
            </a:r>
            <a:endParaRPr lang="en-US" sz="1200" dirty="0"/>
          </a:p>
          <a:p>
            <a:pPr marL="342900" indent="-342900">
              <a:lnSpc>
                <a:spcPct val="98000"/>
              </a:lnSpc>
              <a:spcAft>
                <a:spcPts val="600"/>
              </a:spcAft>
              <a:buSzPct val="100000"/>
              <a:buChar char="•"/>
            </a:pPr>
            <a:r>
              <a:rPr lang="en-US" sz="1200" dirty="0">
                <a:solidFill>
                  <a:srgbClr val="3A3838"/>
                </a:solidFill>
                <a:latin typeface="Calibri" pitchFamily="34" charset="0"/>
                <a:ea typeface="Calibri" pitchFamily="34" charset="-122"/>
                <a:cs typeface="Calibri" pitchFamily="34" charset="-120"/>
              </a:rPr>
              <a:t>15% of consultant variable pay moves to these three lines</a:t>
            </a:r>
            <a:endParaRPr lang="en-US" sz="1200" dirty="0"/>
          </a:p>
          <a:p>
            <a:pPr marL="342900" indent="-342900">
              <a:lnSpc>
                <a:spcPct val="98000"/>
              </a:lnSpc>
              <a:spcAft>
                <a:spcPts val="600"/>
              </a:spcAft>
              <a:buSzPct val="100000"/>
              <a:buChar char="•"/>
            </a:pPr>
            <a:r>
              <a:rPr lang="en-US" sz="1200" b="1" dirty="0">
                <a:solidFill>
                  <a:srgbClr val="6A00B8"/>
                </a:solidFill>
                <a:latin typeface="Calibri" pitchFamily="34" charset="0"/>
                <a:ea typeface="Calibri" pitchFamily="34" charset="-122"/>
                <a:cs typeface="Calibri" pitchFamily="34" charset="-120"/>
              </a:rPr>
              <a:t>Contact rate alone is worth +17,300 units a year</a:t>
            </a:r>
            <a:endParaRPr lang="en-US" sz="1200" dirty="0"/>
          </a:p>
        </p:txBody>
      </p:sp>
      <p:sp>
        <p:nvSpPr>
          <p:cNvPr id="67" name="Text 62"/>
          <p:cNvSpPr/>
          <p:nvPr/>
        </p:nvSpPr>
        <p:spPr>
          <a:xfrm>
            <a:off x="8275320" y="5577840"/>
            <a:ext cx="3776472" cy="640080"/>
          </a:xfrm>
          <a:prstGeom prst="rect">
            <a:avLst/>
          </a:prstGeom>
          <a:solidFill>
            <a:srgbClr val="A100FF"/>
          </a:solidFill>
          <a:ln w="25400">
            <a:solidFill>
              <a:srgbClr val="2A0A45"/>
            </a:solidFill>
          </a:ln>
        </p:spPr>
        <p:txBody>
          <a:bodyPr wrap="square" lIns="0" tIns="0" rIns="0" bIns="0" rtlCol="0" anchor="ctr"/>
          <a:lstStyle/>
          <a:p>
            <a:pPr algn="ctr" indent="0" marL="0">
              <a:lnSpc>
                <a:spcPct val="98000"/>
              </a:lnSpc>
              <a:buNone/>
            </a:pPr>
            <a:r>
              <a:rPr lang="en-US" sz="1200" b="1" dirty="0">
                <a:solidFill>
                  <a:srgbClr val="FFFFFF"/>
                </a:solidFill>
                <a:latin typeface="Calibri" pitchFamily="34" charset="0"/>
                <a:ea typeface="Calibri" pitchFamily="34" charset="-122"/>
                <a:cs typeface="Calibri" pitchFamily="34" charset="-120"/>
              </a:rPr>
              <a:t>THIS SCORECARD — NOT AN AGENT — IS WHAT FIXES THE 16-HOUR RESPONSE</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137160" y="155448"/>
            <a:ext cx="1874520" cy="41148"/>
          </a:xfrm>
          <a:prstGeom prst="rect">
            <a:avLst/>
          </a:prstGeom>
          <a:solidFill>
            <a:srgbClr val="2A0A45"/>
          </a:solidFill>
          <a:ln w="12700">
            <a:solidFill>
              <a:srgbClr val="333333"/>
            </a:solidFill>
            <a:prstDash val="solid"/>
          </a:ln>
        </p:spPr>
      </p:sp>
      <p:sp>
        <p:nvSpPr>
          <p:cNvPr id="3" name="Shape 1"/>
          <p:cNvSpPr/>
          <p:nvPr/>
        </p:nvSpPr>
        <p:spPr>
          <a:xfrm>
            <a:off x="137160" y="246888"/>
            <a:ext cx="1453896" cy="41148"/>
          </a:xfrm>
          <a:prstGeom prst="rect">
            <a:avLst/>
          </a:prstGeom>
          <a:solidFill>
            <a:srgbClr val="2A0A45"/>
          </a:solidFill>
          <a:ln w="12700">
            <a:solidFill>
              <a:srgbClr val="333333"/>
            </a:solidFill>
            <a:prstDash val="solid"/>
          </a:ln>
        </p:spPr>
      </p:sp>
      <p:sp>
        <p:nvSpPr>
          <p:cNvPr id="4" name="Shape 2"/>
          <p:cNvSpPr/>
          <p:nvPr/>
        </p:nvSpPr>
        <p:spPr>
          <a:xfrm>
            <a:off x="137160" y="338328"/>
            <a:ext cx="1874520" cy="41148"/>
          </a:xfrm>
          <a:prstGeom prst="rect">
            <a:avLst/>
          </a:prstGeom>
          <a:solidFill>
            <a:srgbClr val="2A0A45"/>
          </a:solidFill>
          <a:ln w="12700">
            <a:solidFill>
              <a:srgbClr val="333333"/>
            </a:solidFill>
            <a:prstDash val="solid"/>
          </a:ln>
        </p:spPr>
      </p:sp>
      <p:sp>
        <p:nvSpPr>
          <p:cNvPr id="5" name="Shape 3"/>
          <p:cNvSpPr/>
          <p:nvPr/>
        </p:nvSpPr>
        <p:spPr>
          <a:xfrm>
            <a:off x="10177272" y="155448"/>
            <a:ext cx="1874520" cy="41148"/>
          </a:xfrm>
          <a:prstGeom prst="rect">
            <a:avLst/>
          </a:prstGeom>
          <a:solidFill>
            <a:srgbClr val="2A0A45"/>
          </a:solidFill>
          <a:ln w="12700">
            <a:solidFill>
              <a:srgbClr val="333333"/>
            </a:solidFill>
            <a:prstDash val="solid"/>
          </a:ln>
        </p:spPr>
      </p:sp>
      <p:sp>
        <p:nvSpPr>
          <p:cNvPr id="6" name="Shape 4"/>
          <p:cNvSpPr/>
          <p:nvPr/>
        </p:nvSpPr>
        <p:spPr>
          <a:xfrm>
            <a:off x="10597896" y="246888"/>
            <a:ext cx="1453896" cy="41148"/>
          </a:xfrm>
          <a:prstGeom prst="rect">
            <a:avLst/>
          </a:prstGeom>
          <a:solidFill>
            <a:srgbClr val="2A0A45"/>
          </a:solidFill>
          <a:ln w="12700">
            <a:solidFill>
              <a:srgbClr val="333333"/>
            </a:solidFill>
            <a:prstDash val="solid"/>
          </a:ln>
        </p:spPr>
      </p:sp>
      <p:sp>
        <p:nvSpPr>
          <p:cNvPr id="7" name="Shape 5"/>
          <p:cNvSpPr/>
          <p:nvPr/>
        </p:nvSpPr>
        <p:spPr>
          <a:xfrm>
            <a:off x="10177272" y="338328"/>
            <a:ext cx="1874520" cy="41148"/>
          </a:xfrm>
          <a:prstGeom prst="rect">
            <a:avLst/>
          </a:prstGeom>
          <a:solidFill>
            <a:srgbClr val="2A0A45"/>
          </a:solidFill>
          <a:ln w="12700">
            <a:solidFill>
              <a:srgbClr val="333333"/>
            </a:solidFill>
            <a:prstDash val="solid"/>
          </a:ln>
        </p:spPr>
      </p:sp>
      <p:sp>
        <p:nvSpPr>
          <p:cNvPr id="8" name="Text 6"/>
          <p:cNvSpPr/>
          <p:nvPr/>
        </p:nvSpPr>
        <p:spPr>
          <a:xfrm>
            <a:off x="2057400" y="0"/>
            <a:ext cx="8092440" cy="530352"/>
          </a:xfrm>
          <a:prstGeom prst="rect">
            <a:avLst/>
          </a:prstGeom>
          <a:noFill/>
          <a:ln/>
        </p:spPr>
        <p:txBody>
          <a:bodyPr wrap="square" lIns="0" tIns="0" rIns="0" bIns="0" rtlCol="0" anchor="ctr"/>
          <a:lstStyle/>
          <a:p>
            <a:pPr algn="ctr" indent="0" marL="0">
              <a:buNone/>
            </a:pPr>
            <a:r>
              <a:rPr lang="en-US" sz="2600" b="1" dirty="0">
                <a:solidFill>
                  <a:srgbClr val="000000"/>
                </a:solidFill>
                <a:latin typeface="Calibri" pitchFamily="34" charset="0"/>
                <a:ea typeface="Calibri" pitchFamily="34" charset="-122"/>
                <a:cs typeface="Calibri" pitchFamily="34" charset="-120"/>
              </a:rPr>
              <a:t>THE AI AGENT — TWO JOURNEYS, ONE HUMAN GATE</a:t>
            </a:r>
            <a:endParaRPr lang="en-US" sz="2600" dirty="0"/>
          </a:p>
        </p:txBody>
      </p:sp>
      <p:sp>
        <p:nvSpPr>
          <p:cNvPr id="9" name="Text 7"/>
          <p:cNvSpPr/>
          <p:nvPr/>
        </p:nvSpPr>
        <p:spPr>
          <a:xfrm>
            <a:off x="0" y="548640"/>
            <a:ext cx="12191695" cy="310896"/>
          </a:xfrm>
          <a:prstGeom prst="rect">
            <a:avLst/>
          </a:prstGeom>
          <a:solidFill>
            <a:srgbClr val="A100FF"/>
          </a:solid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PLACED AT THE WARM END WHERE 4 LAKH TEST-DRIVERS WALK — AGENTIC PER THE CASE DEFINITION · DEMO RECORDING: [PASTE LINK]</a:t>
            </a:r>
            <a:endParaRPr lang="en-US" sz="1300" dirty="0"/>
          </a:p>
        </p:txBody>
      </p:sp>
      <p:sp>
        <p:nvSpPr>
          <p:cNvPr id="10" name="Shape 8"/>
          <p:cNvSpPr/>
          <p:nvPr/>
        </p:nvSpPr>
        <p:spPr>
          <a:xfrm>
            <a:off x="0" y="859536"/>
            <a:ext cx="12191695" cy="27432"/>
          </a:xfrm>
          <a:prstGeom prst="rect">
            <a:avLst/>
          </a:prstGeom>
          <a:solidFill>
            <a:srgbClr val="2A0A45"/>
          </a:solidFill>
          <a:ln w="12700">
            <a:solidFill>
              <a:srgbClr val="333333"/>
            </a:solidFill>
            <a:prstDash val="solid"/>
          </a:ln>
        </p:spPr>
      </p:sp>
      <p:sp>
        <p:nvSpPr>
          <p:cNvPr id="11" name="Shape 9"/>
          <p:cNvSpPr/>
          <p:nvPr/>
        </p:nvSpPr>
        <p:spPr>
          <a:xfrm>
            <a:off x="0" y="1783080"/>
            <a:ext cx="12191695" cy="27432"/>
          </a:xfrm>
          <a:prstGeom prst="rect">
            <a:avLst/>
          </a:prstGeom>
          <a:solidFill>
            <a:srgbClr val="2A0A45"/>
          </a:solidFill>
          <a:ln w="12700">
            <a:solidFill>
              <a:srgbClr val="333333"/>
            </a:solidFill>
            <a:prstDash val="solid"/>
          </a:ln>
        </p:spPr>
      </p:sp>
      <p:sp>
        <p:nvSpPr>
          <p:cNvPr id="12" name="Shape 10"/>
          <p:cNvSpPr/>
          <p:nvPr/>
        </p:nvSpPr>
        <p:spPr>
          <a:xfrm>
            <a:off x="0" y="6528816"/>
            <a:ext cx="12191695" cy="329184"/>
          </a:xfrm>
          <a:prstGeom prst="rect">
            <a:avLst/>
          </a:prstGeom>
          <a:solidFill>
            <a:srgbClr val="2A0A45"/>
          </a:solidFill>
          <a:ln w="12700">
            <a:solidFill>
              <a:srgbClr val="333333"/>
            </a:solidFill>
            <a:prstDash val="solid"/>
          </a:ln>
        </p:spPr>
      </p:sp>
      <p:sp>
        <p:nvSpPr>
          <p:cNvPr id="13" name="Text 11"/>
          <p:cNvSpPr/>
          <p:nvPr/>
        </p:nvSpPr>
        <p:spPr>
          <a:xfrm>
            <a:off x="137160" y="6528816"/>
            <a:ext cx="9601200" cy="329184"/>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Agentic AI per the case: plans and carries out pre-approved steps; people stay accountable for customer decisions</a:t>
            </a:r>
            <a:endParaRPr lang="en-US" sz="1200" dirty="0"/>
          </a:p>
        </p:txBody>
      </p:sp>
      <p:sp>
        <p:nvSpPr>
          <p:cNvPr id="14" name="Text 12"/>
          <p:cNvSpPr/>
          <p:nvPr/>
        </p:nvSpPr>
        <p:spPr>
          <a:xfrm>
            <a:off x="10789920" y="6528816"/>
            <a:ext cx="1280160" cy="329184"/>
          </a:xfrm>
          <a:prstGeom prst="rect">
            <a:avLst/>
          </a:prstGeom>
          <a:noFill/>
          <a:ln/>
        </p:spPr>
        <p:txBody>
          <a:bodyPr wrap="square" lIns="0" tIns="0" rIns="0" bIns="0" rtlCol="0" anchor="ctr"/>
          <a:lstStyle/>
          <a:p>
            <a:pPr algn="r" indent="0" marL="0">
              <a:buNone/>
            </a:pPr>
            <a:r>
              <a:rPr lang="en-US" sz="1200" dirty="0">
                <a:solidFill>
                  <a:srgbClr val="FFFFFF"/>
                </a:solidFill>
                <a:latin typeface="Calibri" pitchFamily="34" charset="0"/>
                <a:ea typeface="Calibri" pitchFamily="34" charset="-122"/>
                <a:cs typeface="Calibri" pitchFamily="34" charset="-120"/>
              </a:rPr>
              <a:t>4 / 7</a:t>
            </a:r>
            <a:endParaRPr lang="en-US" sz="1200" dirty="0"/>
          </a:p>
        </p:txBody>
      </p:sp>
      <p:sp>
        <p:nvSpPr>
          <p:cNvPr id="15" name="Shape 13"/>
          <p:cNvSpPr/>
          <p:nvPr/>
        </p:nvSpPr>
        <p:spPr>
          <a:xfrm>
            <a:off x="0" y="886968"/>
            <a:ext cx="1938528" cy="896112"/>
          </a:xfrm>
          <a:prstGeom prst="homePlate">
            <a:avLst/>
          </a:prstGeom>
          <a:solidFill>
            <a:srgbClr val="2A0A45"/>
          </a:solidFill>
          <a:ln w="12700">
            <a:solidFill>
              <a:srgbClr val="333333"/>
            </a:solidFill>
            <a:prstDash val="solid"/>
          </a:ln>
        </p:spPr>
      </p:sp>
      <p:pic>
        <p:nvPicPr>
          <p:cNvPr id="16" name="Image 0" descr="preencoded.png">    </p:cNvPr>
          <p:cNvPicPr>
            <a:picLocks noChangeAspect="1"/>
          </p:cNvPicPr>
          <p:nvPr/>
        </p:nvPicPr>
        <p:blipFill>
          <a:blip r:embed="rId1"/>
          <a:stretch>
            <a:fillRect/>
          </a:stretch>
        </p:blipFill>
        <p:spPr>
          <a:xfrm>
            <a:off x="128016" y="1005840"/>
            <a:ext cx="274320" cy="274320"/>
          </a:xfrm>
          <a:prstGeom prst="rect">
            <a:avLst/>
          </a:prstGeom>
        </p:spPr>
      </p:pic>
      <p:sp>
        <p:nvSpPr>
          <p:cNvPr id="17" name="Text 14"/>
          <p:cNvSpPr/>
          <p:nvPr/>
        </p:nvSpPr>
        <p:spPr>
          <a:xfrm>
            <a:off x="457200" y="905256"/>
            <a:ext cx="1325880" cy="859536"/>
          </a:xfrm>
          <a:prstGeom prst="rect">
            <a:avLst/>
          </a:prstGeom>
          <a:noFill/>
          <a:ln/>
        </p:spPr>
        <p:txBody>
          <a:bodyPr wrap="square" lIns="0" tIns="0" rIns="0" bIns="0" rtlCol="0" anchor="ctr"/>
          <a:lstStyle/>
          <a:p>
            <a:pPr indent="0" marL="0">
              <a:lnSpc>
                <a:spcPct val="100000"/>
              </a:lnSpc>
              <a:buNone/>
            </a:pPr>
            <a:r>
              <a:rPr lang="en-US" sz="1200" b="1" dirty="0">
                <a:solidFill>
                  <a:srgbClr val="FFFFFF"/>
                </a:solidFill>
                <a:latin typeface="Calibri" pitchFamily="34" charset="0"/>
                <a:ea typeface="Calibri" pitchFamily="34" charset="-122"/>
                <a:cs typeface="Calibri" pitchFamily="34" charset="-120"/>
              </a:rPr>
              <a:t>THE</a:t>
            </a:r>
            <a:pPr indent="0" marL="0">
              <a:lnSpc>
                <a:spcPct val="100000"/>
              </a:lnSpc>
              <a:buNone/>
            </a:pPr>
            <a:endParaRPr lang="en-US" sz="1200" dirty="0"/>
          </a:p>
          <a:p>
            <a:pPr indent="0" marL="0">
              <a:lnSpc>
                <a:spcPct val="100000"/>
              </a:lnSpc>
              <a:buNone/>
            </a:pPr>
            <a:r>
              <a:rPr lang="en-US" sz="1200" b="1" dirty="0">
                <a:solidFill>
                  <a:srgbClr val="FFFFFF"/>
                </a:solidFill>
                <a:latin typeface="Calibri" pitchFamily="34" charset="0"/>
                <a:ea typeface="Calibri" pitchFamily="34" charset="-122"/>
                <a:cs typeface="Calibri" pitchFamily="34" charset="-120"/>
              </a:rPr>
              <a:t>WORKFLOW</a:t>
            </a:r>
            <a:endParaRPr lang="en-US" sz="1200" dirty="0"/>
          </a:p>
        </p:txBody>
      </p:sp>
      <p:sp>
        <p:nvSpPr>
          <p:cNvPr id="18" name="Shape 15"/>
          <p:cNvSpPr/>
          <p:nvPr/>
        </p:nvSpPr>
        <p:spPr>
          <a:xfrm>
            <a:off x="2029968" y="932688"/>
            <a:ext cx="1371600" cy="786384"/>
          </a:xfrm>
          <a:prstGeom prst="rect">
            <a:avLst/>
          </a:prstGeom>
          <a:solidFill>
            <a:srgbClr val="F6F1FC"/>
          </a:solidFill>
          <a:ln w="12700">
            <a:solidFill>
              <a:srgbClr val="333333"/>
            </a:solidFill>
            <a:prstDash val="solid"/>
          </a:ln>
        </p:spPr>
      </p:sp>
      <p:sp>
        <p:nvSpPr>
          <p:cNvPr id="19" name="Shape 16"/>
          <p:cNvSpPr/>
          <p:nvPr/>
        </p:nvSpPr>
        <p:spPr>
          <a:xfrm>
            <a:off x="2029968" y="932688"/>
            <a:ext cx="1371600" cy="45720"/>
          </a:xfrm>
          <a:prstGeom prst="rect">
            <a:avLst/>
          </a:prstGeom>
          <a:solidFill>
            <a:srgbClr val="A100FF"/>
          </a:solidFill>
          <a:ln w="12700">
            <a:solidFill>
              <a:srgbClr val="333333"/>
            </a:solidFill>
            <a:prstDash val="solid"/>
          </a:ln>
        </p:spPr>
      </p:sp>
      <p:sp>
        <p:nvSpPr>
          <p:cNvPr id="20" name="Text 17"/>
          <p:cNvSpPr/>
          <p:nvPr/>
        </p:nvSpPr>
        <p:spPr>
          <a:xfrm>
            <a:off x="2084832" y="969264"/>
            <a:ext cx="1280160" cy="731520"/>
          </a:xfrm>
          <a:prstGeom prst="rect">
            <a:avLst/>
          </a:prstGeom>
          <a:noFill/>
          <a:ln/>
        </p:spPr>
        <p:txBody>
          <a:bodyPr wrap="square" lIns="0" tIns="0" rIns="0" bIns="0" rtlCol="0" anchor="t"/>
          <a:lstStyle/>
          <a:p>
            <a:pPr indent="0" marL="0">
              <a:lnSpc>
                <a:spcPct val="95000"/>
              </a:lnSpc>
              <a:buNone/>
            </a:pPr>
            <a:r>
              <a:rPr lang="en-US" sz="1200" b="1" dirty="0">
                <a:solidFill>
                  <a:srgbClr val="6A00B8"/>
                </a:solidFill>
                <a:latin typeface="Calibri" pitchFamily="34" charset="0"/>
                <a:ea typeface="Calibri" pitchFamily="34" charset="-122"/>
                <a:cs typeface="Calibri" pitchFamily="34" charset="-120"/>
              </a:rPr>
              <a:t>1 RESOLVE
</a:t>
            </a:r>
            <a:pPr indent="0" marL="0">
              <a:lnSpc>
                <a:spcPct val="95000"/>
              </a:lnSpc>
              <a:buNone/>
            </a:pPr>
            <a:r>
              <a:rPr lang="en-US" sz="1200" dirty="0">
                <a:solidFill>
                  <a:srgbClr val="3A3838"/>
                </a:solidFill>
                <a:latin typeface="Calibri" pitchFamily="34" charset="0"/>
                <a:ea typeface="Calibri" pitchFamily="34" charset="-122"/>
                <a:cs typeface="Calibri" pitchFamily="34" charset="-120"/>
              </a:rPr>
              <a:t>Joins enquiry, test drive, workshop record</a:t>
            </a:r>
            <a:endParaRPr lang="en-US" sz="1200" dirty="0"/>
          </a:p>
        </p:txBody>
      </p:sp>
      <p:sp>
        <p:nvSpPr>
          <p:cNvPr id="21" name="Shape 18"/>
          <p:cNvSpPr/>
          <p:nvPr/>
        </p:nvSpPr>
        <p:spPr>
          <a:xfrm>
            <a:off x="3479292" y="932688"/>
            <a:ext cx="1371600" cy="786384"/>
          </a:xfrm>
          <a:prstGeom prst="rect">
            <a:avLst/>
          </a:prstGeom>
          <a:solidFill>
            <a:srgbClr val="F6F1FC"/>
          </a:solidFill>
          <a:ln w="12700">
            <a:solidFill>
              <a:srgbClr val="333333"/>
            </a:solidFill>
            <a:prstDash val="solid"/>
          </a:ln>
        </p:spPr>
      </p:sp>
      <p:sp>
        <p:nvSpPr>
          <p:cNvPr id="22" name="Shape 19"/>
          <p:cNvSpPr/>
          <p:nvPr/>
        </p:nvSpPr>
        <p:spPr>
          <a:xfrm>
            <a:off x="3479292" y="932688"/>
            <a:ext cx="1371600" cy="45720"/>
          </a:xfrm>
          <a:prstGeom prst="rect">
            <a:avLst/>
          </a:prstGeom>
          <a:solidFill>
            <a:srgbClr val="A100FF"/>
          </a:solidFill>
          <a:ln w="12700">
            <a:solidFill>
              <a:srgbClr val="333333"/>
            </a:solidFill>
            <a:prstDash val="solid"/>
          </a:ln>
        </p:spPr>
      </p:sp>
      <p:sp>
        <p:nvSpPr>
          <p:cNvPr id="23" name="Text 20"/>
          <p:cNvSpPr/>
          <p:nvPr/>
        </p:nvSpPr>
        <p:spPr>
          <a:xfrm>
            <a:off x="3534156" y="969264"/>
            <a:ext cx="1280160" cy="731520"/>
          </a:xfrm>
          <a:prstGeom prst="rect">
            <a:avLst/>
          </a:prstGeom>
          <a:noFill/>
          <a:ln/>
        </p:spPr>
        <p:txBody>
          <a:bodyPr wrap="square" lIns="0" tIns="0" rIns="0" bIns="0" rtlCol="0" anchor="t"/>
          <a:lstStyle/>
          <a:p>
            <a:pPr indent="0" marL="0">
              <a:lnSpc>
                <a:spcPct val="95000"/>
              </a:lnSpc>
              <a:buNone/>
            </a:pPr>
            <a:r>
              <a:rPr lang="en-US" sz="1200" b="1" dirty="0">
                <a:solidFill>
                  <a:srgbClr val="6A00B8"/>
                </a:solidFill>
                <a:latin typeface="Calibri" pitchFamily="34" charset="0"/>
                <a:ea typeface="Calibri" pitchFamily="34" charset="-122"/>
                <a:cs typeface="Calibri" pitchFamily="34" charset="-120"/>
              </a:rPr>
              <a:t>2 DETECT
</a:t>
            </a:r>
            <a:pPr indent="0" marL="0">
              <a:lnSpc>
                <a:spcPct val="95000"/>
              </a:lnSpc>
              <a:buNone/>
            </a:pPr>
            <a:r>
              <a:rPr lang="en-US" sz="1200" dirty="0">
                <a:solidFill>
                  <a:srgbClr val="3A3838"/>
                </a:solidFill>
                <a:latin typeface="Calibri" pitchFamily="34" charset="0"/>
                <a:ea typeface="Calibri" pitchFamily="34" charset="-122"/>
                <a:cs typeface="Calibri" pitchFamily="34" charset="-120"/>
              </a:rPr>
              <a:t>Why it stalled: finance, exchange, rival, silence</a:t>
            </a:r>
            <a:endParaRPr lang="en-US" sz="1200" dirty="0"/>
          </a:p>
        </p:txBody>
      </p:sp>
      <p:sp>
        <p:nvSpPr>
          <p:cNvPr id="24" name="Shape 21"/>
          <p:cNvSpPr/>
          <p:nvPr/>
        </p:nvSpPr>
        <p:spPr>
          <a:xfrm>
            <a:off x="4928616" y="932688"/>
            <a:ext cx="1371600" cy="786384"/>
          </a:xfrm>
          <a:prstGeom prst="rect">
            <a:avLst/>
          </a:prstGeom>
          <a:solidFill>
            <a:srgbClr val="F6F1FC"/>
          </a:solidFill>
          <a:ln w="12700">
            <a:solidFill>
              <a:srgbClr val="333333"/>
            </a:solidFill>
            <a:prstDash val="solid"/>
          </a:ln>
        </p:spPr>
      </p:sp>
      <p:sp>
        <p:nvSpPr>
          <p:cNvPr id="25" name="Shape 22"/>
          <p:cNvSpPr/>
          <p:nvPr/>
        </p:nvSpPr>
        <p:spPr>
          <a:xfrm>
            <a:off x="4928616" y="932688"/>
            <a:ext cx="1371600" cy="45720"/>
          </a:xfrm>
          <a:prstGeom prst="rect">
            <a:avLst/>
          </a:prstGeom>
          <a:solidFill>
            <a:srgbClr val="A100FF"/>
          </a:solidFill>
          <a:ln w="12700">
            <a:solidFill>
              <a:srgbClr val="333333"/>
            </a:solidFill>
            <a:prstDash val="solid"/>
          </a:ln>
        </p:spPr>
      </p:sp>
      <p:sp>
        <p:nvSpPr>
          <p:cNvPr id="26" name="Text 23"/>
          <p:cNvSpPr/>
          <p:nvPr/>
        </p:nvSpPr>
        <p:spPr>
          <a:xfrm>
            <a:off x="4983480" y="969264"/>
            <a:ext cx="1280160" cy="731520"/>
          </a:xfrm>
          <a:prstGeom prst="rect">
            <a:avLst/>
          </a:prstGeom>
          <a:noFill/>
          <a:ln/>
        </p:spPr>
        <p:txBody>
          <a:bodyPr wrap="square" lIns="0" tIns="0" rIns="0" bIns="0" rtlCol="0" anchor="t"/>
          <a:lstStyle/>
          <a:p>
            <a:pPr indent="0" marL="0">
              <a:lnSpc>
                <a:spcPct val="95000"/>
              </a:lnSpc>
              <a:buNone/>
            </a:pPr>
            <a:r>
              <a:rPr lang="en-US" sz="1200" b="1" dirty="0">
                <a:solidFill>
                  <a:srgbClr val="6A00B8"/>
                </a:solidFill>
                <a:latin typeface="Calibri" pitchFamily="34" charset="0"/>
                <a:ea typeface="Calibri" pitchFamily="34" charset="-122"/>
                <a:cs typeface="Calibri" pitchFamily="34" charset="-120"/>
              </a:rPr>
              <a:t>3 ASSEMBLE
</a:t>
            </a:r>
            <a:pPr indent="0" marL="0">
              <a:lnSpc>
                <a:spcPct val="95000"/>
              </a:lnSpc>
              <a:buNone/>
            </a:pPr>
            <a:r>
              <a:rPr lang="en-US" sz="1200" dirty="0">
                <a:solidFill>
                  <a:srgbClr val="3A3838"/>
                </a:solidFill>
                <a:latin typeface="Calibri" pitchFamily="34" charset="0"/>
                <a:ea typeface="Calibri" pitchFamily="34" charset="-122"/>
                <a:cs typeface="Calibri" pitchFamily="34" charset="-120"/>
              </a:rPr>
              <a:t>One-page brief for the consultant — not a decision</a:t>
            </a:r>
            <a:endParaRPr lang="en-US" sz="1200" dirty="0"/>
          </a:p>
        </p:txBody>
      </p:sp>
      <p:sp>
        <p:nvSpPr>
          <p:cNvPr id="27" name="Shape 24"/>
          <p:cNvSpPr/>
          <p:nvPr/>
        </p:nvSpPr>
        <p:spPr>
          <a:xfrm>
            <a:off x="6377940" y="932688"/>
            <a:ext cx="1371600" cy="786384"/>
          </a:xfrm>
          <a:prstGeom prst="rect">
            <a:avLst/>
          </a:prstGeom>
          <a:solidFill>
            <a:srgbClr val="F6F1FC"/>
          </a:solidFill>
          <a:ln w="12700">
            <a:solidFill>
              <a:srgbClr val="333333"/>
            </a:solidFill>
            <a:prstDash val="solid"/>
          </a:ln>
        </p:spPr>
      </p:sp>
      <p:sp>
        <p:nvSpPr>
          <p:cNvPr id="28" name="Shape 25"/>
          <p:cNvSpPr/>
          <p:nvPr/>
        </p:nvSpPr>
        <p:spPr>
          <a:xfrm>
            <a:off x="6377940" y="932688"/>
            <a:ext cx="1371600" cy="45720"/>
          </a:xfrm>
          <a:prstGeom prst="rect">
            <a:avLst/>
          </a:prstGeom>
          <a:solidFill>
            <a:srgbClr val="A100FF"/>
          </a:solidFill>
          <a:ln w="12700">
            <a:solidFill>
              <a:srgbClr val="333333"/>
            </a:solidFill>
            <a:prstDash val="solid"/>
          </a:ln>
        </p:spPr>
      </p:sp>
      <p:sp>
        <p:nvSpPr>
          <p:cNvPr id="29" name="Text 26"/>
          <p:cNvSpPr/>
          <p:nvPr/>
        </p:nvSpPr>
        <p:spPr>
          <a:xfrm>
            <a:off x="6432804" y="969264"/>
            <a:ext cx="1280160" cy="731520"/>
          </a:xfrm>
          <a:prstGeom prst="rect">
            <a:avLst/>
          </a:prstGeom>
          <a:noFill/>
          <a:ln/>
        </p:spPr>
        <p:txBody>
          <a:bodyPr wrap="square" lIns="0" tIns="0" rIns="0" bIns="0" rtlCol="0" anchor="t"/>
          <a:lstStyle/>
          <a:p>
            <a:pPr indent="0" marL="0">
              <a:lnSpc>
                <a:spcPct val="95000"/>
              </a:lnSpc>
              <a:buNone/>
            </a:pPr>
            <a:r>
              <a:rPr lang="en-US" sz="1200" b="1" dirty="0">
                <a:solidFill>
                  <a:srgbClr val="6A00B8"/>
                </a:solidFill>
                <a:latin typeface="Calibri" pitchFamily="34" charset="0"/>
                <a:ea typeface="Calibri" pitchFamily="34" charset="-122"/>
                <a:cs typeface="Calibri" pitchFamily="34" charset="-120"/>
              </a:rPr>
              <a:t>4 SEQUENCE
</a:t>
            </a:r>
            <a:pPr indent="0" marL="0">
              <a:lnSpc>
                <a:spcPct val="95000"/>
              </a:lnSpc>
              <a:buNone/>
            </a:pPr>
            <a:r>
              <a:rPr lang="en-US" sz="1200" dirty="0">
                <a:solidFill>
                  <a:srgbClr val="3A3838"/>
                </a:solidFill>
                <a:latin typeface="Calibri" pitchFamily="34" charset="0"/>
                <a:ea typeface="Calibri" pitchFamily="34" charset="-122"/>
                <a:cs typeface="Calibri" pitchFamily="34" charset="-120"/>
              </a:rPr>
              <a:t>Books the human call inside the golden 48 hrs</a:t>
            </a:r>
            <a:endParaRPr lang="en-US" sz="1200" dirty="0"/>
          </a:p>
        </p:txBody>
      </p:sp>
      <p:sp>
        <p:nvSpPr>
          <p:cNvPr id="30" name="Shape 27"/>
          <p:cNvSpPr/>
          <p:nvPr/>
        </p:nvSpPr>
        <p:spPr>
          <a:xfrm>
            <a:off x="7827264" y="932688"/>
            <a:ext cx="1371600" cy="786384"/>
          </a:xfrm>
          <a:prstGeom prst="rect">
            <a:avLst/>
          </a:prstGeom>
          <a:solidFill>
            <a:srgbClr val="2A0A45"/>
          </a:solidFill>
          <a:ln w="12700">
            <a:solidFill>
              <a:srgbClr val="333333"/>
            </a:solidFill>
            <a:prstDash val="solid"/>
          </a:ln>
        </p:spPr>
      </p:sp>
      <p:sp>
        <p:nvSpPr>
          <p:cNvPr id="31" name="Shape 28"/>
          <p:cNvSpPr/>
          <p:nvPr/>
        </p:nvSpPr>
        <p:spPr>
          <a:xfrm>
            <a:off x="7827264" y="932688"/>
            <a:ext cx="1371600" cy="45720"/>
          </a:xfrm>
          <a:prstGeom prst="rect">
            <a:avLst/>
          </a:prstGeom>
          <a:solidFill>
            <a:srgbClr val="C98CFF"/>
          </a:solidFill>
          <a:ln w="12700">
            <a:solidFill>
              <a:srgbClr val="333333"/>
            </a:solidFill>
            <a:prstDash val="solid"/>
          </a:ln>
        </p:spPr>
      </p:sp>
      <p:sp>
        <p:nvSpPr>
          <p:cNvPr id="32" name="Text 29"/>
          <p:cNvSpPr/>
          <p:nvPr/>
        </p:nvSpPr>
        <p:spPr>
          <a:xfrm>
            <a:off x="7882128" y="969264"/>
            <a:ext cx="1280160" cy="731520"/>
          </a:xfrm>
          <a:prstGeom prst="rect">
            <a:avLst/>
          </a:prstGeom>
          <a:noFill/>
          <a:ln/>
        </p:spPr>
        <p:txBody>
          <a:bodyPr wrap="square" lIns="0" tIns="0" rIns="0" bIns="0" rtlCol="0" anchor="t"/>
          <a:lstStyle/>
          <a:p>
            <a:pPr indent="0" marL="0">
              <a:lnSpc>
                <a:spcPct val="95000"/>
              </a:lnSpc>
              <a:buNone/>
            </a:pPr>
            <a:r>
              <a:rPr lang="en-US" sz="1200" b="1" dirty="0">
                <a:solidFill>
                  <a:srgbClr val="C98CFF"/>
                </a:solidFill>
                <a:latin typeface="Calibri" pitchFamily="34" charset="0"/>
                <a:ea typeface="Calibri" pitchFamily="34" charset="-122"/>
                <a:cs typeface="Calibri" pitchFamily="34" charset="-120"/>
              </a:rPr>
              <a:t>GATE · HUMAN
</a:t>
            </a:r>
            <a:pPr indent="0" marL="0">
              <a:lnSpc>
                <a:spcPct val="95000"/>
              </a:lnSpc>
              <a:buNone/>
            </a:pPr>
            <a:r>
              <a:rPr lang="en-US" sz="1200" dirty="0">
                <a:solidFill>
                  <a:srgbClr val="FFFFFF"/>
                </a:solidFill>
                <a:latin typeface="Calibri" pitchFamily="34" charset="0"/>
                <a:ea typeface="Calibri" pitchFamily="34" charset="-122"/>
                <a:cs typeface="Calibri" pitchFamily="34" charset="-120"/>
              </a:rPr>
              <a:t>Consultant owns the talk, price, exchange, close</a:t>
            </a:r>
            <a:endParaRPr lang="en-US" sz="1200" dirty="0"/>
          </a:p>
        </p:txBody>
      </p:sp>
      <p:sp>
        <p:nvSpPr>
          <p:cNvPr id="33" name="Shape 30"/>
          <p:cNvSpPr/>
          <p:nvPr/>
        </p:nvSpPr>
        <p:spPr>
          <a:xfrm>
            <a:off x="9276588" y="932688"/>
            <a:ext cx="1371600" cy="786384"/>
          </a:xfrm>
          <a:prstGeom prst="rect">
            <a:avLst/>
          </a:prstGeom>
          <a:solidFill>
            <a:srgbClr val="F6F1FC"/>
          </a:solidFill>
          <a:ln w="12700">
            <a:solidFill>
              <a:srgbClr val="333333"/>
            </a:solidFill>
            <a:prstDash val="solid"/>
          </a:ln>
        </p:spPr>
      </p:sp>
      <p:sp>
        <p:nvSpPr>
          <p:cNvPr id="34" name="Shape 31"/>
          <p:cNvSpPr/>
          <p:nvPr/>
        </p:nvSpPr>
        <p:spPr>
          <a:xfrm>
            <a:off x="9276588" y="932688"/>
            <a:ext cx="1371600" cy="45720"/>
          </a:xfrm>
          <a:prstGeom prst="rect">
            <a:avLst/>
          </a:prstGeom>
          <a:solidFill>
            <a:srgbClr val="A100FF"/>
          </a:solidFill>
          <a:ln w="12700">
            <a:solidFill>
              <a:srgbClr val="333333"/>
            </a:solidFill>
            <a:prstDash val="solid"/>
          </a:ln>
        </p:spPr>
      </p:sp>
      <p:sp>
        <p:nvSpPr>
          <p:cNvPr id="35" name="Text 32"/>
          <p:cNvSpPr/>
          <p:nvPr/>
        </p:nvSpPr>
        <p:spPr>
          <a:xfrm>
            <a:off x="9331452" y="969264"/>
            <a:ext cx="1280160" cy="731520"/>
          </a:xfrm>
          <a:prstGeom prst="rect">
            <a:avLst/>
          </a:prstGeom>
          <a:noFill/>
          <a:ln/>
        </p:spPr>
        <p:txBody>
          <a:bodyPr wrap="square" lIns="0" tIns="0" rIns="0" bIns="0" rtlCol="0" anchor="t"/>
          <a:lstStyle/>
          <a:p>
            <a:pPr indent="0" marL="0">
              <a:lnSpc>
                <a:spcPct val="95000"/>
              </a:lnSpc>
              <a:buNone/>
            </a:pPr>
            <a:r>
              <a:rPr lang="en-US" sz="1200" b="1" dirty="0">
                <a:solidFill>
                  <a:srgbClr val="6A00B8"/>
                </a:solidFill>
                <a:latin typeface="Calibri" pitchFamily="34" charset="0"/>
                <a:ea typeface="Calibri" pitchFamily="34" charset="-122"/>
                <a:cs typeface="Calibri" pitchFamily="34" charset="-120"/>
              </a:rPr>
              <a:t>5 REACTIVATE
</a:t>
            </a:r>
            <a:pPr indent="0" marL="0">
              <a:lnSpc>
                <a:spcPct val="95000"/>
              </a:lnSpc>
              <a:buNone/>
            </a:pPr>
            <a:r>
              <a:rPr lang="en-US" sz="1200" dirty="0">
                <a:solidFill>
                  <a:srgbClr val="3A3838"/>
                </a:solidFill>
                <a:latin typeface="Calibri" pitchFamily="34" charset="0"/>
                <a:ea typeface="Calibri" pitchFamily="34" charset="-122"/>
                <a:cs typeface="Calibri" pitchFamily="34" charset="-120"/>
              </a:rPr>
              <a:t>Same agent — service-due advisory and slot</a:t>
            </a:r>
            <a:endParaRPr lang="en-US" sz="1200" dirty="0"/>
          </a:p>
        </p:txBody>
      </p:sp>
      <p:sp>
        <p:nvSpPr>
          <p:cNvPr id="36" name="Shape 33"/>
          <p:cNvSpPr/>
          <p:nvPr/>
        </p:nvSpPr>
        <p:spPr>
          <a:xfrm>
            <a:off x="10725912" y="932688"/>
            <a:ext cx="1371600" cy="786384"/>
          </a:xfrm>
          <a:prstGeom prst="rect">
            <a:avLst/>
          </a:prstGeom>
          <a:solidFill>
            <a:srgbClr val="F6F1FC"/>
          </a:solidFill>
          <a:ln w="12700">
            <a:solidFill>
              <a:srgbClr val="333333"/>
            </a:solidFill>
            <a:prstDash val="solid"/>
          </a:ln>
        </p:spPr>
      </p:sp>
      <p:sp>
        <p:nvSpPr>
          <p:cNvPr id="37" name="Shape 34"/>
          <p:cNvSpPr/>
          <p:nvPr/>
        </p:nvSpPr>
        <p:spPr>
          <a:xfrm>
            <a:off x="10725912" y="932688"/>
            <a:ext cx="1371600" cy="45720"/>
          </a:xfrm>
          <a:prstGeom prst="rect">
            <a:avLst/>
          </a:prstGeom>
          <a:solidFill>
            <a:srgbClr val="A100FF"/>
          </a:solidFill>
          <a:ln w="12700">
            <a:solidFill>
              <a:srgbClr val="333333"/>
            </a:solidFill>
            <a:prstDash val="solid"/>
          </a:ln>
        </p:spPr>
      </p:sp>
      <p:sp>
        <p:nvSpPr>
          <p:cNvPr id="38" name="Text 35"/>
          <p:cNvSpPr/>
          <p:nvPr/>
        </p:nvSpPr>
        <p:spPr>
          <a:xfrm>
            <a:off x="10780776" y="969264"/>
            <a:ext cx="1280160" cy="731520"/>
          </a:xfrm>
          <a:prstGeom prst="rect">
            <a:avLst/>
          </a:prstGeom>
          <a:noFill/>
          <a:ln/>
        </p:spPr>
        <p:txBody>
          <a:bodyPr wrap="square" lIns="0" tIns="0" rIns="0" bIns="0" rtlCol="0" anchor="t"/>
          <a:lstStyle/>
          <a:p>
            <a:pPr indent="0" marL="0">
              <a:lnSpc>
                <a:spcPct val="95000"/>
              </a:lnSpc>
              <a:buNone/>
            </a:pPr>
            <a:r>
              <a:rPr lang="en-US" sz="1200" b="1" dirty="0">
                <a:solidFill>
                  <a:srgbClr val="6A00B8"/>
                </a:solidFill>
                <a:latin typeface="Calibri" pitchFamily="34" charset="0"/>
                <a:ea typeface="Calibri" pitchFamily="34" charset="-122"/>
                <a:cs typeface="Calibri" pitchFamily="34" charset="-120"/>
              </a:rPr>
              <a:t>6 LOG
</a:t>
            </a:r>
            <a:pPr indent="0" marL="0">
              <a:lnSpc>
                <a:spcPct val="95000"/>
              </a:lnSpc>
              <a:buNone/>
            </a:pPr>
            <a:r>
              <a:rPr lang="en-US" sz="1200" dirty="0">
                <a:solidFill>
                  <a:srgbClr val="3A3838"/>
                </a:solidFill>
                <a:latin typeface="Calibri" pitchFamily="34" charset="0"/>
                <a:ea typeface="Calibri" pitchFamily="34" charset="-122"/>
                <a:cs typeface="Calibri" pitchFamily="34" charset="-120"/>
              </a:rPr>
              <a:t>One ledger entry, traceable to a named owner</a:t>
            </a:r>
            <a:endParaRPr lang="en-US" sz="1200" dirty="0"/>
          </a:p>
        </p:txBody>
      </p:sp>
      <p:sp>
        <p:nvSpPr>
          <p:cNvPr id="39" name="Shape 36"/>
          <p:cNvSpPr/>
          <p:nvPr/>
        </p:nvSpPr>
        <p:spPr>
          <a:xfrm>
            <a:off x="4123944" y="1874520"/>
            <a:ext cx="13716" cy="4526280"/>
          </a:xfrm>
          <a:prstGeom prst="rect">
            <a:avLst/>
          </a:prstGeom>
          <a:solidFill>
            <a:srgbClr val="DCD4E8"/>
          </a:solidFill>
          <a:ln w="12700">
            <a:solidFill>
              <a:srgbClr val="333333"/>
            </a:solidFill>
            <a:prstDash val="solid"/>
          </a:ln>
        </p:spPr>
      </p:sp>
      <p:sp>
        <p:nvSpPr>
          <p:cNvPr id="40" name="Shape 37"/>
          <p:cNvSpPr/>
          <p:nvPr/>
        </p:nvSpPr>
        <p:spPr>
          <a:xfrm>
            <a:off x="8174736" y="1874520"/>
            <a:ext cx="13716" cy="4526280"/>
          </a:xfrm>
          <a:prstGeom prst="rect">
            <a:avLst/>
          </a:prstGeom>
          <a:solidFill>
            <a:srgbClr val="DCD4E8"/>
          </a:solidFill>
          <a:ln w="12700">
            <a:solidFill>
              <a:srgbClr val="333333"/>
            </a:solidFill>
            <a:prstDash val="solid"/>
          </a:ln>
        </p:spPr>
      </p:sp>
      <p:sp>
        <p:nvSpPr>
          <p:cNvPr id="41" name="Shape 38"/>
          <p:cNvSpPr/>
          <p:nvPr/>
        </p:nvSpPr>
        <p:spPr>
          <a:xfrm>
            <a:off x="137160" y="1920240"/>
            <a:ext cx="292608" cy="292608"/>
          </a:xfrm>
          <a:prstGeom prst="ellipse">
            <a:avLst/>
          </a:prstGeom>
          <a:solidFill>
            <a:srgbClr val="A100FF"/>
          </a:solidFill>
          <a:ln w="12700">
            <a:solidFill>
              <a:srgbClr val="333333"/>
            </a:solidFill>
            <a:prstDash val="solid"/>
          </a:ln>
        </p:spPr>
      </p:sp>
      <p:sp>
        <p:nvSpPr>
          <p:cNvPr id="42" name="Text 39"/>
          <p:cNvSpPr/>
          <p:nvPr/>
        </p:nvSpPr>
        <p:spPr>
          <a:xfrm>
            <a:off x="137160" y="1920240"/>
            <a:ext cx="292608" cy="29260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43" name="Text 40"/>
          <p:cNvSpPr/>
          <p:nvPr/>
        </p:nvSpPr>
        <p:spPr>
          <a:xfrm>
            <a:off x="521208" y="1929384"/>
            <a:ext cx="3474720" cy="292608"/>
          </a:xfrm>
          <a:prstGeom prst="rect">
            <a:avLst/>
          </a:prstGeom>
          <a:noFill/>
          <a:ln/>
        </p:spPr>
        <p:txBody>
          <a:bodyPr wrap="square" lIns="0" tIns="0" rIns="0" bIns="0" rtlCol="0" anchor="ctr"/>
          <a:lstStyle/>
          <a:p>
            <a:pPr indent="0" marL="0">
              <a:buNone/>
            </a:pPr>
            <a:r>
              <a:rPr lang="en-US" sz="1350" b="1" dirty="0">
                <a:solidFill>
                  <a:srgbClr val="2A0A45"/>
                </a:solidFill>
                <a:latin typeface="Calibri" pitchFamily="34" charset="0"/>
                <a:ea typeface="Calibri" pitchFamily="34" charset="-122"/>
                <a:cs typeface="Calibri" pitchFamily="34" charset="-120"/>
              </a:rPr>
              <a:t>Why the warm end, not the front door</a:t>
            </a:r>
            <a:endParaRPr lang="en-US" sz="1350" dirty="0"/>
          </a:p>
        </p:txBody>
      </p:sp>
      <p:sp>
        <p:nvSpPr>
          <p:cNvPr id="44" name="Text 41"/>
          <p:cNvSpPr/>
          <p:nvPr/>
        </p:nvSpPr>
        <p:spPr>
          <a:xfrm>
            <a:off x="137160" y="2304288"/>
            <a:ext cx="3904488" cy="786384"/>
          </a:xfrm>
          <a:prstGeom prst="rect">
            <a:avLst/>
          </a:prstGeom>
          <a:noFill/>
          <a:ln/>
        </p:spPr>
        <p:txBody>
          <a:bodyPr wrap="square" lIns="0" tIns="0" rIns="0" bIns="0" rtlCol="0" anchor="ctr"/>
          <a:lstStyle/>
          <a:p>
            <a:pPr indent="0" marL="0">
              <a:lnSpc>
                <a:spcPct val="98000"/>
              </a:lnSpc>
              <a:buNone/>
            </a:pPr>
            <a:r>
              <a:rPr lang="en-US" sz="1200" dirty="0">
                <a:solidFill>
                  <a:srgbClr val="3A3838"/>
                </a:solidFill>
                <a:latin typeface="Calibri" pitchFamily="34" charset="0"/>
                <a:ea typeface="Calibri" pitchFamily="34" charset="-122"/>
                <a:cs typeface="Calibri" pitchFamily="34" charset="-120"/>
              </a:rPr>
              <a:t>The front door is slow because </a:t>
            </a:r>
            <a:pPr indent="0" marL="0">
              <a:lnSpc>
                <a:spcPct val="98000"/>
              </a:lnSpc>
              <a:buNone/>
            </a:pPr>
            <a:r>
              <a:rPr lang="en-US" sz="1200" b="1" dirty="0">
                <a:solidFill>
                  <a:srgbClr val="3A3838"/>
                </a:solidFill>
                <a:latin typeface="Calibri" pitchFamily="34" charset="0"/>
                <a:ea typeface="Calibri" pitchFamily="34" charset="-122"/>
                <a:cs typeface="Calibri" pitchFamily="34" charset="-120"/>
              </a:rPr>
              <a:t>nobody is measured on it</a:t>
            </a:r>
            <a:pPr indent="0" marL="0">
              <a:lnSpc>
                <a:spcPct val="98000"/>
              </a:lnSpc>
              <a:buNone/>
            </a:pPr>
            <a:r>
              <a:rPr lang="en-US" sz="1200" dirty="0">
                <a:solidFill>
                  <a:srgbClr val="3A3838"/>
                </a:solidFill>
                <a:latin typeface="Calibri" pitchFamily="34" charset="0"/>
                <a:ea typeface="Calibri" pitchFamily="34" charset="-122"/>
                <a:cs typeface="Calibri" pitchFamily="34" charset="-120"/>
              </a:rPr>
              <a:t> — the Q1 scorecard fixes that, credited at </a:t>
            </a:r>
            <a:pPr indent="0" marL="0">
              <a:lnSpc>
                <a:spcPct val="98000"/>
              </a:lnSpc>
              <a:buNone/>
            </a:pPr>
            <a:r>
              <a:rPr lang="en-US" sz="1200" b="1" dirty="0">
                <a:solidFill>
                  <a:srgbClr val="A100FF"/>
                </a:solidFill>
                <a:latin typeface="Calibri" pitchFamily="34" charset="0"/>
                <a:ea typeface="Calibri" pitchFamily="34" charset="-122"/>
                <a:cs typeface="Calibri" pitchFamily="34" charset="-120"/>
              </a:rPr>
              <a:t>+17,300 units</a:t>
            </a:r>
            <a:pPr indent="0" marL="0">
              <a:lnSpc>
                <a:spcPct val="98000"/>
              </a:lnSpc>
              <a:buNone/>
            </a:pPr>
            <a:r>
              <a:rPr lang="en-US" sz="1200" dirty="0">
                <a:solidFill>
                  <a:srgbClr val="3A3838"/>
                </a:solidFill>
                <a:latin typeface="Calibri" pitchFamily="34" charset="0"/>
                <a:ea typeface="Calibri" pitchFamily="34" charset="-122"/>
                <a:cs typeface="Calibri" pitchFamily="34" charset="-120"/>
              </a:rPr>
              <a:t> in the process tier.</a:t>
            </a:r>
            <a:endParaRPr lang="en-US" sz="1200" dirty="0"/>
          </a:p>
        </p:txBody>
      </p:sp>
      <p:sp>
        <p:nvSpPr>
          <p:cNvPr id="45" name="Text 42"/>
          <p:cNvSpPr/>
          <p:nvPr/>
        </p:nvSpPr>
        <p:spPr>
          <a:xfrm>
            <a:off x="137160" y="3145536"/>
            <a:ext cx="3904488" cy="1097280"/>
          </a:xfrm>
          <a:prstGeom prst="rect">
            <a:avLst/>
          </a:prstGeom>
          <a:noFill/>
          <a:ln/>
        </p:spPr>
        <p:txBody>
          <a:bodyPr wrap="square" lIns="0" tIns="0" rIns="0" bIns="0" rtlCol="0" anchor="ctr"/>
          <a:lstStyle/>
          <a:p>
            <a:pPr indent="0" marL="0">
              <a:lnSpc>
                <a:spcPct val="98000"/>
              </a:lnSpc>
              <a:buNone/>
            </a:pPr>
            <a:r>
              <a:rPr lang="en-US" sz="1200" dirty="0">
                <a:solidFill>
                  <a:srgbClr val="3A3838"/>
                </a:solidFill>
                <a:latin typeface="Calibri" pitchFamily="34" charset="0"/>
                <a:ea typeface="Calibri" pitchFamily="34" charset="-122"/>
                <a:cs typeface="Calibri" pitchFamily="34" charset="-120"/>
              </a:rPr>
              <a:t>The warm end needs </a:t>
            </a:r>
            <a:pPr indent="0" marL="0">
              <a:lnSpc>
                <a:spcPct val="98000"/>
              </a:lnSpc>
              <a:buNone/>
            </a:pPr>
            <a:r>
              <a:rPr lang="en-US" sz="1200" b="1" dirty="0">
                <a:solidFill>
                  <a:srgbClr val="A100FF"/>
                </a:solidFill>
                <a:latin typeface="Calibri" pitchFamily="34" charset="0"/>
                <a:ea typeface="Calibri" pitchFamily="34" charset="-122"/>
                <a:cs typeface="Calibri" pitchFamily="34" charset="-120"/>
              </a:rPr>
              <a:t>discrimination</a:t>
            </a:r>
            <a:pPr indent="0" marL="0">
              <a:lnSpc>
                <a:spcPct val="98000"/>
              </a:lnSpc>
              <a:buNone/>
            </a:pPr>
            <a:r>
              <a:rPr lang="en-US" sz="1200" dirty="0">
                <a:solidFill>
                  <a:srgbClr val="3A3838"/>
                </a:solidFill>
                <a:latin typeface="Calibri" pitchFamily="34" charset="0"/>
                <a:ea typeface="Calibri" pitchFamily="34" charset="-122"/>
                <a:cs typeface="Calibri" pitchFamily="34" charset="-120"/>
              </a:rPr>
              <a:t>: which of 6.5 lakh test-drivers is finance-constrained, blocked on exchange value, or cross-shopping a named rival — inside the 48 hours where the decision is made. </a:t>
            </a:r>
            <a:pPr indent="0" marL="0">
              <a:lnSpc>
                <a:spcPct val="98000"/>
              </a:lnSpc>
              <a:buNone/>
            </a:pPr>
            <a:r>
              <a:rPr lang="en-US" sz="1200" b="1" dirty="0">
                <a:solidFill>
                  <a:srgbClr val="3A3838"/>
                </a:solidFill>
                <a:latin typeface="Calibri" pitchFamily="34" charset="0"/>
                <a:ea typeface="Calibri" pitchFamily="34" charset="-122"/>
                <a:cs typeface="Calibri" pitchFamily="34" charset="-120"/>
              </a:rPr>
              <a:t>No human does that at that scale.</a:t>
            </a:r>
            <a:pPr indent="0" marL="0">
              <a:lnSpc>
                <a:spcPct val="98000"/>
              </a:lnSpc>
              <a:buNone/>
            </a:pPr>
            <a:endParaRPr lang="en-US" sz="1200" dirty="0"/>
          </a:p>
        </p:txBody>
      </p:sp>
      <p:sp>
        <p:nvSpPr>
          <p:cNvPr id="46" name="Text 43"/>
          <p:cNvSpPr/>
          <p:nvPr/>
        </p:nvSpPr>
        <p:spPr>
          <a:xfrm>
            <a:off x="137160" y="4334256"/>
            <a:ext cx="3904488" cy="603504"/>
          </a:xfrm>
          <a:prstGeom prst="rect">
            <a:avLst/>
          </a:prstGeom>
          <a:solidFill>
            <a:srgbClr val="A100FF"/>
          </a:solidFill>
          <a:ln w="25400">
            <a:solidFill>
              <a:srgbClr val="2A0A45"/>
            </a:solidFill>
          </a:ln>
        </p:spPr>
        <p:txBody>
          <a:bodyPr wrap="square" lIns="0" tIns="0" rIns="0" bIns="0" rtlCol="0" anchor="ctr"/>
          <a:lstStyle/>
          <a:p>
            <a:pPr algn="ctr" indent="0" marL="0">
              <a:lnSpc>
                <a:spcPct val="98000"/>
              </a:lnSpc>
              <a:buNone/>
            </a:pPr>
            <a:r>
              <a:rPr lang="en-US" sz="1200" b="1" dirty="0">
                <a:solidFill>
                  <a:srgbClr val="FFFFFF"/>
                </a:solidFill>
                <a:latin typeface="Calibri" pitchFamily="34" charset="0"/>
                <a:ea typeface="Calibri" pitchFamily="34" charset="-122"/>
                <a:cs typeface="Calibri" pitchFamily="34" charset="-120"/>
              </a:rPr>
              <a:t>TWICE THE UNITS OF A SPEED FIX, ON PROSPECTS ALREADY PAID FOR TWICE</a:t>
            </a:r>
            <a:endParaRPr lang="en-US" sz="1200" dirty="0"/>
          </a:p>
        </p:txBody>
      </p:sp>
      <p:sp>
        <p:nvSpPr>
          <p:cNvPr id="47" name="Text 44"/>
          <p:cNvSpPr/>
          <p:nvPr/>
        </p:nvSpPr>
        <p:spPr>
          <a:xfrm>
            <a:off x="137160" y="5065776"/>
            <a:ext cx="3904488" cy="1005840"/>
          </a:xfrm>
          <a:prstGeom prst="rect">
            <a:avLst/>
          </a:prstGeom>
          <a:solidFill>
            <a:srgbClr val="F6F1FC"/>
          </a:solidFill>
          <a:ln w="19050">
            <a:solidFill>
              <a:srgbClr val="A100FF"/>
            </a:solidFill>
          </a:ln>
        </p:spPr>
        <p:txBody>
          <a:bodyPr wrap="square" lIns="1270" tIns="1270" rIns="1270" bIns="1270" rtlCol="0" anchor="ctr"/>
          <a:lstStyle/>
          <a:p>
            <a:pPr indent="0" marL="0">
              <a:lnSpc>
                <a:spcPct val="98000"/>
              </a:lnSpc>
              <a:buNone/>
            </a:pPr>
            <a:r>
              <a:rPr lang="en-US" sz="1200" dirty="0">
                <a:solidFill>
                  <a:srgbClr val="000000"/>
                </a:solidFill>
                <a:latin typeface="Calibri" pitchFamily="34" charset="0"/>
                <a:ea typeface="Calibri" pitchFamily="34" charset="-122"/>
                <a:cs typeface="Calibri" pitchFamily="34" charset="-120"/>
              </a:rPr>
              <a:t>The consultant's number: </a:t>
            </a:r>
            <a:pPr indent="0" marL="0">
              <a:lnSpc>
                <a:spcPct val="98000"/>
              </a:lnSpc>
              <a:buNone/>
            </a:pPr>
            <a:r>
              <a:rPr lang="en-US" sz="1200" b="1" dirty="0">
                <a:solidFill>
                  <a:srgbClr val="A100FF"/>
                </a:solidFill>
                <a:latin typeface="Calibri" pitchFamily="34" charset="0"/>
                <a:ea typeface="Calibri" pitchFamily="34" charset="-122"/>
                <a:cs typeface="Calibri" pitchFamily="34" charset="-120"/>
              </a:rPr>
              <a:t>an early estimate of 30–40 minutes a day back</a:t>
            </a:r>
            <a:pPr indent="0" marL="0">
              <a:lnSpc>
                <a:spcPct val="98000"/>
              </a:lnSpc>
              <a:buNone/>
            </a:pPr>
            <a:r>
              <a:rPr lang="en-US" sz="1200" dirty="0">
                <a:solidFill>
                  <a:srgbClr val="000000"/>
                </a:solidFill>
                <a:latin typeface="Calibri" pitchFamily="34" charset="0"/>
                <a:ea typeface="Calibri" pitchFamily="34" charset="-122"/>
                <a:cs typeface="Calibri" pitchFamily="34" charset="-120"/>
              </a:rPr>
              <a:t> from note-writing, follow-up chasing and status updates — </a:t>
            </a:r>
            <a:pPr indent="0" marL="0">
              <a:lnSpc>
                <a:spcPct val="98000"/>
              </a:lnSpc>
              <a:buNone/>
            </a:pPr>
            <a:r>
              <a:rPr lang="en-US" sz="1200" b="1" dirty="0">
                <a:solidFill>
                  <a:srgbClr val="3A3838"/>
                </a:solidFill>
                <a:latin typeface="Calibri" pitchFamily="34" charset="0"/>
                <a:ea typeface="Calibri" pitchFamily="34" charset="-122"/>
                <a:cs typeface="Calibri" pitchFamily="34" charset="-120"/>
              </a:rPr>
              <a:t>to be confirmed in the Q2 time-and-motion study</a:t>
            </a:r>
            <a:pPr indent="0" marL="0">
              <a:lnSpc>
                <a:spcPct val="98000"/>
              </a:lnSpc>
              <a:buNone/>
            </a:pPr>
            <a:r>
              <a:rPr lang="en-US" sz="1200" dirty="0">
                <a:solidFill>
                  <a:srgbClr val="000000"/>
                </a:solidFill>
                <a:latin typeface="Calibri" pitchFamily="34" charset="0"/>
                <a:ea typeface="Calibri" pitchFamily="34" charset="-122"/>
                <a:cs typeface="Calibri" pitchFamily="34" charset="-120"/>
              </a:rPr>
              <a:t>. This is the sentence that wins the shop floor.</a:t>
            </a:r>
            <a:endParaRPr lang="en-US" sz="1200" dirty="0"/>
          </a:p>
        </p:txBody>
      </p:sp>
      <p:sp>
        <p:nvSpPr>
          <p:cNvPr id="48" name="Shape 45"/>
          <p:cNvSpPr/>
          <p:nvPr/>
        </p:nvSpPr>
        <p:spPr>
          <a:xfrm>
            <a:off x="4224528" y="1920240"/>
            <a:ext cx="292608" cy="292608"/>
          </a:xfrm>
          <a:prstGeom prst="ellipse">
            <a:avLst/>
          </a:prstGeom>
          <a:solidFill>
            <a:srgbClr val="A100FF"/>
          </a:solidFill>
          <a:ln w="12700">
            <a:solidFill>
              <a:srgbClr val="333333"/>
            </a:solidFill>
            <a:prstDash val="solid"/>
          </a:ln>
        </p:spPr>
      </p:sp>
      <p:sp>
        <p:nvSpPr>
          <p:cNvPr id="49" name="Text 46"/>
          <p:cNvSpPr/>
          <p:nvPr/>
        </p:nvSpPr>
        <p:spPr>
          <a:xfrm>
            <a:off x="4224528" y="1920240"/>
            <a:ext cx="292608" cy="29260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50" name="Text 47"/>
          <p:cNvSpPr/>
          <p:nvPr/>
        </p:nvSpPr>
        <p:spPr>
          <a:xfrm>
            <a:off x="4608576" y="1929384"/>
            <a:ext cx="3474720" cy="292608"/>
          </a:xfrm>
          <a:prstGeom prst="rect">
            <a:avLst/>
          </a:prstGeom>
          <a:noFill/>
          <a:ln/>
        </p:spPr>
        <p:txBody>
          <a:bodyPr wrap="square" lIns="0" tIns="0" rIns="0" bIns="0" rtlCol="0" anchor="ctr"/>
          <a:lstStyle/>
          <a:p>
            <a:pPr indent="0" marL="0">
              <a:buNone/>
            </a:pPr>
            <a:r>
              <a:rPr lang="en-US" sz="1350" b="1" dirty="0">
                <a:solidFill>
                  <a:srgbClr val="2A0A45"/>
                </a:solidFill>
                <a:latin typeface="Calibri" pitchFamily="34" charset="0"/>
                <a:ea typeface="Calibri" pitchFamily="34" charset="-122"/>
                <a:cs typeface="Calibri" pitchFamily="34" charset="-120"/>
              </a:rPr>
              <a:t>What it converts into units</a:t>
            </a:r>
            <a:endParaRPr lang="en-US" sz="1350" dirty="0"/>
          </a:p>
        </p:txBody>
      </p:sp>
      <p:graphicFrame>
        <p:nvGraphicFramePr>
          <p:cNvPr id="51" name="Chart 0" descr=""/>
          <p:cNvGraphicFramePr/>
          <p:nvPr/>
        </p:nvGraphicFramePr>
        <p:xfrm>
          <a:off x="4224528" y="2249424"/>
          <a:ext cx="3867912" cy="1783080"/>
        </p:xfrm>
        <a:graphic xmlns:a="http://schemas.openxmlformats.org/drawingml/2006/main">
          <a:graphicData uri="http://schemas.openxmlformats.org/drawingml/2006/chart">
            <c:chart xmlns:c="http://schemas.openxmlformats.org/drawingml/2006/chart" r:id="rId2"/>
          </a:graphicData>
        </a:graphic>
      </p:graphicFrame>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224528" y="4114800"/>
          <a:ext cx="3867912" cy="914400"/>
        </p:xfrm>
        <a:graphic>
          <a:graphicData uri="http://schemas.openxmlformats.org/drawingml/2006/table">
            <a:tbl>
              <a:tblPr/>
              <a:tblGrid>
                <a:gridCol w="2679192"/>
                <a:gridCol w="1188720"/>
              </a:tblGrid>
              <a:tr h="228600">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Bridge</a:t>
                      </a:r>
                      <a:endParaRPr lang="en-US" sz="1200" dirty="0">
                        <a:latin typeface="Calibri" charset="0"/>
                        <a:ea typeface="Calibri" charset="0"/>
                        <a:cs typeface="Calibri" charset="0"/>
                      </a:endParaRPr>
                    </a:p>
                  </a:txBody>
                  <a:tcPr marL="36576" marR="36576" marT="36576" marB="36576" anchor="ctr">
                    <a:lnL w="9525" cap="flat" cmpd="sng" algn="ctr">
                      <a:solidFill>
                        <a:srgbClr val="DCD4E8"/>
                      </a:solidFill>
                      <a:prstDash val="solid"/>
                      <a:round/>
                      <a:headEnd type="none" w="med" len="med"/>
                      <a:tailEnd type="none" w="med" len="med"/>
                    </a:lnL>
                    <a:lnR w="9525" cap="flat" cmpd="sng" algn="ctr">
                      <a:solidFill>
                        <a:srgbClr val="DCD4E8"/>
                      </a:solidFill>
                      <a:prstDash val="solid"/>
                      <a:round/>
                      <a:headEnd type="none" w="med" len="med"/>
                      <a:tailEnd type="none" w="med" len="med"/>
                    </a:lnR>
                    <a:lnT w="9525" cap="flat" cmpd="sng" algn="ctr">
                      <a:solidFill>
                        <a:srgbClr val="DCD4E8"/>
                      </a:solidFill>
                      <a:prstDash val="solid"/>
                      <a:round/>
                      <a:headEnd type="none" w="med" len="med"/>
                      <a:tailEnd type="none" w="med" len="med"/>
                    </a:lnT>
                    <a:lnB w="9525" cap="flat" cmpd="sng" algn="ctr">
                      <a:solidFill>
                        <a:srgbClr val="DCD4E8"/>
                      </a:solidFill>
                      <a:prstDash val="solid"/>
                      <a:round/>
                      <a:headEnd type="none" w="med" len="med"/>
                      <a:tailEnd type="none" w="med" len="med"/>
                    </a:lnB>
                    <a:solidFill>
                      <a:srgbClr val="2A0A45"/>
                    </a:solidFill>
                  </a:tcPr>
                </a:tc>
                <a:tc>
                  <a:txBody>
                    <a:bodyPr/>
                    <a:lstStyle/>
                    <a:p>
                      <a:pPr algn="r" indent="0" marL="0">
                        <a:buNone/>
                      </a:pPr>
                      <a:r>
                        <a:rPr lang="en-US" sz="1200" b="1" dirty="0">
                          <a:solidFill>
                            <a:srgbClr val="FFFFFF"/>
                          </a:solidFill>
                          <a:latin typeface="Calibri" pitchFamily="34" charset="0"/>
                          <a:ea typeface="Calibri" pitchFamily="34" charset="-122"/>
                          <a:cs typeface="Calibri" pitchFamily="34" charset="-120"/>
                        </a:rPr>
                        <a:t>Units</a:t>
                      </a:r>
                      <a:endParaRPr lang="en-US" sz="1200" dirty="0">
                        <a:latin typeface="Calibri" charset="0"/>
                        <a:ea typeface="Calibri" charset="0"/>
                        <a:cs typeface="Calibri" charset="0"/>
                      </a:endParaRPr>
                    </a:p>
                  </a:txBody>
                  <a:tcPr marL="36576" marR="36576" marT="36576" marB="36576" anchor="ctr">
                    <a:lnL w="9525" cap="flat" cmpd="sng" algn="ctr">
                      <a:solidFill>
                        <a:srgbClr val="DCD4E8"/>
                      </a:solidFill>
                      <a:prstDash val="solid"/>
                      <a:round/>
                      <a:headEnd type="none" w="med" len="med"/>
                      <a:tailEnd type="none" w="med" len="med"/>
                    </a:lnL>
                    <a:lnR w="9525" cap="flat" cmpd="sng" algn="ctr">
                      <a:solidFill>
                        <a:srgbClr val="DCD4E8"/>
                      </a:solidFill>
                      <a:prstDash val="solid"/>
                      <a:round/>
                      <a:headEnd type="none" w="med" len="med"/>
                      <a:tailEnd type="none" w="med" len="med"/>
                    </a:lnR>
                    <a:lnT w="9525" cap="flat" cmpd="sng" algn="ctr">
                      <a:solidFill>
                        <a:srgbClr val="DCD4E8"/>
                      </a:solidFill>
                      <a:prstDash val="solid"/>
                      <a:round/>
                      <a:headEnd type="none" w="med" len="med"/>
                      <a:tailEnd type="none" w="med" len="med"/>
                    </a:lnT>
                    <a:lnB w="9525" cap="flat" cmpd="sng" algn="ctr">
                      <a:solidFill>
                        <a:srgbClr val="DCD4E8"/>
                      </a:solidFill>
                      <a:prstDash val="solid"/>
                      <a:round/>
                      <a:headEnd type="none" w="med" len="med"/>
                      <a:tailEnd type="none" w="med" len="med"/>
                    </a:lnB>
                    <a:solidFill>
                      <a:srgbClr val="2A0A45"/>
                    </a:solidFill>
                  </a:tcPr>
                </a:tc>
              </a:tr>
              <a:tr h="228600">
                <a:tc>
                  <a:txBody>
                    <a:bodyPr/>
                    <a:lstStyle/>
                    <a:p>
                      <a:pPr algn="l" indent="0" marL="0">
                        <a:buNone/>
                      </a:pPr>
                      <a:r>
                        <a:rPr lang="en-US" sz="1200" dirty="0">
                          <a:solidFill>
                            <a:srgbClr val="3A3838"/>
                          </a:solidFill>
                          <a:latin typeface="Calibri" pitchFamily="34" charset="0"/>
                          <a:ea typeface="Calibri" pitchFamily="34" charset="-122"/>
                          <a:cs typeface="Calibri" pitchFamily="34" charset="-120"/>
                        </a:rPr>
                        <a:t>Theoretical, whole network</a:t>
                      </a:r>
                      <a:endParaRPr lang="en-US" sz="1200" dirty="0">
                        <a:latin typeface="Calibri" charset="0"/>
                        <a:ea typeface="Calibri" charset="0"/>
                        <a:cs typeface="Calibri" charset="0"/>
                      </a:endParaRPr>
                    </a:p>
                  </a:txBody>
                  <a:tcPr marL="36576" marR="36576" marT="36576" marB="36576" anchor="ctr">
                    <a:lnL w="9525" cap="flat" cmpd="sng" algn="ctr">
                      <a:solidFill>
                        <a:srgbClr val="DCD4E8"/>
                      </a:solidFill>
                      <a:prstDash val="solid"/>
                      <a:round/>
                      <a:headEnd type="none" w="med" len="med"/>
                      <a:tailEnd type="none" w="med" len="med"/>
                    </a:lnL>
                    <a:lnR w="9525" cap="flat" cmpd="sng" algn="ctr">
                      <a:solidFill>
                        <a:srgbClr val="DCD4E8"/>
                      </a:solidFill>
                      <a:prstDash val="solid"/>
                      <a:round/>
                      <a:headEnd type="none" w="med" len="med"/>
                      <a:tailEnd type="none" w="med" len="med"/>
                    </a:lnR>
                    <a:lnT w="9525" cap="flat" cmpd="sng" algn="ctr">
                      <a:solidFill>
                        <a:srgbClr val="DCD4E8"/>
                      </a:solidFill>
                      <a:prstDash val="solid"/>
                      <a:round/>
                      <a:headEnd type="none" w="med" len="med"/>
                      <a:tailEnd type="none" w="med" len="med"/>
                    </a:lnT>
                    <a:lnB w="9525" cap="flat" cmpd="sng" algn="ctr">
                      <a:solidFill>
                        <a:srgbClr val="DCD4E8"/>
                      </a:solidFill>
                      <a:prstDash val="solid"/>
                      <a:round/>
                      <a:headEnd type="none" w="med" len="med"/>
                      <a:tailEnd type="none" w="med" len="med"/>
                    </a:lnB>
                    <a:solidFill>
                      <a:srgbClr val="FBF8FE"/>
                    </a:solidFill>
                  </a:tcPr>
                </a:tc>
                <a:tc>
                  <a:txBody>
                    <a:bodyPr/>
                    <a:lstStyle/>
                    <a:p>
                      <a:pPr algn="r" indent="0" marL="0">
                        <a:buNone/>
                      </a:pPr>
                      <a:r>
                        <a:rPr lang="en-US" sz="1200" dirty="0">
                          <a:solidFill>
                            <a:srgbClr val="3A3838"/>
                          </a:solidFill>
                          <a:latin typeface="Calibri" pitchFamily="34" charset="0"/>
                          <a:ea typeface="Calibri" pitchFamily="34" charset="-122"/>
                          <a:cs typeface="Calibri" pitchFamily="34" charset="-120"/>
                        </a:rPr>
                        <a:t>+77,800</a:t>
                      </a:r>
                      <a:endParaRPr lang="en-US" sz="1200" dirty="0">
                        <a:latin typeface="Calibri" charset="0"/>
                        <a:ea typeface="Calibri" charset="0"/>
                        <a:cs typeface="Calibri" charset="0"/>
                      </a:endParaRPr>
                    </a:p>
                  </a:txBody>
                  <a:tcPr marL="36576" marR="36576" marT="36576" marB="36576" anchor="ctr">
                    <a:lnL w="9525" cap="flat" cmpd="sng" algn="ctr">
                      <a:solidFill>
                        <a:srgbClr val="DCD4E8"/>
                      </a:solidFill>
                      <a:prstDash val="solid"/>
                      <a:round/>
                      <a:headEnd type="none" w="med" len="med"/>
                      <a:tailEnd type="none" w="med" len="med"/>
                    </a:lnL>
                    <a:lnR w="9525" cap="flat" cmpd="sng" algn="ctr">
                      <a:solidFill>
                        <a:srgbClr val="DCD4E8"/>
                      </a:solidFill>
                      <a:prstDash val="solid"/>
                      <a:round/>
                      <a:headEnd type="none" w="med" len="med"/>
                      <a:tailEnd type="none" w="med" len="med"/>
                    </a:lnR>
                    <a:lnT w="9525" cap="flat" cmpd="sng" algn="ctr">
                      <a:solidFill>
                        <a:srgbClr val="DCD4E8"/>
                      </a:solidFill>
                      <a:prstDash val="solid"/>
                      <a:round/>
                      <a:headEnd type="none" w="med" len="med"/>
                      <a:tailEnd type="none" w="med" len="med"/>
                    </a:lnT>
                    <a:lnB w="9525" cap="flat" cmpd="sng" algn="ctr">
                      <a:solidFill>
                        <a:srgbClr val="DCD4E8"/>
                      </a:solidFill>
                      <a:prstDash val="solid"/>
                      <a:round/>
                      <a:headEnd type="none" w="med" len="med"/>
                      <a:tailEnd type="none" w="med" len="med"/>
                    </a:lnB>
                    <a:solidFill>
                      <a:srgbClr val="FBF8FE"/>
                    </a:solidFill>
                  </a:tcPr>
                </a:tc>
              </a:tr>
              <a:tr h="228600">
                <a:tc>
                  <a:txBody>
                    <a:bodyPr/>
                    <a:lstStyle/>
                    <a:p>
                      <a:pPr algn="l" indent="0" marL="0">
                        <a:buNone/>
                      </a:pPr>
                      <a:r>
                        <a:rPr lang="en-US" sz="1200" dirty="0">
                          <a:solidFill>
                            <a:srgbClr val="3A3838"/>
                          </a:solidFill>
                          <a:latin typeface="Calibri" pitchFamily="34" charset="0"/>
                          <a:ea typeface="Calibri" pitchFamily="34" charset="-122"/>
                          <a:cs typeface="Calibri" pitchFamily="34" charset="-120"/>
                        </a:rPr>
                        <a:t>Reach, adoption, realisation</a:t>
                      </a:r>
                      <a:endParaRPr lang="en-US" sz="1200" dirty="0">
                        <a:latin typeface="Calibri" charset="0"/>
                        <a:ea typeface="Calibri" charset="0"/>
                        <a:cs typeface="Calibri" charset="0"/>
                      </a:endParaRPr>
                    </a:p>
                  </a:txBody>
                  <a:tcPr marL="36576" marR="36576" marT="36576" marB="36576" anchor="ctr">
                    <a:lnL w="9525" cap="flat" cmpd="sng" algn="ctr">
                      <a:solidFill>
                        <a:srgbClr val="DCD4E8"/>
                      </a:solidFill>
                      <a:prstDash val="solid"/>
                      <a:round/>
                      <a:headEnd type="none" w="med" len="med"/>
                      <a:tailEnd type="none" w="med" len="med"/>
                    </a:lnL>
                    <a:lnR w="9525" cap="flat" cmpd="sng" algn="ctr">
                      <a:solidFill>
                        <a:srgbClr val="DCD4E8"/>
                      </a:solidFill>
                      <a:prstDash val="solid"/>
                      <a:round/>
                      <a:headEnd type="none" w="med" len="med"/>
                      <a:tailEnd type="none" w="med" len="med"/>
                    </a:lnR>
                    <a:lnT w="9525" cap="flat" cmpd="sng" algn="ctr">
                      <a:solidFill>
                        <a:srgbClr val="DCD4E8"/>
                      </a:solidFill>
                      <a:prstDash val="solid"/>
                      <a:round/>
                      <a:headEnd type="none" w="med" len="med"/>
                      <a:tailEnd type="none" w="med" len="med"/>
                    </a:lnT>
                    <a:lnB w="9525" cap="flat" cmpd="sng" algn="ctr">
                      <a:solidFill>
                        <a:srgbClr val="DCD4E8"/>
                      </a:solidFill>
                      <a:prstDash val="solid"/>
                      <a:round/>
                      <a:headEnd type="none" w="med" len="med"/>
                      <a:tailEnd type="none" w="med" len="med"/>
                    </a:lnB>
                    <a:solidFill>
                      <a:srgbClr val="FFFFFF"/>
                    </a:solidFill>
                  </a:tcPr>
                </a:tc>
                <a:tc>
                  <a:txBody>
                    <a:bodyPr/>
                    <a:lstStyle/>
                    <a:p>
                      <a:pPr algn="r" indent="0" marL="0">
                        <a:buNone/>
                      </a:pPr>
                      <a:r>
                        <a:rPr lang="en-US" sz="1200" dirty="0">
                          <a:solidFill>
                            <a:srgbClr val="3A3838"/>
                          </a:solidFill>
                          <a:latin typeface="Calibri" pitchFamily="34" charset="0"/>
                          <a:ea typeface="Calibri" pitchFamily="34" charset="-122"/>
                          <a:cs typeface="Calibri" pitchFamily="34" charset="-120"/>
                        </a:rPr>
                        <a:t>−32,800</a:t>
                      </a:r>
                      <a:endParaRPr lang="en-US" sz="1200" dirty="0">
                        <a:latin typeface="Calibri" charset="0"/>
                        <a:ea typeface="Calibri" charset="0"/>
                        <a:cs typeface="Calibri" charset="0"/>
                      </a:endParaRPr>
                    </a:p>
                  </a:txBody>
                  <a:tcPr marL="36576" marR="36576" marT="36576" marB="36576" anchor="ctr">
                    <a:lnL w="9525" cap="flat" cmpd="sng" algn="ctr">
                      <a:solidFill>
                        <a:srgbClr val="DCD4E8"/>
                      </a:solidFill>
                      <a:prstDash val="solid"/>
                      <a:round/>
                      <a:headEnd type="none" w="med" len="med"/>
                      <a:tailEnd type="none" w="med" len="med"/>
                    </a:lnL>
                    <a:lnR w="9525" cap="flat" cmpd="sng" algn="ctr">
                      <a:solidFill>
                        <a:srgbClr val="DCD4E8"/>
                      </a:solidFill>
                      <a:prstDash val="solid"/>
                      <a:round/>
                      <a:headEnd type="none" w="med" len="med"/>
                      <a:tailEnd type="none" w="med" len="med"/>
                    </a:lnR>
                    <a:lnT w="9525" cap="flat" cmpd="sng" algn="ctr">
                      <a:solidFill>
                        <a:srgbClr val="DCD4E8"/>
                      </a:solidFill>
                      <a:prstDash val="solid"/>
                      <a:round/>
                      <a:headEnd type="none" w="med" len="med"/>
                      <a:tailEnd type="none" w="med" len="med"/>
                    </a:lnT>
                    <a:lnB w="9525" cap="flat" cmpd="sng" algn="ctr">
                      <a:solidFill>
                        <a:srgbClr val="DCD4E8"/>
                      </a:solidFill>
                      <a:prstDash val="solid"/>
                      <a:round/>
                      <a:headEnd type="none" w="med" len="med"/>
                      <a:tailEnd type="none" w="med" len="med"/>
                    </a:lnB>
                    <a:solidFill>
                      <a:srgbClr val="FFFFFF"/>
                    </a:solidFill>
                  </a:tcPr>
                </a:tc>
              </a:tr>
              <a:tr h="228600">
                <a:tc>
                  <a:txBody>
                    <a:bodyPr/>
                    <a:lstStyle/>
                    <a:p>
                      <a:pPr algn="l" indent="0" marL="0">
                        <a:buNone/>
                      </a:pPr>
                      <a:r>
                        <a:rPr lang="en-US" sz="1200" dirty="0">
                          <a:solidFill>
                            <a:srgbClr val="3A3838"/>
                          </a:solidFill>
                          <a:latin typeface="Calibri" pitchFamily="34" charset="0"/>
                          <a:ea typeface="Calibri" pitchFamily="34" charset="-122"/>
                          <a:cs typeface="Calibri" pitchFamily="34" charset="-120"/>
                        </a:rPr>
                        <a:t>WE BANK</a:t>
                      </a:r>
                      <a:endParaRPr lang="en-US" sz="1200" dirty="0">
                        <a:latin typeface="Calibri" charset="0"/>
                        <a:ea typeface="Calibri" charset="0"/>
                        <a:cs typeface="Calibri" charset="0"/>
                      </a:endParaRPr>
                    </a:p>
                  </a:txBody>
                  <a:tcPr marL="36576" marR="36576" marT="36576" marB="36576" anchor="ctr">
                    <a:lnL w="9525" cap="flat" cmpd="sng" algn="ctr">
                      <a:solidFill>
                        <a:srgbClr val="DCD4E8"/>
                      </a:solidFill>
                      <a:prstDash val="solid"/>
                      <a:round/>
                      <a:headEnd type="none" w="med" len="med"/>
                      <a:tailEnd type="none" w="med" len="med"/>
                    </a:lnL>
                    <a:lnR w="9525" cap="flat" cmpd="sng" algn="ctr">
                      <a:solidFill>
                        <a:srgbClr val="DCD4E8"/>
                      </a:solidFill>
                      <a:prstDash val="solid"/>
                      <a:round/>
                      <a:headEnd type="none" w="med" len="med"/>
                      <a:tailEnd type="none" w="med" len="med"/>
                    </a:lnR>
                    <a:lnT w="9525" cap="flat" cmpd="sng" algn="ctr">
                      <a:solidFill>
                        <a:srgbClr val="DCD4E8"/>
                      </a:solidFill>
                      <a:prstDash val="solid"/>
                      <a:round/>
                      <a:headEnd type="none" w="med" len="med"/>
                      <a:tailEnd type="none" w="med" len="med"/>
                    </a:lnT>
                    <a:lnB w="9525" cap="flat" cmpd="sng" algn="ctr">
                      <a:solidFill>
                        <a:srgbClr val="DCD4E8"/>
                      </a:solidFill>
                      <a:prstDash val="solid"/>
                      <a:round/>
                      <a:headEnd type="none" w="med" len="med"/>
                      <a:tailEnd type="none" w="med" len="med"/>
                    </a:lnB>
                    <a:solidFill>
                      <a:srgbClr val="FBF8FE"/>
                    </a:solidFill>
                  </a:tcPr>
                </a:tc>
                <a:tc>
                  <a:txBody>
                    <a:bodyPr/>
                    <a:lstStyle/>
                    <a:p>
                      <a:pPr algn="r" indent="0" marL="0">
                        <a:buNone/>
                      </a:pPr>
                      <a:r>
                        <a:rPr lang="en-US" sz="1200" dirty="0">
                          <a:solidFill>
                            <a:srgbClr val="3A3838"/>
                          </a:solidFill>
                          <a:latin typeface="Calibri" pitchFamily="34" charset="0"/>
                          <a:ea typeface="Calibri" pitchFamily="34" charset="-122"/>
                          <a:cs typeface="Calibri" pitchFamily="34" charset="-120"/>
                        </a:rPr>
                        <a:t>+45,000</a:t>
                      </a:r>
                      <a:endParaRPr lang="en-US" sz="1200" dirty="0">
                        <a:latin typeface="Calibri" charset="0"/>
                        <a:ea typeface="Calibri" charset="0"/>
                        <a:cs typeface="Calibri" charset="0"/>
                      </a:endParaRPr>
                    </a:p>
                  </a:txBody>
                  <a:tcPr marL="36576" marR="36576" marT="36576" marB="36576" anchor="ctr">
                    <a:lnL w="9525" cap="flat" cmpd="sng" algn="ctr">
                      <a:solidFill>
                        <a:srgbClr val="DCD4E8"/>
                      </a:solidFill>
                      <a:prstDash val="solid"/>
                      <a:round/>
                      <a:headEnd type="none" w="med" len="med"/>
                      <a:tailEnd type="none" w="med" len="med"/>
                    </a:lnL>
                    <a:lnR w="9525" cap="flat" cmpd="sng" algn="ctr">
                      <a:solidFill>
                        <a:srgbClr val="DCD4E8"/>
                      </a:solidFill>
                      <a:prstDash val="solid"/>
                      <a:round/>
                      <a:headEnd type="none" w="med" len="med"/>
                      <a:tailEnd type="none" w="med" len="med"/>
                    </a:lnR>
                    <a:lnT w="9525" cap="flat" cmpd="sng" algn="ctr">
                      <a:solidFill>
                        <a:srgbClr val="DCD4E8"/>
                      </a:solidFill>
                      <a:prstDash val="solid"/>
                      <a:round/>
                      <a:headEnd type="none" w="med" len="med"/>
                      <a:tailEnd type="none" w="med" len="med"/>
                    </a:lnT>
                    <a:lnB w="9525" cap="flat" cmpd="sng" algn="ctr">
                      <a:solidFill>
                        <a:srgbClr val="DCD4E8"/>
                      </a:solidFill>
                      <a:prstDash val="solid"/>
                      <a:round/>
                      <a:headEnd type="none" w="med" len="med"/>
                      <a:tailEnd type="none" w="med" len="med"/>
                    </a:lnB>
                    <a:solidFill>
                      <a:srgbClr val="FBF8FE"/>
                    </a:solidFill>
                  </a:tcPr>
                </a:tc>
              </a:tr>
            </a:tbl>
          </a:graphicData>
        </a:graphic>
      </p:graphicFrame>
      <p:sp>
        <p:nvSpPr>
          <p:cNvPr id="53" name="Text 48"/>
          <p:cNvSpPr/>
          <p:nvPr/>
        </p:nvSpPr>
        <p:spPr>
          <a:xfrm>
            <a:off x="4224528" y="5193792"/>
            <a:ext cx="3867912" cy="822960"/>
          </a:xfrm>
          <a:prstGeom prst="rect">
            <a:avLst/>
          </a:prstGeom>
          <a:noFill/>
          <a:ln/>
        </p:spPr>
        <p:txBody>
          <a:bodyPr wrap="square" lIns="0" tIns="0" rIns="0" bIns="0" rtlCol="0" anchor="ctr"/>
          <a:lstStyle/>
          <a:p>
            <a:pPr indent="0" marL="0">
              <a:lnSpc>
                <a:spcPct val="98000"/>
              </a:lnSpc>
              <a:buNone/>
            </a:pPr>
            <a:r>
              <a:rPr lang="en-US" sz="1200" dirty="0">
                <a:solidFill>
                  <a:srgbClr val="3A3838"/>
                </a:solidFill>
                <a:latin typeface="Calibri" pitchFamily="34" charset="0"/>
                <a:ea typeface="Calibri" pitchFamily="34" charset="-122"/>
                <a:cs typeface="Calibri" pitchFamily="34" charset="-120"/>
              </a:rPr>
              <a:t>Service reactivation </a:t>
            </a:r>
            <a:pPr indent="0" marL="0">
              <a:lnSpc>
                <a:spcPct val="98000"/>
              </a:lnSpc>
              <a:buNone/>
            </a:pPr>
            <a:r>
              <a:rPr lang="en-US" sz="1200" b="1" dirty="0">
                <a:solidFill>
                  <a:srgbClr val="3A3838"/>
                </a:solidFill>
                <a:latin typeface="Calibri" pitchFamily="34" charset="0"/>
                <a:ea typeface="Calibri" pitchFamily="34" charset="-122"/>
                <a:cs typeface="Calibri" pitchFamily="34" charset="-120"/>
              </a:rPr>
              <a:t>46% → 64%</a:t>
            </a:r>
            <a:pPr indent="0" marL="0">
              <a:lnSpc>
                <a:spcPct val="98000"/>
              </a:lnSpc>
              <a:buNone/>
            </a:pPr>
            <a:r>
              <a:rPr lang="en-US" sz="1200" dirty="0">
                <a:solidFill>
                  <a:srgbClr val="3A3838"/>
                </a:solidFill>
                <a:latin typeface="Calibri" pitchFamily="34" charset="0"/>
                <a:ea typeface="Calibri" pitchFamily="34" charset="-122"/>
                <a:cs typeface="Calibri" pitchFamily="34" charset="-120"/>
              </a:rPr>
              <a:t> is the second journey — it rebuilds </a:t>
            </a:r>
            <a:pPr indent="0" marL="0">
              <a:lnSpc>
                <a:spcPct val="98000"/>
              </a:lnSpc>
              <a:buNone/>
            </a:pPr>
            <a:r>
              <a:rPr lang="en-US" sz="1200" b="1" dirty="0">
                <a:solidFill>
                  <a:srgbClr val="A100FF"/>
                </a:solidFill>
                <a:latin typeface="Calibri" pitchFamily="34" charset="0"/>
                <a:ea typeface="Calibri" pitchFamily="34" charset="-122"/>
                <a:cs typeface="Calibri" pitchFamily="34" charset="-120"/>
              </a:rPr>
              <a:t>dealer margin</a:t>
            </a:r>
            <a:pPr indent="0" marL="0">
              <a:lnSpc>
                <a:spcPct val="98000"/>
              </a:lnSpc>
              <a:buNone/>
            </a:pPr>
            <a:r>
              <a:rPr lang="en-US" sz="1200" dirty="0">
                <a:solidFill>
                  <a:srgbClr val="3A3838"/>
                </a:solidFill>
                <a:latin typeface="Calibri" pitchFamily="34" charset="0"/>
                <a:ea typeface="Calibri" pitchFamily="34" charset="-122"/>
                <a:cs typeface="Calibri" pitchFamily="34" charset="-120"/>
              </a:rPr>
              <a:t>, the hard constraint, and feeds ownership data back to sales.</a:t>
            </a:r>
            <a:endParaRPr lang="en-US" sz="1200" dirty="0"/>
          </a:p>
        </p:txBody>
      </p:sp>
      <p:sp>
        <p:nvSpPr>
          <p:cNvPr id="54" name="Shape 49"/>
          <p:cNvSpPr/>
          <p:nvPr/>
        </p:nvSpPr>
        <p:spPr>
          <a:xfrm>
            <a:off x="8275320" y="1920240"/>
            <a:ext cx="292608" cy="292608"/>
          </a:xfrm>
          <a:prstGeom prst="ellipse">
            <a:avLst/>
          </a:prstGeom>
          <a:solidFill>
            <a:srgbClr val="A100FF"/>
          </a:solidFill>
          <a:ln w="12700">
            <a:solidFill>
              <a:srgbClr val="333333"/>
            </a:solidFill>
            <a:prstDash val="solid"/>
          </a:ln>
        </p:spPr>
      </p:sp>
      <p:sp>
        <p:nvSpPr>
          <p:cNvPr id="55" name="Text 50"/>
          <p:cNvSpPr/>
          <p:nvPr/>
        </p:nvSpPr>
        <p:spPr>
          <a:xfrm>
            <a:off x="8275320" y="1920240"/>
            <a:ext cx="292608" cy="29260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56" name="Text 51"/>
          <p:cNvSpPr/>
          <p:nvPr/>
        </p:nvSpPr>
        <p:spPr>
          <a:xfrm>
            <a:off x="8659368" y="1929384"/>
            <a:ext cx="3474720" cy="292608"/>
          </a:xfrm>
          <a:prstGeom prst="rect">
            <a:avLst/>
          </a:prstGeom>
          <a:noFill/>
          <a:ln/>
        </p:spPr>
        <p:txBody>
          <a:bodyPr wrap="square" lIns="0" tIns="0" rIns="0" bIns="0" rtlCol="0" anchor="ctr"/>
          <a:lstStyle/>
          <a:p>
            <a:pPr indent="0" marL="0">
              <a:buNone/>
            </a:pPr>
            <a:r>
              <a:rPr lang="en-US" sz="1350" b="1" dirty="0">
                <a:solidFill>
                  <a:srgbClr val="2A0A45"/>
                </a:solidFill>
                <a:latin typeface="Calibri" pitchFamily="34" charset="0"/>
                <a:ea typeface="Calibri" pitchFamily="34" charset="-122"/>
                <a:cs typeface="Calibri" pitchFamily="34" charset="-120"/>
              </a:rPr>
              <a:t>Where it must stop</a:t>
            </a:r>
            <a:endParaRPr lang="en-US" sz="1350" dirty="0"/>
          </a:p>
        </p:txBody>
      </p:sp>
      <p:sp>
        <p:nvSpPr>
          <p:cNvPr id="57" name="Text 52"/>
          <p:cNvSpPr/>
          <p:nvPr/>
        </p:nvSpPr>
        <p:spPr>
          <a:xfrm>
            <a:off x="8275320" y="2304288"/>
            <a:ext cx="3776472" cy="1133856"/>
          </a:xfrm>
          <a:prstGeom prst="rect">
            <a:avLst/>
          </a:prstGeom>
          <a:solidFill>
            <a:srgbClr val="FFFFFF"/>
          </a:solidFill>
          <a:ln w="25400">
            <a:solidFill>
              <a:srgbClr val="C00000"/>
            </a:solidFill>
          </a:ln>
        </p:spPr>
        <p:txBody>
          <a:bodyPr wrap="square" lIns="1270" tIns="1270" rIns="1270" bIns="1270" rtlCol="0" anchor="ctr"/>
          <a:lstStyle/>
          <a:p>
            <a:pPr indent="0" marL="0">
              <a:lnSpc>
                <a:spcPct val="98000"/>
              </a:lnSpc>
              <a:buNone/>
            </a:pPr>
            <a:r>
              <a:rPr lang="en-US" sz="1200" b="1" dirty="0">
                <a:solidFill>
                  <a:srgbClr val="A100FF"/>
                </a:solidFill>
                <a:latin typeface="Calibri" pitchFamily="34" charset="0"/>
                <a:ea typeface="Calibri" pitchFamily="34" charset="-122"/>
                <a:cs typeface="Calibri" pitchFamily="34" charset="-120"/>
              </a:rPr>
              <a:t>Never: </a:t>
            </a:r>
            <a:pPr indent="0" marL="0">
              <a:lnSpc>
                <a:spcPct val="98000"/>
              </a:lnSpc>
              <a:buNone/>
            </a:pPr>
            <a:r>
              <a:rPr lang="en-US" sz="1200" dirty="0">
                <a:solidFill>
                  <a:srgbClr val="000000"/>
                </a:solidFill>
                <a:latin typeface="Calibri" pitchFamily="34" charset="0"/>
                <a:ea typeface="Calibri" pitchFamily="34" charset="-122"/>
                <a:cs typeface="Calibri" pitchFamily="34" charset="-120"/>
              </a:rPr>
              <a:t>price or discount · exchange valuation · negotiation · complaint resolution · delivery promises · credit · dealer staffing. </a:t>
            </a:r>
            <a:pPr indent="0" marL="0">
              <a:lnSpc>
                <a:spcPct val="98000"/>
              </a:lnSpc>
              <a:buNone/>
            </a:pPr>
            <a:r>
              <a:rPr lang="en-US" sz="1200" b="1" dirty="0">
                <a:solidFill>
                  <a:srgbClr val="3A3838"/>
                </a:solidFill>
                <a:latin typeface="Calibri" pitchFamily="34" charset="0"/>
                <a:ea typeface="Calibri" pitchFamily="34" charset="-122"/>
                <a:cs typeface="Calibri" pitchFamily="34" charset="-120"/>
              </a:rPr>
              <a:t>The case's own words on trusted human relationships — quoting the boundary back earns everything else.</a:t>
            </a:r>
            <a:endParaRPr lang="en-US" sz="1200" dirty="0"/>
          </a:p>
        </p:txBody>
      </p:sp>
      <p:sp>
        <p:nvSpPr>
          <p:cNvPr id="58" name="Text 53"/>
          <p:cNvSpPr/>
          <p:nvPr/>
        </p:nvSpPr>
        <p:spPr>
          <a:xfrm>
            <a:off x="8275320" y="3566160"/>
            <a:ext cx="3776472" cy="1463040"/>
          </a:xfrm>
          <a:prstGeom prst="rect">
            <a:avLst/>
          </a:prstGeom>
          <a:noFill/>
          <a:ln/>
        </p:spPr>
        <p:txBody>
          <a:bodyPr wrap="square" lIns="0" tIns="0" rIns="0" bIns="0" rtlCol="0" anchor="ctr"/>
          <a:lstStyle/>
          <a:p>
            <a:pPr marL="342900" indent="-342900">
              <a:lnSpc>
                <a:spcPct val="98000"/>
              </a:lnSpc>
              <a:spcAft>
                <a:spcPts val="600"/>
              </a:spcAft>
              <a:buSzPct val="100000"/>
              <a:buChar char="•"/>
            </a:pPr>
            <a:r>
              <a:rPr lang="en-US" sz="1200" dirty="0">
                <a:solidFill>
                  <a:srgbClr val="3A3838"/>
                </a:solidFill>
                <a:latin typeface="Calibri" pitchFamily="34" charset="0"/>
                <a:ea typeface="Calibri" pitchFamily="34" charset="-122"/>
                <a:cs typeface="Calibri" pitchFamily="34" charset="-120"/>
              </a:rPr>
              <a:t>Named human owner per journey — no unowned agent runs live</a:t>
            </a:r>
            <a:endParaRPr lang="en-US" sz="1200" dirty="0"/>
          </a:p>
          <a:p>
            <a:pPr marL="342900" indent="-342900">
              <a:lnSpc>
                <a:spcPct val="98000"/>
              </a:lnSpc>
              <a:spcAft>
                <a:spcPts val="600"/>
              </a:spcAft>
              <a:buSzPct val="100000"/>
              <a:buChar char="•"/>
            </a:pPr>
            <a:r>
              <a:rPr lang="en-US" sz="1200" dirty="0">
                <a:solidFill>
                  <a:srgbClr val="3A3838"/>
                </a:solidFill>
                <a:latin typeface="Calibri" pitchFamily="34" charset="0"/>
                <a:ea typeface="Calibri" pitchFamily="34" charset="-122"/>
                <a:cs typeface="Calibri" pitchFamily="34" charset="-120"/>
              </a:rPr>
              <a:t>Customer always told when the agent has acted</a:t>
            </a:r>
            <a:endParaRPr lang="en-US" sz="1200" dirty="0"/>
          </a:p>
          <a:p>
            <a:pPr marL="342900" indent="-342900">
              <a:lnSpc>
                <a:spcPct val="98000"/>
              </a:lnSpc>
              <a:spcAft>
                <a:spcPts val="600"/>
              </a:spcAft>
              <a:buSzPct val="100000"/>
              <a:buChar char="•"/>
            </a:pPr>
            <a:r>
              <a:rPr lang="en-US" sz="1200" dirty="0">
                <a:solidFill>
                  <a:srgbClr val="3A3838"/>
                </a:solidFill>
                <a:latin typeface="Calibri" pitchFamily="34" charset="0"/>
                <a:ea typeface="Calibri" pitchFamily="34" charset="-122"/>
                <a:cs typeface="Calibri" pitchFamily="34" charset="-120"/>
              </a:rPr>
              <a:t>Quarterly fairness review: city tier, segment, dealer</a:t>
            </a:r>
            <a:endParaRPr lang="en-US" sz="1200" dirty="0"/>
          </a:p>
          <a:p>
            <a:pPr marL="342900" indent="-342900">
              <a:lnSpc>
                <a:spcPct val="98000"/>
              </a:lnSpc>
              <a:spcAft>
                <a:spcPts val="600"/>
              </a:spcAft>
              <a:buSzPct val="100000"/>
              <a:buChar char="•"/>
            </a:pPr>
            <a:r>
              <a:rPr lang="en-US" sz="1200" dirty="0">
                <a:solidFill>
                  <a:srgbClr val="3A3838"/>
                </a:solidFill>
                <a:latin typeface="Calibri" pitchFamily="34" charset="0"/>
                <a:ea typeface="Calibri" pitchFamily="34" charset="-122"/>
                <a:cs typeface="Calibri" pitchFamily="34" charset="-120"/>
              </a:rPr>
              <a:t>Full action log — reconstructable for customer or auditor</a:t>
            </a:r>
            <a:endParaRPr lang="en-US" sz="1200" dirty="0"/>
          </a:p>
        </p:txBody>
      </p:sp>
      <p:sp>
        <p:nvSpPr>
          <p:cNvPr id="59" name="Text 54"/>
          <p:cNvSpPr/>
          <p:nvPr/>
        </p:nvSpPr>
        <p:spPr>
          <a:xfrm>
            <a:off x="8275320" y="5138928"/>
            <a:ext cx="3776472" cy="932688"/>
          </a:xfrm>
          <a:prstGeom prst="rect">
            <a:avLst/>
          </a:prstGeom>
          <a:solidFill>
            <a:srgbClr val="2A0A45"/>
          </a:solidFill>
          <a:ln/>
        </p:spPr>
        <p:txBody>
          <a:bodyPr wrap="square" lIns="762" tIns="762" rIns="762" bIns="762" rtlCol="0" anchor="ctr"/>
          <a:lstStyle/>
          <a:p>
            <a:pPr indent="0" marL="0">
              <a:lnSpc>
                <a:spcPct val="98000"/>
              </a:lnSpc>
              <a:buNone/>
            </a:pPr>
            <a:r>
              <a:rPr lang="en-US" sz="1200" dirty="0">
                <a:solidFill>
                  <a:srgbClr val="FFFFFF"/>
                </a:solidFill>
                <a:latin typeface="Calibri" pitchFamily="34" charset="0"/>
                <a:ea typeface="Calibri" pitchFamily="34" charset="-122"/>
                <a:cs typeface="Calibri" pitchFamily="34" charset="-120"/>
              </a:rPr>
              <a:t>Demo run 1: the happy path, end to end. Demo run 2: the agent </a:t>
            </a:r>
            <a:pPr indent="0" marL="0">
              <a:lnSpc>
                <a:spcPct val="98000"/>
              </a:lnSpc>
              <a:buNone/>
            </a:pPr>
            <a:r>
              <a:rPr lang="en-US" sz="1200" b="1" dirty="0">
                <a:solidFill>
                  <a:srgbClr val="C98CFF"/>
                </a:solidFill>
                <a:latin typeface="Calibri" pitchFamily="34" charset="0"/>
                <a:ea typeface="Calibri" pitchFamily="34" charset="-122"/>
                <a:cs typeface="Calibri" pitchFamily="34" charset="-120"/>
              </a:rPr>
              <a:t>refuses to act</a:t>
            </a:r>
            <a:pPr indent="0" marL="0">
              <a:lnSpc>
                <a:spcPct val="98000"/>
              </a:lnSpc>
              <a:buNone/>
            </a:pPr>
            <a:r>
              <a:rPr lang="en-US" sz="1200" dirty="0">
                <a:solidFill>
                  <a:srgbClr val="FFFFFF"/>
                </a:solidFill>
                <a:latin typeface="Calibri" pitchFamily="34" charset="0"/>
                <a:ea typeface="Calibri" pitchFamily="34" charset="-122"/>
                <a:cs typeface="Calibri" pitchFamily="34" charset="-120"/>
              </a:rPr>
              <a:t> on a hardship signal and hands to a person. </a:t>
            </a:r>
            <a:pPr indent="0" marL="0">
              <a:lnSpc>
                <a:spcPct val="98000"/>
              </a:lnSpc>
              <a:buNone/>
            </a:pPr>
            <a:r>
              <a:rPr lang="en-US" sz="1200" b="1" dirty="0">
                <a:solidFill>
                  <a:srgbClr val="C98CFF"/>
                </a:solidFill>
                <a:latin typeface="Calibri" pitchFamily="34" charset="0"/>
                <a:ea typeface="Calibri" pitchFamily="34" charset="-122"/>
                <a:cs typeface="Calibri" pitchFamily="34" charset="-120"/>
              </a:rPr>
              <a:t>Recording: [paste link]</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137160" y="155448"/>
            <a:ext cx="1874520" cy="41148"/>
          </a:xfrm>
          <a:prstGeom prst="rect">
            <a:avLst/>
          </a:prstGeom>
          <a:solidFill>
            <a:srgbClr val="2A0A45"/>
          </a:solidFill>
          <a:ln w="12700">
            <a:solidFill>
              <a:srgbClr val="333333"/>
            </a:solidFill>
            <a:prstDash val="solid"/>
          </a:ln>
        </p:spPr>
      </p:sp>
      <p:sp>
        <p:nvSpPr>
          <p:cNvPr id="3" name="Shape 1"/>
          <p:cNvSpPr/>
          <p:nvPr/>
        </p:nvSpPr>
        <p:spPr>
          <a:xfrm>
            <a:off x="137160" y="246888"/>
            <a:ext cx="1453896" cy="41148"/>
          </a:xfrm>
          <a:prstGeom prst="rect">
            <a:avLst/>
          </a:prstGeom>
          <a:solidFill>
            <a:srgbClr val="2A0A45"/>
          </a:solidFill>
          <a:ln w="12700">
            <a:solidFill>
              <a:srgbClr val="333333"/>
            </a:solidFill>
            <a:prstDash val="solid"/>
          </a:ln>
        </p:spPr>
      </p:sp>
      <p:sp>
        <p:nvSpPr>
          <p:cNvPr id="4" name="Shape 2"/>
          <p:cNvSpPr/>
          <p:nvPr/>
        </p:nvSpPr>
        <p:spPr>
          <a:xfrm>
            <a:off x="137160" y="338328"/>
            <a:ext cx="1874520" cy="41148"/>
          </a:xfrm>
          <a:prstGeom prst="rect">
            <a:avLst/>
          </a:prstGeom>
          <a:solidFill>
            <a:srgbClr val="2A0A45"/>
          </a:solidFill>
          <a:ln w="12700">
            <a:solidFill>
              <a:srgbClr val="333333"/>
            </a:solidFill>
            <a:prstDash val="solid"/>
          </a:ln>
        </p:spPr>
      </p:sp>
      <p:sp>
        <p:nvSpPr>
          <p:cNvPr id="5" name="Shape 3"/>
          <p:cNvSpPr/>
          <p:nvPr/>
        </p:nvSpPr>
        <p:spPr>
          <a:xfrm>
            <a:off x="10177272" y="155448"/>
            <a:ext cx="1874520" cy="41148"/>
          </a:xfrm>
          <a:prstGeom prst="rect">
            <a:avLst/>
          </a:prstGeom>
          <a:solidFill>
            <a:srgbClr val="2A0A45"/>
          </a:solidFill>
          <a:ln w="12700">
            <a:solidFill>
              <a:srgbClr val="333333"/>
            </a:solidFill>
            <a:prstDash val="solid"/>
          </a:ln>
        </p:spPr>
      </p:sp>
      <p:sp>
        <p:nvSpPr>
          <p:cNvPr id="6" name="Shape 4"/>
          <p:cNvSpPr/>
          <p:nvPr/>
        </p:nvSpPr>
        <p:spPr>
          <a:xfrm>
            <a:off x="10597896" y="246888"/>
            <a:ext cx="1453896" cy="41148"/>
          </a:xfrm>
          <a:prstGeom prst="rect">
            <a:avLst/>
          </a:prstGeom>
          <a:solidFill>
            <a:srgbClr val="2A0A45"/>
          </a:solidFill>
          <a:ln w="12700">
            <a:solidFill>
              <a:srgbClr val="333333"/>
            </a:solidFill>
            <a:prstDash val="solid"/>
          </a:ln>
        </p:spPr>
      </p:sp>
      <p:sp>
        <p:nvSpPr>
          <p:cNvPr id="7" name="Shape 5"/>
          <p:cNvSpPr/>
          <p:nvPr/>
        </p:nvSpPr>
        <p:spPr>
          <a:xfrm>
            <a:off x="10177272" y="338328"/>
            <a:ext cx="1874520" cy="41148"/>
          </a:xfrm>
          <a:prstGeom prst="rect">
            <a:avLst/>
          </a:prstGeom>
          <a:solidFill>
            <a:srgbClr val="2A0A45"/>
          </a:solidFill>
          <a:ln w="12700">
            <a:solidFill>
              <a:srgbClr val="333333"/>
            </a:solidFill>
            <a:prstDash val="solid"/>
          </a:ln>
        </p:spPr>
      </p:sp>
      <p:sp>
        <p:nvSpPr>
          <p:cNvPr id="8" name="Text 6"/>
          <p:cNvSpPr/>
          <p:nvPr/>
        </p:nvSpPr>
        <p:spPr>
          <a:xfrm>
            <a:off x="2057400" y="0"/>
            <a:ext cx="8092440" cy="530352"/>
          </a:xfrm>
          <a:prstGeom prst="rect">
            <a:avLst/>
          </a:prstGeom>
          <a:noFill/>
          <a:ln/>
        </p:spPr>
        <p:txBody>
          <a:bodyPr wrap="square" lIns="0" tIns="0" rIns="0" bIns="0" rtlCol="0" anchor="ctr"/>
          <a:lstStyle/>
          <a:p>
            <a:pPr algn="ctr" indent="0" marL="0">
              <a:buNone/>
            </a:pPr>
            <a:r>
              <a:rPr lang="en-US" sz="2600" b="1" dirty="0">
                <a:solidFill>
                  <a:srgbClr val="000000"/>
                </a:solidFill>
                <a:latin typeface="Calibri" pitchFamily="34" charset="0"/>
                <a:ea typeface="Calibri" pitchFamily="34" charset="-122"/>
                <a:cs typeface="Calibri" pitchFamily="34" charset="-120"/>
              </a:rPr>
              <a:t>ADOPTION IS ENGINEERED, NOT HOPED FOR</a:t>
            </a:r>
            <a:endParaRPr lang="en-US" sz="2600" dirty="0"/>
          </a:p>
        </p:txBody>
      </p:sp>
      <p:sp>
        <p:nvSpPr>
          <p:cNvPr id="9" name="Text 7"/>
          <p:cNvSpPr/>
          <p:nvPr/>
        </p:nvSpPr>
        <p:spPr>
          <a:xfrm>
            <a:off x="0" y="548640"/>
            <a:ext cx="12191695" cy="310896"/>
          </a:xfrm>
          <a:prstGeom prst="rect">
            <a:avLst/>
          </a:prstGeom>
          <a:solidFill>
            <a:srgbClr val="A100FF"/>
          </a:solid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THE LAST ₹225 CR DIED AT 34% WEEKLY USE — THIS TIME USAGE IS PAID, COACHED, AND A FUNDING-GATE CONDITION</a:t>
            </a:r>
            <a:endParaRPr lang="en-US" sz="1300" dirty="0"/>
          </a:p>
        </p:txBody>
      </p:sp>
      <p:sp>
        <p:nvSpPr>
          <p:cNvPr id="10" name="Shape 8"/>
          <p:cNvSpPr/>
          <p:nvPr/>
        </p:nvSpPr>
        <p:spPr>
          <a:xfrm>
            <a:off x="0" y="859536"/>
            <a:ext cx="12191695" cy="27432"/>
          </a:xfrm>
          <a:prstGeom prst="rect">
            <a:avLst/>
          </a:prstGeom>
          <a:solidFill>
            <a:srgbClr val="2A0A45"/>
          </a:solidFill>
          <a:ln w="12700">
            <a:solidFill>
              <a:srgbClr val="333333"/>
            </a:solidFill>
            <a:prstDash val="solid"/>
          </a:ln>
        </p:spPr>
      </p:sp>
      <p:sp>
        <p:nvSpPr>
          <p:cNvPr id="11" name="Shape 9"/>
          <p:cNvSpPr/>
          <p:nvPr/>
        </p:nvSpPr>
        <p:spPr>
          <a:xfrm>
            <a:off x="0" y="1783080"/>
            <a:ext cx="12191695" cy="27432"/>
          </a:xfrm>
          <a:prstGeom prst="rect">
            <a:avLst/>
          </a:prstGeom>
          <a:solidFill>
            <a:srgbClr val="2A0A45"/>
          </a:solidFill>
          <a:ln w="12700">
            <a:solidFill>
              <a:srgbClr val="333333"/>
            </a:solidFill>
            <a:prstDash val="solid"/>
          </a:ln>
        </p:spPr>
      </p:sp>
      <p:sp>
        <p:nvSpPr>
          <p:cNvPr id="12" name="Shape 10"/>
          <p:cNvSpPr/>
          <p:nvPr/>
        </p:nvSpPr>
        <p:spPr>
          <a:xfrm>
            <a:off x="0" y="6528816"/>
            <a:ext cx="12191695" cy="329184"/>
          </a:xfrm>
          <a:prstGeom prst="rect">
            <a:avLst/>
          </a:prstGeom>
          <a:solidFill>
            <a:srgbClr val="2A0A45"/>
          </a:solidFill>
          <a:ln w="12700">
            <a:solidFill>
              <a:srgbClr val="333333"/>
            </a:solidFill>
            <a:prstDash val="solid"/>
          </a:ln>
        </p:spPr>
      </p:sp>
      <p:sp>
        <p:nvSpPr>
          <p:cNvPr id="13" name="Text 11"/>
          <p:cNvSpPr/>
          <p:nvPr/>
        </p:nvSpPr>
        <p:spPr>
          <a:xfrm>
            <a:off x="137160" y="6528816"/>
            <a:ext cx="9601200" cy="329184"/>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₹115 cr on adoption across three years — 15% of the programme, priced against the case's own 34% failure</a:t>
            </a:r>
            <a:endParaRPr lang="en-US" sz="1200" dirty="0"/>
          </a:p>
        </p:txBody>
      </p:sp>
      <p:sp>
        <p:nvSpPr>
          <p:cNvPr id="14" name="Text 12"/>
          <p:cNvSpPr/>
          <p:nvPr/>
        </p:nvSpPr>
        <p:spPr>
          <a:xfrm>
            <a:off x="10789920" y="6528816"/>
            <a:ext cx="1280160" cy="329184"/>
          </a:xfrm>
          <a:prstGeom prst="rect">
            <a:avLst/>
          </a:prstGeom>
          <a:noFill/>
          <a:ln/>
        </p:spPr>
        <p:txBody>
          <a:bodyPr wrap="square" lIns="0" tIns="0" rIns="0" bIns="0" rtlCol="0" anchor="ctr"/>
          <a:lstStyle/>
          <a:p>
            <a:pPr algn="r" indent="0" marL="0">
              <a:buNone/>
            </a:pPr>
            <a:r>
              <a:rPr lang="en-US" sz="1200" dirty="0">
                <a:solidFill>
                  <a:srgbClr val="FFFFFF"/>
                </a:solidFill>
                <a:latin typeface="Calibri" pitchFamily="34" charset="0"/>
                <a:ea typeface="Calibri" pitchFamily="34" charset="-122"/>
                <a:cs typeface="Calibri" pitchFamily="34" charset="-120"/>
              </a:rPr>
              <a:t>5 / 7</a:t>
            </a:r>
            <a:endParaRPr lang="en-US" sz="1200" dirty="0"/>
          </a:p>
        </p:txBody>
      </p:sp>
      <p:sp>
        <p:nvSpPr>
          <p:cNvPr id="15" name="Shape 13"/>
          <p:cNvSpPr/>
          <p:nvPr/>
        </p:nvSpPr>
        <p:spPr>
          <a:xfrm>
            <a:off x="0" y="886968"/>
            <a:ext cx="1938528" cy="896112"/>
          </a:xfrm>
          <a:prstGeom prst="homePlate">
            <a:avLst/>
          </a:prstGeom>
          <a:solidFill>
            <a:srgbClr val="2A0A45"/>
          </a:solidFill>
          <a:ln w="12700">
            <a:solidFill>
              <a:srgbClr val="333333"/>
            </a:solidFill>
            <a:prstDash val="solid"/>
          </a:ln>
        </p:spPr>
      </p:sp>
      <p:pic>
        <p:nvPicPr>
          <p:cNvPr id="16" name="Image 0" descr="preencoded.png">    </p:cNvPr>
          <p:cNvPicPr>
            <a:picLocks noChangeAspect="1"/>
          </p:cNvPicPr>
          <p:nvPr/>
        </p:nvPicPr>
        <p:blipFill>
          <a:blip r:embed="rId1"/>
          <a:stretch>
            <a:fillRect/>
          </a:stretch>
        </p:blipFill>
        <p:spPr>
          <a:xfrm>
            <a:off x="128016" y="1005840"/>
            <a:ext cx="274320" cy="274320"/>
          </a:xfrm>
          <a:prstGeom prst="rect">
            <a:avLst/>
          </a:prstGeom>
        </p:spPr>
      </p:pic>
      <p:sp>
        <p:nvSpPr>
          <p:cNvPr id="17" name="Text 14"/>
          <p:cNvSpPr/>
          <p:nvPr/>
        </p:nvSpPr>
        <p:spPr>
          <a:xfrm>
            <a:off x="457200" y="905256"/>
            <a:ext cx="1325880" cy="859536"/>
          </a:xfrm>
          <a:prstGeom prst="rect">
            <a:avLst/>
          </a:prstGeom>
          <a:noFill/>
          <a:ln/>
        </p:spPr>
        <p:txBody>
          <a:bodyPr wrap="square" lIns="0" tIns="0" rIns="0" bIns="0" rtlCol="0" anchor="ctr"/>
          <a:lstStyle/>
          <a:p>
            <a:pPr indent="0" marL="0">
              <a:lnSpc>
                <a:spcPct val="100000"/>
              </a:lnSpc>
              <a:buNone/>
            </a:pPr>
            <a:r>
              <a:rPr lang="en-US" sz="1200" b="1" dirty="0">
                <a:solidFill>
                  <a:srgbClr val="FFFFFF"/>
                </a:solidFill>
                <a:latin typeface="Calibri" pitchFamily="34" charset="0"/>
                <a:ea typeface="Calibri" pitchFamily="34" charset="-122"/>
                <a:cs typeface="Calibri" pitchFamily="34" charset="-120"/>
              </a:rPr>
              <a:t>ACTIVE, OF</a:t>
            </a:r>
            <a:pPr indent="0" marL="0">
              <a:lnSpc>
                <a:spcPct val="100000"/>
              </a:lnSpc>
              <a:buNone/>
            </a:pPr>
            <a:endParaRPr lang="en-US" sz="1200" dirty="0"/>
          </a:p>
          <a:p>
            <a:pPr indent="0" marL="0">
              <a:lnSpc>
                <a:spcPct val="100000"/>
              </a:lnSpc>
              <a:buNone/>
            </a:pPr>
            <a:r>
              <a:rPr lang="en-US" sz="1200" b="1" dirty="0">
                <a:solidFill>
                  <a:srgbClr val="FFFFFF"/>
                </a:solidFill>
                <a:latin typeface="Calibri" pitchFamily="34" charset="0"/>
                <a:ea typeface="Calibri" pitchFamily="34" charset="-122"/>
                <a:cs typeface="Calibri" pitchFamily="34" charset="-120"/>
              </a:rPr>
              <a:t>ONBOARDED</a:t>
            </a:r>
            <a:endParaRPr lang="en-US" sz="1200" dirty="0"/>
          </a:p>
        </p:txBody>
      </p:sp>
      <p:graphicFrame>
        <p:nvGraphicFramePr>
          <p:cNvPr id="18" name="Chart 0" descr=""/>
          <p:cNvGraphicFramePr/>
          <p:nvPr/>
        </p:nvGraphicFramePr>
        <p:xfrm>
          <a:off x="2103120" y="905256"/>
          <a:ext cx="7863840" cy="877824"/>
        </p:xfrm>
        <a:graphic xmlns:a="http://schemas.openxmlformats.org/drawingml/2006/main">
          <a:graphicData uri="http://schemas.openxmlformats.org/drawingml/2006/chart">
            <c:chart xmlns:c="http://schemas.openxmlformats.org/drawingml/2006/chart" r:id="rId2"/>
          </a:graphicData>
        </a:graphic>
      </p:graphicFrame>
      <p:sp>
        <p:nvSpPr>
          <p:cNvPr id="19" name="Text 15"/>
          <p:cNvSpPr/>
          <p:nvPr/>
        </p:nvSpPr>
        <p:spPr>
          <a:xfrm>
            <a:off x="10058400" y="914400"/>
            <a:ext cx="2057400" cy="841248"/>
          </a:xfrm>
          <a:prstGeom prst="rect">
            <a:avLst/>
          </a:prstGeom>
          <a:noFill/>
          <a:ln/>
        </p:spPr>
        <p:txBody>
          <a:bodyPr wrap="square" lIns="0" tIns="0" rIns="0" bIns="0" rtlCol="0" anchor="ctr"/>
          <a:lstStyle/>
          <a:p>
            <a:pPr indent="0" marL="0">
              <a:lnSpc>
                <a:spcPct val="102000"/>
              </a:lnSpc>
              <a:buNone/>
            </a:pPr>
            <a:r>
              <a:rPr lang="en-US" sz="1200" b="1" dirty="0">
                <a:solidFill>
                  <a:srgbClr val="3A3838"/>
                </a:solidFill>
                <a:latin typeface="Calibri" pitchFamily="34" charset="0"/>
                <a:ea typeface="Calibri" pitchFamily="34" charset="-122"/>
                <a:cs typeface="Calibri" pitchFamily="34" charset="-120"/>
              </a:rPr>
              <a:t>34% → 65% → 80% → 95%</a:t>
            </a:r>
            <a:pPr indent="0" marL="0">
              <a:lnSpc>
                <a:spcPct val="102000"/>
              </a:lnSpc>
              <a:buNone/>
            </a:pPr>
            <a:r>
              <a:rPr lang="en-US" sz="1200" dirty="0">
                <a:solidFill>
                  <a:srgbClr val="3A3838"/>
                </a:solidFill>
                <a:latin typeface="Calibri" pitchFamily="34" charset="0"/>
                <a:ea typeface="Calibri" pitchFamily="34" charset="-122"/>
                <a:cs typeface="Calibri" pitchFamily="34" charset="-120"/>
              </a:rPr>
              <a:t> of onboarded outlets · gate floors at Q4 (G2), Q8 (G3), Q12 (G4)</a:t>
            </a:r>
            <a:endParaRPr lang="en-US" sz="1200" dirty="0"/>
          </a:p>
        </p:txBody>
      </p:sp>
      <p:sp>
        <p:nvSpPr>
          <p:cNvPr id="20" name="Shape 16"/>
          <p:cNvSpPr/>
          <p:nvPr/>
        </p:nvSpPr>
        <p:spPr>
          <a:xfrm>
            <a:off x="4123944" y="1874520"/>
            <a:ext cx="13716" cy="4526280"/>
          </a:xfrm>
          <a:prstGeom prst="rect">
            <a:avLst/>
          </a:prstGeom>
          <a:solidFill>
            <a:srgbClr val="DCD4E8"/>
          </a:solidFill>
          <a:ln w="12700">
            <a:solidFill>
              <a:srgbClr val="333333"/>
            </a:solidFill>
            <a:prstDash val="solid"/>
          </a:ln>
        </p:spPr>
      </p:sp>
      <p:sp>
        <p:nvSpPr>
          <p:cNvPr id="21" name="Shape 17"/>
          <p:cNvSpPr/>
          <p:nvPr/>
        </p:nvSpPr>
        <p:spPr>
          <a:xfrm>
            <a:off x="8174736" y="1874520"/>
            <a:ext cx="13716" cy="4526280"/>
          </a:xfrm>
          <a:prstGeom prst="rect">
            <a:avLst/>
          </a:prstGeom>
          <a:solidFill>
            <a:srgbClr val="DCD4E8"/>
          </a:solidFill>
          <a:ln w="12700">
            <a:solidFill>
              <a:srgbClr val="333333"/>
            </a:solidFill>
            <a:prstDash val="solid"/>
          </a:ln>
        </p:spPr>
      </p:sp>
      <p:sp>
        <p:nvSpPr>
          <p:cNvPr id="22" name="Shape 18"/>
          <p:cNvSpPr/>
          <p:nvPr/>
        </p:nvSpPr>
        <p:spPr>
          <a:xfrm>
            <a:off x="137160" y="1920240"/>
            <a:ext cx="292608" cy="292608"/>
          </a:xfrm>
          <a:prstGeom prst="ellipse">
            <a:avLst/>
          </a:prstGeom>
          <a:solidFill>
            <a:srgbClr val="A100FF"/>
          </a:solidFill>
          <a:ln w="12700">
            <a:solidFill>
              <a:srgbClr val="333333"/>
            </a:solidFill>
            <a:prstDash val="solid"/>
          </a:ln>
        </p:spPr>
      </p:sp>
      <p:sp>
        <p:nvSpPr>
          <p:cNvPr id="23" name="Text 19"/>
          <p:cNvSpPr/>
          <p:nvPr/>
        </p:nvSpPr>
        <p:spPr>
          <a:xfrm>
            <a:off x="137160" y="1920240"/>
            <a:ext cx="292608" cy="29260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24" name="Text 20"/>
          <p:cNvSpPr/>
          <p:nvPr/>
        </p:nvSpPr>
        <p:spPr>
          <a:xfrm>
            <a:off x="521208" y="1929384"/>
            <a:ext cx="3474720" cy="292608"/>
          </a:xfrm>
          <a:prstGeom prst="rect">
            <a:avLst/>
          </a:prstGeom>
          <a:noFill/>
          <a:ln/>
        </p:spPr>
        <p:txBody>
          <a:bodyPr wrap="square" lIns="0" tIns="0" rIns="0" bIns="0" rtlCol="0" anchor="ctr"/>
          <a:lstStyle/>
          <a:p>
            <a:pPr indent="0" marL="0">
              <a:buNone/>
            </a:pPr>
            <a:r>
              <a:rPr lang="en-US" sz="1350" b="1" dirty="0">
                <a:solidFill>
                  <a:srgbClr val="2A0A45"/>
                </a:solidFill>
                <a:latin typeface="Calibri" pitchFamily="34" charset="0"/>
                <a:ea typeface="Calibri" pitchFamily="34" charset="-122"/>
                <a:cs typeface="Calibri" pitchFamily="34" charset="-120"/>
              </a:rPr>
              <a:t>Train by role, on the floor</a:t>
            </a:r>
            <a:endParaRPr lang="en-US" sz="135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137160" y="2304288"/>
          <a:ext cx="3904488" cy="914400"/>
        </p:xfrm>
        <a:graphic>
          <a:graphicData uri="http://schemas.openxmlformats.org/drawingml/2006/table">
            <a:tbl>
              <a:tblPr/>
              <a:tblGrid>
                <a:gridCol w="1005840"/>
                <a:gridCol w="2468880"/>
                <a:gridCol w="429768"/>
              </a:tblGrid>
              <a:tr h="228600">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Who</a:t>
                      </a:r>
                      <a:endParaRPr lang="en-US" sz="1200" dirty="0">
                        <a:latin typeface="Calibri" charset="0"/>
                        <a:ea typeface="Calibri" charset="0"/>
                        <a:cs typeface="Calibri" charset="0"/>
                      </a:endParaRPr>
                    </a:p>
                  </a:txBody>
                  <a:tcPr marL="36576" marR="36576" marT="36576" marB="36576" anchor="ctr">
                    <a:lnL w="9525" cap="flat" cmpd="sng" algn="ctr">
                      <a:solidFill>
                        <a:srgbClr val="DCD4E8"/>
                      </a:solidFill>
                      <a:prstDash val="solid"/>
                      <a:round/>
                      <a:headEnd type="none" w="med" len="med"/>
                      <a:tailEnd type="none" w="med" len="med"/>
                    </a:lnL>
                    <a:lnR w="9525" cap="flat" cmpd="sng" algn="ctr">
                      <a:solidFill>
                        <a:srgbClr val="DCD4E8"/>
                      </a:solidFill>
                      <a:prstDash val="solid"/>
                      <a:round/>
                      <a:headEnd type="none" w="med" len="med"/>
                      <a:tailEnd type="none" w="med" len="med"/>
                    </a:lnR>
                    <a:lnT w="9525" cap="flat" cmpd="sng" algn="ctr">
                      <a:solidFill>
                        <a:srgbClr val="DCD4E8"/>
                      </a:solidFill>
                      <a:prstDash val="solid"/>
                      <a:round/>
                      <a:headEnd type="none" w="med" len="med"/>
                      <a:tailEnd type="none" w="med" len="med"/>
                    </a:lnT>
                    <a:lnB w="9525" cap="flat" cmpd="sng" algn="ctr">
                      <a:solidFill>
                        <a:srgbClr val="DCD4E8"/>
                      </a:solidFill>
                      <a:prstDash val="solid"/>
                      <a:round/>
                      <a:headEnd type="none" w="med" len="med"/>
                      <a:tailEnd type="none" w="med" len="med"/>
                    </a:lnB>
                    <a:solidFill>
                      <a:srgbClr val="2A0A45"/>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Learns</a:t>
                      </a:r>
                      <a:endParaRPr lang="en-US" sz="1200" dirty="0">
                        <a:latin typeface="Calibri" charset="0"/>
                        <a:ea typeface="Calibri" charset="0"/>
                        <a:cs typeface="Calibri" charset="0"/>
                      </a:endParaRPr>
                    </a:p>
                  </a:txBody>
                  <a:tcPr marL="36576" marR="36576" marT="36576" marB="36576" anchor="ctr">
                    <a:lnL w="9525" cap="flat" cmpd="sng" algn="ctr">
                      <a:solidFill>
                        <a:srgbClr val="DCD4E8"/>
                      </a:solidFill>
                      <a:prstDash val="solid"/>
                      <a:round/>
                      <a:headEnd type="none" w="med" len="med"/>
                      <a:tailEnd type="none" w="med" len="med"/>
                    </a:lnL>
                    <a:lnR w="9525" cap="flat" cmpd="sng" algn="ctr">
                      <a:solidFill>
                        <a:srgbClr val="DCD4E8"/>
                      </a:solidFill>
                      <a:prstDash val="solid"/>
                      <a:round/>
                      <a:headEnd type="none" w="med" len="med"/>
                      <a:tailEnd type="none" w="med" len="med"/>
                    </a:lnR>
                    <a:lnT w="9525" cap="flat" cmpd="sng" algn="ctr">
                      <a:solidFill>
                        <a:srgbClr val="DCD4E8"/>
                      </a:solidFill>
                      <a:prstDash val="solid"/>
                      <a:round/>
                      <a:headEnd type="none" w="med" len="med"/>
                      <a:tailEnd type="none" w="med" len="med"/>
                    </a:lnT>
                    <a:lnB w="9525" cap="flat" cmpd="sng" algn="ctr">
                      <a:solidFill>
                        <a:srgbClr val="DCD4E8"/>
                      </a:solidFill>
                      <a:prstDash val="solid"/>
                      <a:round/>
                      <a:headEnd type="none" w="med" len="med"/>
                      <a:tailEnd type="none" w="med" len="med"/>
                    </a:lnB>
                    <a:solidFill>
                      <a:srgbClr val="2A0A45"/>
                    </a:solidFill>
                  </a:tcPr>
                </a:tc>
                <a:tc>
                  <a:txBody>
                    <a:bodyPr/>
                    <a:lstStyle/>
                    <a:p>
                      <a:pPr algn="r" indent="0" marL="0">
                        <a:buNone/>
                      </a:pPr>
                      <a:r>
                        <a:rPr lang="en-US" sz="1200" b="1" dirty="0">
                          <a:solidFill>
                            <a:srgbClr val="FFFFFF"/>
                          </a:solidFill>
                          <a:latin typeface="Calibri" pitchFamily="34" charset="0"/>
                          <a:ea typeface="Calibri" pitchFamily="34" charset="-122"/>
                          <a:cs typeface="Calibri" pitchFamily="34" charset="-120"/>
                        </a:rPr>
                        <a:t>Hrs</a:t>
                      </a:r>
                      <a:endParaRPr lang="en-US" sz="1200" dirty="0">
                        <a:latin typeface="Calibri" charset="0"/>
                        <a:ea typeface="Calibri" charset="0"/>
                        <a:cs typeface="Calibri" charset="0"/>
                      </a:endParaRPr>
                    </a:p>
                  </a:txBody>
                  <a:tcPr marL="36576" marR="36576" marT="36576" marB="36576" anchor="ctr">
                    <a:lnL w="9525" cap="flat" cmpd="sng" algn="ctr">
                      <a:solidFill>
                        <a:srgbClr val="DCD4E8"/>
                      </a:solidFill>
                      <a:prstDash val="solid"/>
                      <a:round/>
                      <a:headEnd type="none" w="med" len="med"/>
                      <a:tailEnd type="none" w="med" len="med"/>
                    </a:lnL>
                    <a:lnR w="9525" cap="flat" cmpd="sng" algn="ctr">
                      <a:solidFill>
                        <a:srgbClr val="DCD4E8"/>
                      </a:solidFill>
                      <a:prstDash val="solid"/>
                      <a:round/>
                      <a:headEnd type="none" w="med" len="med"/>
                      <a:tailEnd type="none" w="med" len="med"/>
                    </a:lnR>
                    <a:lnT w="9525" cap="flat" cmpd="sng" algn="ctr">
                      <a:solidFill>
                        <a:srgbClr val="DCD4E8"/>
                      </a:solidFill>
                      <a:prstDash val="solid"/>
                      <a:round/>
                      <a:headEnd type="none" w="med" len="med"/>
                      <a:tailEnd type="none" w="med" len="med"/>
                    </a:lnT>
                    <a:lnB w="9525" cap="flat" cmpd="sng" algn="ctr">
                      <a:solidFill>
                        <a:srgbClr val="DCD4E8"/>
                      </a:solidFill>
                      <a:prstDash val="solid"/>
                      <a:round/>
                      <a:headEnd type="none" w="med" len="med"/>
                      <a:tailEnd type="none" w="med" len="med"/>
                    </a:lnB>
                    <a:solidFill>
                      <a:srgbClr val="2A0A45"/>
                    </a:solidFill>
                  </a:tcPr>
                </a:tc>
              </a:tr>
              <a:tr h="228600">
                <a:tc>
                  <a:txBody>
                    <a:bodyPr/>
                    <a:lstStyle/>
                    <a:p>
                      <a:pPr algn="l" indent="0" marL="0">
                        <a:buNone/>
                      </a:pPr>
                      <a:r>
                        <a:rPr lang="en-US" sz="1200" dirty="0">
                          <a:solidFill>
                            <a:srgbClr val="3A3838"/>
                          </a:solidFill>
                          <a:latin typeface="Calibri" pitchFamily="34" charset="0"/>
                          <a:ea typeface="Calibri" pitchFamily="34" charset="-122"/>
                          <a:cs typeface="Calibri" pitchFamily="34" charset="-120"/>
                        </a:rPr>
                        <a:t>Consultant</a:t>
                      </a:r>
                      <a:endParaRPr lang="en-US" sz="1200" dirty="0">
                        <a:latin typeface="Calibri" charset="0"/>
                        <a:ea typeface="Calibri" charset="0"/>
                        <a:cs typeface="Calibri" charset="0"/>
                      </a:endParaRPr>
                    </a:p>
                  </a:txBody>
                  <a:tcPr marL="36576" marR="36576" marT="36576" marB="36576" anchor="ctr">
                    <a:lnL w="9525" cap="flat" cmpd="sng" algn="ctr">
                      <a:solidFill>
                        <a:srgbClr val="DCD4E8"/>
                      </a:solidFill>
                      <a:prstDash val="solid"/>
                      <a:round/>
                      <a:headEnd type="none" w="med" len="med"/>
                      <a:tailEnd type="none" w="med" len="med"/>
                    </a:lnL>
                    <a:lnR w="9525" cap="flat" cmpd="sng" algn="ctr">
                      <a:solidFill>
                        <a:srgbClr val="DCD4E8"/>
                      </a:solidFill>
                      <a:prstDash val="solid"/>
                      <a:round/>
                      <a:headEnd type="none" w="med" len="med"/>
                      <a:tailEnd type="none" w="med" len="med"/>
                    </a:lnR>
                    <a:lnT w="9525" cap="flat" cmpd="sng" algn="ctr">
                      <a:solidFill>
                        <a:srgbClr val="DCD4E8"/>
                      </a:solidFill>
                      <a:prstDash val="solid"/>
                      <a:round/>
                      <a:headEnd type="none" w="med" len="med"/>
                      <a:tailEnd type="none" w="med" len="med"/>
                    </a:lnT>
                    <a:lnB w="9525" cap="flat" cmpd="sng" algn="ctr">
                      <a:solidFill>
                        <a:srgbClr val="DCD4E8"/>
                      </a:solidFill>
                      <a:prstDash val="solid"/>
                      <a:round/>
                      <a:headEnd type="none" w="med" len="med"/>
                      <a:tailEnd type="none" w="med" len="med"/>
                    </a:lnB>
                    <a:solidFill>
                      <a:srgbClr val="FBF8FE"/>
                    </a:solidFill>
                  </a:tcPr>
                </a:tc>
                <a:tc>
                  <a:txBody>
                    <a:bodyPr/>
                    <a:lstStyle/>
                    <a:p>
                      <a:pPr algn="l" indent="0" marL="0">
                        <a:buNone/>
                      </a:pPr>
                      <a:r>
                        <a:rPr lang="en-US" sz="1200" dirty="0">
                          <a:solidFill>
                            <a:srgbClr val="3A3838"/>
                          </a:solidFill>
                          <a:latin typeface="Calibri" pitchFamily="34" charset="0"/>
                          <a:ea typeface="Calibri" pitchFamily="34" charset="-122"/>
                          <a:cs typeface="Calibri" pitchFamily="34" charset="-120"/>
                        </a:rPr>
                        <a:t>Queue triage, the brief, SLA habit, outcomes</a:t>
                      </a:r>
                      <a:endParaRPr lang="en-US" sz="1200" dirty="0">
                        <a:latin typeface="Calibri" charset="0"/>
                        <a:ea typeface="Calibri" charset="0"/>
                        <a:cs typeface="Calibri" charset="0"/>
                      </a:endParaRPr>
                    </a:p>
                  </a:txBody>
                  <a:tcPr marL="36576" marR="36576" marT="36576" marB="36576" anchor="ctr">
                    <a:lnL w="9525" cap="flat" cmpd="sng" algn="ctr">
                      <a:solidFill>
                        <a:srgbClr val="DCD4E8"/>
                      </a:solidFill>
                      <a:prstDash val="solid"/>
                      <a:round/>
                      <a:headEnd type="none" w="med" len="med"/>
                      <a:tailEnd type="none" w="med" len="med"/>
                    </a:lnL>
                    <a:lnR w="9525" cap="flat" cmpd="sng" algn="ctr">
                      <a:solidFill>
                        <a:srgbClr val="DCD4E8"/>
                      </a:solidFill>
                      <a:prstDash val="solid"/>
                      <a:round/>
                      <a:headEnd type="none" w="med" len="med"/>
                      <a:tailEnd type="none" w="med" len="med"/>
                    </a:lnR>
                    <a:lnT w="9525" cap="flat" cmpd="sng" algn="ctr">
                      <a:solidFill>
                        <a:srgbClr val="DCD4E8"/>
                      </a:solidFill>
                      <a:prstDash val="solid"/>
                      <a:round/>
                      <a:headEnd type="none" w="med" len="med"/>
                      <a:tailEnd type="none" w="med" len="med"/>
                    </a:lnT>
                    <a:lnB w="9525" cap="flat" cmpd="sng" algn="ctr">
                      <a:solidFill>
                        <a:srgbClr val="DCD4E8"/>
                      </a:solidFill>
                      <a:prstDash val="solid"/>
                      <a:round/>
                      <a:headEnd type="none" w="med" len="med"/>
                      <a:tailEnd type="none" w="med" len="med"/>
                    </a:lnB>
                    <a:solidFill>
                      <a:srgbClr val="FBF8FE"/>
                    </a:solidFill>
                  </a:tcPr>
                </a:tc>
                <a:tc>
                  <a:txBody>
                    <a:bodyPr/>
                    <a:lstStyle/>
                    <a:p>
                      <a:pPr algn="r" indent="0" marL="0">
                        <a:buNone/>
                      </a:pPr>
                      <a:r>
                        <a:rPr lang="en-US" sz="1200" dirty="0">
                          <a:solidFill>
                            <a:srgbClr val="3A3838"/>
                          </a:solidFill>
                          <a:latin typeface="Calibri" pitchFamily="34" charset="0"/>
                          <a:ea typeface="Calibri" pitchFamily="34" charset="-122"/>
                          <a:cs typeface="Calibri" pitchFamily="34" charset="-120"/>
                        </a:rPr>
                        <a:t>12</a:t>
                      </a:r>
                      <a:endParaRPr lang="en-US" sz="1200" dirty="0">
                        <a:latin typeface="Calibri" charset="0"/>
                        <a:ea typeface="Calibri" charset="0"/>
                        <a:cs typeface="Calibri" charset="0"/>
                      </a:endParaRPr>
                    </a:p>
                  </a:txBody>
                  <a:tcPr marL="36576" marR="36576" marT="36576" marB="36576" anchor="ctr">
                    <a:lnL w="9525" cap="flat" cmpd="sng" algn="ctr">
                      <a:solidFill>
                        <a:srgbClr val="DCD4E8"/>
                      </a:solidFill>
                      <a:prstDash val="solid"/>
                      <a:round/>
                      <a:headEnd type="none" w="med" len="med"/>
                      <a:tailEnd type="none" w="med" len="med"/>
                    </a:lnL>
                    <a:lnR w="9525" cap="flat" cmpd="sng" algn="ctr">
                      <a:solidFill>
                        <a:srgbClr val="DCD4E8"/>
                      </a:solidFill>
                      <a:prstDash val="solid"/>
                      <a:round/>
                      <a:headEnd type="none" w="med" len="med"/>
                      <a:tailEnd type="none" w="med" len="med"/>
                    </a:lnR>
                    <a:lnT w="9525" cap="flat" cmpd="sng" algn="ctr">
                      <a:solidFill>
                        <a:srgbClr val="DCD4E8"/>
                      </a:solidFill>
                      <a:prstDash val="solid"/>
                      <a:round/>
                      <a:headEnd type="none" w="med" len="med"/>
                      <a:tailEnd type="none" w="med" len="med"/>
                    </a:lnT>
                    <a:lnB w="9525" cap="flat" cmpd="sng" algn="ctr">
                      <a:solidFill>
                        <a:srgbClr val="DCD4E8"/>
                      </a:solidFill>
                      <a:prstDash val="solid"/>
                      <a:round/>
                      <a:headEnd type="none" w="med" len="med"/>
                      <a:tailEnd type="none" w="med" len="med"/>
                    </a:lnB>
                    <a:solidFill>
                      <a:srgbClr val="FBF8FE"/>
                    </a:solidFill>
                  </a:tcPr>
                </a:tc>
              </a:tr>
              <a:tr h="228600">
                <a:tc>
                  <a:txBody>
                    <a:bodyPr/>
                    <a:lstStyle/>
                    <a:p>
                      <a:pPr algn="l" indent="0" marL="0">
                        <a:buNone/>
                      </a:pPr>
                      <a:r>
                        <a:rPr lang="en-US" sz="1200" dirty="0">
                          <a:solidFill>
                            <a:srgbClr val="3A3838"/>
                          </a:solidFill>
                          <a:latin typeface="Calibri" pitchFamily="34" charset="0"/>
                          <a:ea typeface="Calibri" pitchFamily="34" charset="-122"/>
                          <a:cs typeface="Calibri" pitchFamily="34" charset="-120"/>
                        </a:rPr>
                        <a:t>Service advisor</a:t>
                      </a:r>
                      <a:endParaRPr lang="en-US" sz="1200" dirty="0">
                        <a:latin typeface="Calibri" charset="0"/>
                        <a:ea typeface="Calibri" charset="0"/>
                        <a:cs typeface="Calibri" charset="0"/>
                      </a:endParaRPr>
                    </a:p>
                  </a:txBody>
                  <a:tcPr marL="36576" marR="36576" marT="36576" marB="36576" anchor="ctr">
                    <a:lnL w="9525" cap="flat" cmpd="sng" algn="ctr">
                      <a:solidFill>
                        <a:srgbClr val="DCD4E8"/>
                      </a:solidFill>
                      <a:prstDash val="solid"/>
                      <a:round/>
                      <a:headEnd type="none" w="med" len="med"/>
                      <a:tailEnd type="none" w="med" len="med"/>
                    </a:lnL>
                    <a:lnR w="9525" cap="flat" cmpd="sng" algn="ctr">
                      <a:solidFill>
                        <a:srgbClr val="DCD4E8"/>
                      </a:solidFill>
                      <a:prstDash val="solid"/>
                      <a:round/>
                      <a:headEnd type="none" w="med" len="med"/>
                      <a:tailEnd type="none" w="med" len="med"/>
                    </a:lnR>
                    <a:lnT w="9525" cap="flat" cmpd="sng" algn="ctr">
                      <a:solidFill>
                        <a:srgbClr val="DCD4E8"/>
                      </a:solidFill>
                      <a:prstDash val="solid"/>
                      <a:round/>
                      <a:headEnd type="none" w="med" len="med"/>
                      <a:tailEnd type="none" w="med" len="med"/>
                    </a:lnT>
                    <a:lnB w="9525" cap="flat" cmpd="sng" algn="ctr">
                      <a:solidFill>
                        <a:srgbClr val="DCD4E8"/>
                      </a:solidFill>
                      <a:prstDash val="solid"/>
                      <a:round/>
                      <a:headEnd type="none" w="med" len="med"/>
                      <a:tailEnd type="none" w="med" len="med"/>
                    </a:lnB>
                    <a:solidFill>
                      <a:srgbClr val="FFFFFF"/>
                    </a:solidFill>
                  </a:tcPr>
                </a:tc>
                <a:tc>
                  <a:txBody>
                    <a:bodyPr/>
                    <a:lstStyle/>
                    <a:p>
                      <a:pPr algn="l" indent="0" marL="0">
                        <a:buNone/>
                      </a:pPr>
                      <a:r>
                        <a:rPr lang="en-US" sz="1200" dirty="0">
                          <a:solidFill>
                            <a:srgbClr val="3A3838"/>
                          </a:solidFill>
                          <a:latin typeface="Calibri" pitchFamily="34" charset="0"/>
                          <a:ea typeface="Calibri" pitchFamily="34" charset="-122"/>
                          <a:cs typeface="Calibri" pitchFamily="34" charset="-120"/>
                        </a:rPr>
                        <a:t>Reactivation calls, advice scripts, proof of work</a:t>
                      </a:r>
                      <a:endParaRPr lang="en-US" sz="1200" dirty="0">
                        <a:latin typeface="Calibri" charset="0"/>
                        <a:ea typeface="Calibri" charset="0"/>
                        <a:cs typeface="Calibri" charset="0"/>
                      </a:endParaRPr>
                    </a:p>
                  </a:txBody>
                  <a:tcPr marL="36576" marR="36576" marT="36576" marB="36576" anchor="ctr">
                    <a:lnL w="9525" cap="flat" cmpd="sng" algn="ctr">
                      <a:solidFill>
                        <a:srgbClr val="DCD4E8"/>
                      </a:solidFill>
                      <a:prstDash val="solid"/>
                      <a:round/>
                      <a:headEnd type="none" w="med" len="med"/>
                      <a:tailEnd type="none" w="med" len="med"/>
                    </a:lnL>
                    <a:lnR w="9525" cap="flat" cmpd="sng" algn="ctr">
                      <a:solidFill>
                        <a:srgbClr val="DCD4E8"/>
                      </a:solidFill>
                      <a:prstDash val="solid"/>
                      <a:round/>
                      <a:headEnd type="none" w="med" len="med"/>
                      <a:tailEnd type="none" w="med" len="med"/>
                    </a:lnR>
                    <a:lnT w="9525" cap="flat" cmpd="sng" algn="ctr">
                      <a:solidFill>
                        <a:srgbClr val="DCD4E8"/>
                      </a:solidFill>
                      <a:prstDash val="solid"/>
                      <a:round/>
                      <a:headEnd type="none" w="med" len="med"/>
                      <a:tailEnd type="none" w="med" len="med"/>
                    </a:lnT>
                    <a:lnB w="9525" cap="flat" cmpd="sng" algn="ctr">
                      <a:solidFill>
                        <a:srgbClr val="DCD4E8"/>
                      </a:solidFill>
                      <a:prstDash val="solid"/>
                      <a:round/>
                      <a:headEnd type="none" w="med" len="med"/>
                      <a:tailEnd type="none" w="med" len="med"/>
                    </a:lnB>
                    <a:solidFill>
                      <a:srgbClr val="FFFFFF"/>
                    </a:solidFill>
                  </a:tcPr>
                </a:tc>
                <a:tc>
                  <a:txBody>
                    <a:bodyPr/>
                    <a:lstStyle/>
                    <a:p>
                      <a:pPr algn="r" indent="0" marL="0">
                        <a:buNone/>
                      </a:pPr>
                      <a:r>
                        <a:rPr lang="en-US" sz="1200" dirty="0">
                          <a:solidFill>
                            <a:srgbClr val="3A3838"/>
                          </a:solidFill>
                          <a:latin typeface="Calibri" pitchFamily="34" charset="0"/>
                          <a:ea typeface="Calibri" pitchFamily="34" charset="-122"/>
                          <a:cs typeface="Calibri" pitchFamily="34" charset="-120"/>
                        </a:rPr>
                        <a:t>10</a:t>
                      </a:r>
                      <a:endParaRPr lang="en-US" sz="1200" dirty="0">
                        <a:latin typeface="Calibri" charset="0"/>
                        <a:ea typeface="Calibri" charset="0"/>
                        <a:cs typeface="Calibri" charset="0"/>
                      </a:endParaRPr>
                    </a:p>
                  </a:txBody>
                  <a:tcPr marL="36576" marR="36576" marT="36576" marB="36576" anchor="ctr">
                    <a:lnL w="9525" cap="flat" cmpd="sng" algn="ctr">
                      <a:solidFill>
                        <a:srgbClr val="DCD4E8"/>
                      </a:solidFill>
                      <a:prstDash val="solid"/>
                      <a:round/>
                      <a:headEnd type="none" w="med" len="med"/>
                      <a:tailEnd type="none" w="med" len="med"/>
                    </a:lnL>
                    <a:lnR w="9525" cap="flat" cmpd="sng" algn="ctr">
                      <a:solidFill>
                        <a:srgbClr val="DCD4E8"/>
                      </a:solidFill>
                      <a:prstDash val="solid"/>
                      <a:round/>
                      <a:headEnd type="none" w="med" len="med"/>
                      <a:tailEnd type="none" w="med" len="med"/>
                    </a:lnR>
                    <a:lnT w="9525" cap="flat" cmpd="sng" algn="ctr">
                      <a:solidFill>
                        <a:srgbClr val="DCD4E8"/>
                      </a:solidFill>
                      <a:prstDash val="solid"/>
                      <a:round/>
                      <a:headEnd type="none" w="med" len="med"/>
                      <a:tailEnd type="none" w="med" len="med"/>
                    </a:lnT>
                    <a:lnB w="9525" cap="flat" cmpd="sng" algn="ctr">
                      <a:solidFill>
                        <a:srgbClr val="DCD4E8"/>
                      </a:solidFill>
                      <a:prstDash val="solid"/>
                      <a:round/>
                      <a:headEnd type="none" w="med" len="med"/>
                      <a:tailEnd type="none" w="med" len="med"/>
                    </a:lnB>
                    <a:solidFill>
                      <a:srgbClr val="FFFFFF"/>
                    </a:solidFill>
                  </a:tcPr>
                </a:tc>
              </a:tr>
              <a:tr h="228600">
                <a:tc>
                  <a:txBody>
                    <a:bodyPr/>
                    <a:lstStyle/>
                    <a:p>
                      <a:pPr algn="l" indent="0" marL="0">
                        <a:buNone/>
                      </a:pPr>
                      <a:r>
                        <a:rPr lang="en-US" sz="1200" dirty="0">
                          <a:solidFill>
                            <a:srgbClr val="3A3838"/>
                          </a:solidFill>
                          <a:latin typeface="Calibri" pitchFamily="34" charset="0"/>
                          <a:ea typeface="Calibri" pitchFamily="34" charset="-122"/>
                          <a:cs typeface="Calibri" pitchFamily="34" charset="-120"/>
                        </a:rPr>
                        <a:t>Dealer champion</a:t>
                      </a:r>
                      <a:endParaRPr lang="en-US" sz="1200" dirty="0">
                        <a:latin typeface="Calibri" charset="0"/>
                        <a:ea typeface="Calibri" charset="0"/>
                        <a:cs typeface="Calibri" charset="0"/>
                      </a:endParaRPr>
                    </a:p>
                  </a:txBody>
                  <a:tcPr marL="36576" marR="36576" marT="36576" marB="36576" anchor="ctr">
                    <a:lnL w="9525" cap="flat" cmpd="sng" algn="ctr">
                      <a:solidFill>
                        <a:srgbClr val="DCD4E8"/>
                      </a:solidFill>
                      <a:prstDash val="solid"/>
                      <a:round/>
                      <a:headEnd type="none" w="med" len="med"/>
                      <a:tailEnd type="none" w="med" len="med"/>
                    </a:lnL>
                    <a:lnR w="9525" cap="flat" cmpd="sng" algn="ctr">
                      <a:solidFill>
                        <a:srgbClr val="DCD4E8"/>
                      </a:solidFill>
                      <a:prstDash val="solid"/>
                      <a:round/>
                      <a:headEnd type="none" w="med" len="med"/>
                      <a:tailEnd type="none" w="med" len="med"/>
                    </a:lnR>
                    <a:lnT w="9525" cap="flat" cmpd="sng" algn="ctr">
                      <a:solidFill>
                        <a:srgbClr val="DCD4E8"/>
                      </a:solidFill>
                      <a:prstDash val="solid"/>
                      <a:round/>
                      <a:headEnd type="none" w="med" len="med"/>
                      <a:tailEnd type="none" w="med" len="med"/>
                    </a:lnT>
                    <a:lnB w="9525" cap="flat" cmpd="sng" algn="ctr">
                      <a:solidFill>
                        <a:srgbClr val="DCD4E8"/>
                      </a:solidFill>
                      <a:prstDash val="solid"/>
                      <a:round/>
                      <a:headEnd type="none" w="med" len="med"/>
                      <a:tailEnd type="none" w="med" len="med"/>
                    </a:lnB>
                    <a:solidFill>
                      <a:srgbClr val="FBF8FE"/>
                    </a:solidFill>
                  </a:tcPr>
                </a:tc>
                <a:tc>
                  <a:txBody>
                    <a:bodyPr/>
                    <a:lstStyle/>
                    <a:p>
                      <a:pPr algn="l" indent="0" marL="0">
                        <a:buNone/>
                      </a:pPr>
                      <a:r>
                        <a:rPr lang="en-US" sz="1200" dirty="0">
                          <a:solidFill>
                            <a:srgbClr val="3A3838"/>
                          </a:solidFill>
                          <a:latin typeface="Calibri" pitchFamily="34" charset="0"/>
                          <a:ea typeface="Calibri" pitchFamily="34" charset="-122"/>
                          <a:cs typeface="Calibri" pitchFamily="34" charset="-120"/>
                        </a:rPr>
                        <a:t>Train-the-trainer, floor coaching, escalation</a:t>
                      </a:r>
                      <a:endParaRPr lang="en-US" sz="1200" dirty="0">
                        <a:latin typeface="Calibri" charset="0"/>
                        <a:ea typeface="Calibri" charset="0"/>
                        <a:cs typeface="Calibri" charset="0"/>
                      </a:endParaRPr>
                    </a:p>
                  </a:txBody>
                  <a:tcPr marL="36576" marR="36576" marT="36576" marB="36576" anchor="ctr">
                    <a:lnL w="9525" cap="flat" cmpd="sng" algn="ctr">
                      <a:solidFill>
                        <a:srgbClr val="DCD4E8"/>
                      </a:solidFill>
                      <a:prstDash val="solid"/>
                      <a:round/>
                      <a:headEnd type="none" w="med" len="med"/>
                      <a:tailEnd type="none" w="med" len="med"/>
                    </a:lnL>
                    <a:lnR w="9525" cap="flat" cmpd="sng" algn="ctr">
                      <a:solidFill>
                        <a:srgbClr val="DCD4E8"/>
                      </a:solidFill>
                      <a:prstDash val="solid"/>
                      <a:round/>
                      <a:headEnd type="none" w="med" len="med"/>
                      <a:tailEnd type="none" w="med" len="med"/>
                    </a:lnR>
                    <a:lnT w="9525" cap="flat" cmpd="sng" algn="ctr">
                      <a:solidFill>
                        <a:srgbClr val="DCD4E8"/>
                      </a:solidFill>
                      <a:prstDash val="solid"/>
                      <a:round/>
                      <a:headEnd type="none" w="med" len="med"/>
                      <a:tailEnd type="none" w="med" len="med"/>
                    </a:lnT>
                    <a:lnB w="9525" cap="flat" cmpd="sng" algn="ctr">
                      <a:solidFill>
                        <a:srgbClr val="DCD4E8"/>
                      </a:solidFill>
                      <a:prstDash val="solid"/>
                      <a:round/>
                      <a:headEnd type="none" w="med" len="med"/>
                      <a:tailEnd type="none" w="med" len="med"/>
                    </a:lnB>
                    <a:solidFill>
                      <a:srgbClr val="FBF8FE"/>
                    </a:solidFill>
                  </a:tcPr>
                </a:tc>
                <a:tc>
                  <a:txBody>
                    <a:bodyPr/>
                    <a:lstStyle/>
                    <a:p>
                      <a:pPr algn="r" indent="0" marL="0">
                        <a:buNone/>
                      </a:pPr>
                      <a:r>
                        <a:rPr lang="en-US" sz="1200" dirty="0">
                          <a:solidFill>
                            <a:srgbClr val="3A3838"/>
                          </a:solidFill>
                          <a:latin typeface="Calibri" pitchFamily="34" charset="0"/>
                          <a:ea typeface="Calibri" pitchFamily="34" charset="-122"/>
                          <a:cs typeface="Calibri" pitchFamily="34" charset="-120"/>
                        </a:rPr>
                        <a:t>24</a:t>
                      </a:r>
                      <a:endParaRPr lang="en-US" sz="1200" dirty="0">
                        <a:latin typeface="Calibri" charset="0"/>
                        <a:ea typeface="Calibri" charset="0"/>
                        <a:cs typeface="Calibri" charset="0"/>
                      </a:endParaRPr>
                    </a:p>
                  </a:txBody>
                  <a:tcPr marL="36576" marR="36576" marT="36576" marB="36576" anchor="ctr">
                    <a:lnL w="9525" cap="flat" cmpd="sng" algn="ctr">
                      <a:solidFill>
                        <a:srgbClr val="DCD4E8"/>
                      </a:solidFill>
                      <a:prstDash val="solid"/>
                      <a:round/>
                      <a:headEnd type="none" w="med" len="med"/>
                      <a:tailEnd type="none" w="med" len="med"/>
                    </a:lnL>
                    <a:lnR w="9525" cap="flat" cmpd="sng" algn="ctr">
                      <a:solidFill>
                        <a:srgbClr val="DCD4E8"/>
                      </a:solidFill>
                      <a:prstDash val="solid"/>
                      <a:round/>
                      <a:headEnd type="none" w="med" len="med"/>
                      <a:tailEnd type="none" w="med" len="med"/>
                    </a:lnR>
                    <a:lnT w="9525" cap="flat" cmpd="sng" algn="ctr">
                      <a:solidFill>
                        <a:srgbClr val="DCD4E8"/>
                      </a:solidFill>
                      <a:prstDash val="solid"/>
                      <a:round/>
                      <a:headEnd type="none" w="med" len="med"/>
                      <a:tailEnd type="none" w="med" len="med"/>
                    </a:lnT>
                    <a:lnB w="9525" cap="flat" cmpd="sng" algn="ctr">
                      <a:solidFill>
                        <a:srgbClr val="DCD4E8"/>
                      </a:solidFill>
                      <a:prstDash val="solid"/>
                      <a:round/>
                      <a:headEnd type="none" w="med" len="med"/>
                      <a:tailEnd type="none" w="med" len="med"/>
                    </a:lnB>
                    <a:solidFill>
                      <a:srgbClr val="FBF8FE"/>
                    </a:solidFill>
                  </a:tcPr>
                </a:tc>
              </a:tr>
              <a:tr h="228600">
                <a:tc>
                  <a:txBody>
                    <a:bodyPr/>
                    <a:lstStyle/>
                    <a:p>
                      <a:pPr algn="l" indent="0" marL="0">
                        <a:buNone/>
                      </a:pPr>
                      <a:r>
                        <a:rPr lang="en-US" sz="1200" dirty="0">
                          <a:solidFill>
                            <a:srgbClr val="3A3838"/>
                          </a:solidFill>
                          <a:latin typeface="Calibri" pitchFamily="34" charset="0"/>
                          <a:ea typeface="Calibri" pitchFamily="34" charset="-122"/>
                          <a:cs typeface="Calibri" pitchFamily="34" charset="-120"/>
                        </a:rPr>
                        <a:t>Principal</a:t>
                      </a:r>
                      <a:endParaRPr lang="en-US" sz="1200" dirty="0">
                        <a:latin typeface="Calibri" charset="0"/>
                        <a:ea typeface="Calibri" charset="0"/>
                        <a:cs typeface="Calibri" charset="0"/>
                      </a:endParaRPr>
                    </a:p>
                  </a:txBody>
                  <a:tcPr marL="36576" marR="36576" marT="36576" marB="36576" anchor="ctr">
                    <a:lnL w="9525" cap="flat" cmpd="sng" algn="ctr">
                      <a:solidFill>
                        <a:srgbClr val="DCD4E8"/>
                      </a:solidFill>
                      <a:prstDash val="solid"/>
                      <a:round/>
                      <a:headEnd type="none" w="med" len="med"/>
                      <a:tailEnd type="none" w="med" len="med"/>
                    </a:lnL>
                    <a:lnR w="9525" cap="flat" cmpd="sng" algn="ctr">
                      <a:solidFill>
                        <a:srgbClr val="DCD4E8"/>
                      </a:solidFill>
                      <a:prstDash val="solid"/>
                      <a:round/>
                      <a:headEnd type="none" w="med" len="med"/>
                      <a:tailEnd type="none" w="med" len="med"/>
                    </a:lnR>
                    <a:lnT w="9525" cap="flat" cmpd="sng" algn="ctr">
                      <a:solidFill>
                        <a:srgbClr val="DCD4E8"/>
                      </a:solidFill>
                      <a:prstDash val="solid"/>
                      <a:round/>
                      <a:headEnd type="none" w="med" len="med"/>
                      <a:tailEnd type="none" w="med" len="med"/>
                    </a:lnT>
                    <a:lnB w="9525" cap="flat" cmpd="sng" algn="ctr">
                      <a:solidFill>
                        <a:srgbClr val="DCD4E8"/>
                      </a:solidFill>
                      <a:prstDash val="solid"/>
                      <a:round/>
                      <a:headEnd type="none" w="med" len="med"/>
                      <a:tailEnd type="none" w="med" len="med"/>
                    </a:lnB>
                    <a:solidFill>
                      <a:srgbClr val="FFFFFF"/>
                    </a:solidFill>
                  </a:tcPr>
                </a:tc>
                <a:tc>
                  <a:txBody>
                    <a:bodyPr/>
                    <a:lstStyle/>
                    <a:p>
                      <a:pPr algn="l" indent="0" marL="0">
                        <a:buNone/>
                      </a:pPr>
                      <a:r>
                        <a:rPr lang="en-US" sz="1200" dirty="0">
                          <a:solidFill>
                            <a:srgbClr val="3A3838"/>
                          </a:solidFill>
                          <a:latin typeface="Calibri" pitchFamily="34" charset="0"/>
                          <a:ea typeface="Calibri" pitchFamily="34" charset="-122"/>
                          <a:cs typeface="Calibri" pitchFamily="34" charset="-120"/>
                        </a:rPr>
                        <a:t>What adoption does to their P&amp;L; the scorecard</a:t>
                      </a:r>
                      <a:endParaRPr lang="en-US" sz="1200" dirty="0">
                        <a:latin typeface="Calibri" charset="0"/>
                        <a:ea typeface="Calibri" charset="0"/>
                        <a:cs typeface="Calibri" charset="0"/>
                      </a:endParaRPr>
                    </a:p>
                  </a:txBody>
                  <a:tcPr marL="36576" marR="36576" marT="36576" marB="36576" anchor="ctr">
                    <a:lnL w="9525" cap="flat" cmpd="sng" algn="ctr">
                      <a:solidFill>
                        <a:srgbClr val="DCD4E8"/>
                      </a:solidFill>
                      <a:prstDash val="solid"/>
                      <a:round/>
                      <a:headEnd type="none" w="med" len="med"/>
                      <a:tailEnd type="none" w="med" len="med"/>
                    </a:lnL>
                    <a:lnR w="9525" cap="flat" cmpd="sng" algn="ctr">
                      <a:solidFill>
                        <a:srgbClr val="DCD4E8"/>
                      </a:solidFill>
                      <a:prstDash val="solid"/>
                      <a:round/>
                      <a:headEnd type="none" w="med" len="med"/>
                      <a:tailEnd type="none" w="med" len="med"/>
                    </a:lnR>
                    <a:lnT w="9525" cap="flat" cmpd="sng" algn="ctr">
                      <a:solidFill>
                        <a:srgbClr val="DCD4E8"/>
                      </a:solidFill>
                      <a:prstDash val="solid"/>
                      <a:round/>
                      <a:headEnd type="none" w="med" len="med"/>
                      <a:tailEnd type="none" w="med" len="med"/>
                    </a:lnT>
                    <a:lnB w="9525" cap="flat" cmpd="sng" algn="ctr">
                      <a:solidFill>
                        <a:srgbClr val="DCD4E8"/>
                      </a:solidFill>
                      <a:prstDash val="solid"/>
                      <a:round/>
                      <a:headEnd type="none" w="med" len="med"/>
                      <a:tailEnd type="none" w="med" len="med"/>
                    </a:lnB>
                    <a:solidFill>
                      <a:srgbClr val="FFFFFF"/>
                    </a:solidFill>
                  </a:tcPr>
                </a:tc>
                <a:tc>
                  <a:txBody>
                    <a:bodyPr/>
                    <a:lstStyle/>
                    <a:p>
                      <a:pPr algn="r" indent="0" marL="0">
                        <a:buNone/>
                      </a:pPr>
                      <a:r>
                        <a:rPr lang="en-US" sz="1200" dirty="0">
                          <a:solidFill>
                            <a:srgbClr val="3A3838"/>
                          </a:solidFill>
                          <a:latin typeface="Calibri" pitchFamily="34" charset="0"/>
                          <a:ea typeface="Calibri" pitchFamily="34" charset="-122"/>
                          <a:cs typeface="Calibri" pitchFamily="34" charset="-120"/>
                        </a:rPr>
                        <a:t>6</a:t>
                      </a:r>
                      <a:endParaRPr lang="en-US" sz="1200" dirty="0">
                        <a:latin typeface="Calibri" charset="0"/>
                        <a:ea typeface="Calibri" charset="0"/>
                        <a:cs typeface="Calibri" charset="0"/>
                      </a:endParaRPr>
                    </a:p>
                  </a:txBody>
                  <a:tcPr marL="36576" marR="36576" marT="36576" marB="36576" anchor="ctr">
                    <a:lnL w="9525" cap="flat" cmpd="sng" algn="ctr">
                      <a:solidFill>
                        <a:srgbClr val="DCD4E8"/>
                      </a:solidFill>
                      <a:prstDash val="solid"/>
                      <a:round/>
                      <a:headEnd type="none" w="med" len="med"/>
                      <a:tailEnd type="none" w="med" len="med"/>
                    </a:lnL>
                    <a:lnR w="9525" cap="flat" cmpd="sng" algn="ctr">
                      <a:solidFill>
                        <a:srgbClr val="DCD4E8"/>
                      </a:solidFill>
                      <a:prstDash val="solid"/>
                      <a:round/>
                      <a:headEnd type="none" w="med" len="med"/>
                      <a:tailEnd type="none" w="med" len="med"/>
                    </a:lnR>
                    <a:lnT w="9525" cap="flat" cmpd="sng" algn="ctr">
                      <a:solidFill>
                        <a:srgbClr val="DCD4E8"/>
                      </a:solidFill>
                      <a:prstDash val="solid"/>
                      <a:round/>
                      <a:headEnd type="none" w="med" len="med"/>
                      <a:tailEnd type="none" w="med" len="med"/>
                    </a:lnT>
                    <a:lnB w="9525" cap="flat" cmpd="sng" algn="ctr">
                      <a:solidFill>
                        <a:srgbClr val="DCD4E8"/>
                      </a:solidFill>
                      <a:prstDash val="solid"/>
                      <a:round/>
                      <a:headEnd type="none" w="med" len="med"/>
                      <a:tailEnd type="none" w="med" len="med"/>
                    </a:lnB>
                    <a:solidFill>
                      <a:srgbClr val="FFFFFF"/>
                    </a:solidFill>
                  </a:tcPr>
                </a:tc>
              </a:tr>
            </a:tbl>
          </a:graphicData>
        </a:graphic>
      </p:graphicFrame>
      <p:sp>
        <p:nvSpPr>
          <p:cNvPr id="26" name="Text 21"/>
          <p:cNvSpPr/>
          <p:nvPr/>
        </p:nvSpPr>
        <p:spPr>
          <a:xfrm>
            <a:off x="137160" y="4553712"/>
            <a:ext cx="3904488" cy="932688"/>
          </a:xfrm>
          <a:prstGeom prst="rect">
            <a:avLst/>
          </a:prstGeom>
          <a:noFill/>
          <a:ln/>
        </p:spPr>
        <p:txBody>
          <a:bodyPr wrap="square" lIns="0" tIns="0" rIns="0" bIns="0" rtlCol="0" anchor="ctr"/>
          <a:lstStyle/>
          <a:p>
            <a:pPr indent="0" marL="0">
              <a:lnSpc>
                <a:spcPct val="98000"/>
              </a:lnSpc>
              <a:buNone/>
            </a:pPr>
            <a:r>
              <a:rPr lang="en-US" sz="1200" b="1" dirty="0">
                <a:solidFill>
                  <a:srgbClr val="A100FF"/>
                </a:solidFill>
                <a:latin typeface="Calibri" pitchFamily="34" charset="0"/>
                <a:ea typeface="Calibri" pitchFamily="34" charset="-122"/>
                <a:cs typeface="Calibri" pitchFamily="34" charset="-120"/>
              </a:rPr>
              <a:t>70 / 20 / 10:</a:t>
            </a:r>
            <a:pPr indent="0" marL="0">
              <a:lnSpc>
                <a:spcPct val="98000"/>
              </a:lnSpc>
              <a:buNone/>
            </a:pPr>
            <a:r>
              <a:rPr lang="en-US" sz="1200" dirty="0">
                <a:solidFill>
                  <a:srgbClr val="3A3838"/>
                </a:solidFill>
                <a:latin typeface="Calibri" pitchFamily="34" charset="0"/>
                <a:ea typeface="Calibri" pitchFamily="34" charset="-122"/>
                <a:cs typeface="Calibri" pitchFamily="34" charset="-120"/>
              </a:rPr>
              <a:t> most learned on live leads, some on-floor from the champion, little in a classroom. </a:t>
            </a:r>
            <a:pPr indent="0" marL="0">
              <a:lnSpc>
                <a:spcPct val="98000"/>
              </a:lnSpc>
              <a:buNone/>
            </a:pPr>
            <a:r>
              <a:rPr lang="en-US" sz="1200" b="1" dirty="0">
                <a:solidFill>
                  <a:srgbClr val="3A3838"/>
                </a:solidFill>
                <a:latin typeface="Calibri" pitchFamily="34" charset="0"/>
                <a:ea typeface="Calibri" pitchFamily="34" charset="-122"/>
                <a:cs typeface="Calibri" pitchFamily="34" charset="-120"/>
              </a:rPr>
              <a:t>Nobody is pulled off the shop floor</a:t>
            </a:r>
            <a:pPr indent="0" marL="0">
              <a:lnSpc>
                <a:spcPct val="98000"/>
              </a:lnSpc>
              <a:buNone/>
            </a:pPr>
            <a:r>
              <a:rPr lang="en-US" sz="1200" dirty="0">
                <a:solidFill>
                  <a:srgbClr val="3A3838"/>
                </a:solidFill>
                <a:latin typeface="Calibri" pitchFamily="34" charset="0"/>
                <a:ea typeface="Calibri" pitchFamily="34" charset="-122"/>
                <a:cs typeface="Calibri" pitchFamily="34" charset="-120"/>
              </a:rPr>
              <a:t> — that costs the dealer money and guarantees resistance.</a:t>
            </a:r>
            <a:endParaRPr lang="en-US" sz="1200" dirty="0"/>
          </a:p>
        </p:txBody>
      </p:sp>
      <p:sp>
        <p:nvSpPr>
          <p:cNvPr id="27" name="Text 22"/>
          <p:cNvSpPr/>
          <p:nvPr/>
        </p:nvSpPr>
        <p:spPr>
          <a:xfrm>
            <a:off x="137160" y="5541264"/>
            <a:ext cx="3904488" cy="640080"/>
          </a:xfrm>
          <a:prstGeom prst="rect">
            <a:avLst/>
          </a:prstGeom>
          <a:noFill/>
          <a:ln/>
        </p:spPr>
        <p:txBody>
          <a:bodyPr wrap="square" lIns="0" tIns="0" rIns="0" bIns="0" rtlCol="0" anchor="ctr"/>
          <a:lstStyle/>
          <a:p>
            <a:pPr indent="0" marL="0">
              <a:lnSpc>
                <a:spcPct val="98000"/>
              </a:lnSpc>
              <a:buNone/>
            </a:pPr>
            <a:r>
              <a:rPr lang="en-US" sz="1200" dirty="0">
                <a:solidFill>
                  <a:srgbClr val="3A3838"/>
                </a:solidFill>
                <a:latin typeface="Calibri" pitchFamily="34" charset="0"/>
                <a:ea typeface="Calibri" pitchFamily="34" charset="-122"/>
                <a:cs typeface="Calibri" pitchFamily="34" charset="-120"/>
              </a:rPr>
              <a:t>Measured on </a:t>
            </a:r>
            <a:pPr indent="0" marL="0">
              <a:lnSpc>
                <a:spcPct val="98000"/>
              </a:lnSpc>
              <a:buNone/>
            </a:pPr>
            <a:r>
              <a:rPr lang="en-US" sz="1200" b="1" dirty="0">
                <a:solidFill>
                  <a:srgbClr val="3A3838"/>
                </a:solidFill>
                <a:latin typeface="Calibri" pitchFamily="34" charset="0"/>
                <a:ea typeface="Calibri" pitchFamily="34" charset="-122"/>
                <a:cs typeface="Calibri" pitchFamily="34" charset="-120"/>
              </a:rPr>
              <a:t>behaviour and results</a:t>
            </a:r>
            <a:pPr indent="0" marL="0">
              <a:lnSpc>
                <a:spcPct val="98000"/>
              </a:lnSpc>
              <a:buNone/>
            </a:pPr>
            <a:r>
              <a:rPr lang="en-US" sz="1200" dirty="0">
                <a:solidFill>
                  <a:srgbClr val="3A3838"/>
                </a:solidFill>
                <a:latin typeface="Calibri" pitchFamily="34" charset="0"/>
                <a:ea typeface="Calibri" pitchFamily="34" charset="-122"/>
                <a:cs typeface="Calibri" pitchFamily="34" charset="-120"/>
              </a:rPr>
              <a:t> — weekly use, SLA compliance, conversion vs control — not on course completion.</a:t>
            </a:r>
            <a:endParaRPr lang="en-US" sz="1200" dirty="0"/>
          </a:p>
        </p:txBody>
      </p:sp>
      <p:sp>
        <p:nvSpPr>
          <p:cNvPr id="28" name="Shape 23"/>
          <p:cNvSpPr/>
          <p:nvPr/>
        </p:nvSpPr>
        <p:spPr>
          <a:xfrm>
            <a:off x="4224528" y="1920240"/>
            <a:ext cx="292608" cy="292608"/>
          </a:xfrm>
          <a:prstGeom prst="ellipse">
            <a:avLst/>
          </a:prstGeom>
          <a:solidFill>
            <a:srgbClr val="A100FF"/>
          </a:solidFill>
          <a:ln w="12700">
            <a:solidFill>
              <a:srgbClr val="333333"/>
            </a:solidFill>
            <a:prstDash val="solid"/>
          </a:ln>
        </p:spPr>
      </p:sp>
      <p:sp>
        <p:nvSpPr>
          <p:cNvPr id="29" name="Text 24"/>
          <p:cNvSpPr/>
          <p:nvPr/>
        </p:nvSpPr>
        <p:spPr>
          <a:xfrm>
            <a:off x="4224528" y="1920240"/>
            <a:ext cx="292608" cy="29260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30" name="Text 25"/>
          <p:cNvSpPr/>
          <p:nvPr/>
        </p:nvSpPr>
        <p:spPr>
          <a:xfrm>
            <a:off x="4608576" y="1929384"/>
            <a:ext cx="3474720" cy="292608"/>
          </a:xfrm>
          <a:prstGeom prst="rect">
            <a:avLst/>
          </a:prstGeom>
          <a:noFill/>
          <a:ln/>
        </p:spPr>
        <p:txBody>
          <a:bodyPr wrap="square" lIns="0" tIns="0" rIns="0" bIns="0" rtlCol="0" anchor="ctr"/>
          <a:lstStyle/>
          <a:p>
            <a:pPr indent="0" marL="0">
              <a:buNone/>
            </a:pPr>
            <a:r>
              <a:rPr lang="en-US" sz="1350" b="1" dirty="0">
                <a:solidFill>
                  <a:srgbClr val="2A0A45"/>
                </a:solidFill>
                <a:latin typeface="Calibri" pitchFamily="34" charset="0"/>
                <a:ea typeface="Calibri" pitchFamily="34" charset="-122"/>
                <a:cs typeface="Calibri" pitchFamily="34" charset="-120"/>
              </a:rPr>
              <a:t>Make using it pay</a:t>
            </a:r>
            <a:endParaRPr lang="en-US" sz="1350" dirty="0"/>
          </a:p>
        </p:txBody>
      </p:sp>
      <p:sp>
        <p:nvSpPr>
          <p:cNvPr id="31" name="Text 26"/>
          <p:cNvSpPr/>
          <p:nvPr/>
        </p:nvSpPr>
        <p:spPr>
          <a:xfrm>
            <a:off x="4224528" y="2304288"/>
            <a:ext cx="3867912" cy="969264"/>
          </a:xfrm>
          <a:prstGeom prst="rect">
            <a:avLst/>
          </a:prstGeom>
          <a:solidFill>
            <a:srgbClr val="F6F1FC"/>
          </a:solidFill>
          <a:ln w="19050">
            <a:solidFill>
              <a:srgbClr val="A100FF"/>
            </a:solidFill>
          </a:ln>
        </p:spPr>
        <p:txBody>
          <a:bodyPr wrap="square" lIns="1270" tIns="1270" rIns="1270" bIns="1270" rtlCol="0" anchor="ctr"/>
          <a:lstStyle/>
          <a:p>
            <a:pPr indent="0" marL="0">
              <a:lnSpc>
                <a:spcPct val="98000"/>
              </a:lnSpc>
              <a:buNone/>
            </a:pPr>
            <a:r>
              <a:rPr lang="en-US" sz="1200" b="1" dirty="0">
                <a:solidFill>
                  <a:srgbClr val="A100FF"/>
                </a:solidFill>
                <a:latin typeface="Calibri" pitchFamily="34" charset="0"/>
                <a:ea typeface="Calibri" pitchFamily="34" charset="-122"/>
                <a:cs typeface="Calibri" pitchFamily="34" charset="-120"/>
              </a:rPr>
              <a:t>Lead priority is the strongest lever. </a:t>
            </a:r>
            <a:pPr indent="0" marL="0">
              <a:lnSpc>
                <a:spcPct val="98000"/>
              </a:lnSpc>
              <a:buNone/>
            </a:pPr>
            <a:r>
              <a:rPr lang="en-US" sz="1200" dirty="0">
                <a:solidFill>
                  <a:srgbClr val="000000"/>
                </a:solidFill>
                <a:latin typeface="Calibri" pitchFamily="34" charset="0"/>
                <a:ea typeface="Calibri" pitchFamily="34" charset="-122"/>
                <a:cs typeface="Calibri" pitchFamily="34" charset="-120"/>
              </a:rPr>
              <a:t>72% of 24 lakh leads are digital and OEM-owned. Every outlet keeps its baseline lead flow — </a:t>
            </a:r>
            <a:pPr indent="0" marL="0">
              <a:lnSpc>
                <a:spcPct val="98000"/>
              </a:lnSpc>
              <a:buNone/>
            </a:pPr>
            <a:r>
              <a:rPr lang="en-US" sz="1200" b="1" dirty="0">
                <a:solidFill>
                  <a:srgbClr val="3A3838"/>
                </a:solidFill>
                <a:latin typeface="Calibri" pitchFamily="34" charset="0"/>
                <a:ea typeface="Calibri" pitchFamily="34" charset="-122"/>
                <a:cs typeface="Calibri" pitchFamily="34" charset="-120"/>
              </a:rPr>
              <a:t>Gold-certified outlets simply get priority in their catchment</a:t>
            </a:r>
            <a:pPr indent="0" marL="0">
              <a:lnSpc>
                <a:spcPct val="98000"/>
              </a:lnSpc>
              <a:buNone/>
            </a:pPr>
            <a:r>
              <a:rPr lang="en-US" sz="1200" dirty="0">
                <a:solidFill>
                  <a:srgbClr val="000000"/>
                </a:solidFill>
                <a:latin typeface="Calibri" pitchFamily="34" charset="0"/>
                <a:ea typeface="Calibri" pitchFamily="34" charset="-122"/>
                <a:cs typeface="Calibri" pitchFamily="34" charset="-120"/>
              </a:rPr>
              <a:t>, so certification pays without cutting anyone off.</a:t>
            </a:r>
            <a:endParaRPr lang="en-US" sz="1200" dirty="0"/>
          </a:p>
        </p:txBody>
      </p:sp>
      <p:graphicFrame>
        <p:nvGraphicFramePr>
          <p:cNvPr id="11" name="Table 1"/>
          <p:cNvGraphicFramePr>
            <a:graphicFrameLocks noGrp="1"/>
          </p:cNvGraphicFramePr>
          <p:nvPr>
            <p:extLst>
              <p:ext uri="{D42A27DB-BD31-4B8C-83A1-F6EECF244321}">
                <p14:modId xmlns:p14="http://schemas.microsoft.com/office/powerpoint/2010/main" val="1579011935"/>
              </p:ext>
            </p:extLst>
          </p:nvPr>
        </p:nvGraphicFramePr>
        <p:xfrm>
          <a:off x="4224528" y="3401568"/>
          <a:ext cx="3867912" cy="914400"/>
        </p:xfrm>
        <a:graphic>
          <a:graphicData uri="http://schemas.openxmlformats.org/drawingml/2006/table">
            <a:tbl>
              <a:tblPr/>
              <a:tblGrid>
                <a:gridCol w="1051560"/>
                <a:gridCol w="2816352"/>
              </a:tblGrid>
              <a:tr h="228600">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Lever</a:t>
                      </a:r>
                      <a:endParaRPr lang="en-US" sz="1200" dirty="0">
                        <a:latin typeface="Calibri" charset="0"/>
                        <a:ea typeface="Calibri" charset="0"/>
                        <a:cs typeface="Calibri" charset="0"/>
                      </a:endParaRPr>
                    </a:p>
                  </a:txBody>
                  <a:tcPr marL="36576" marR="36576" marT="36576" marB="36576" anchor="ctr">
                    <a:lnL w="9525" cap="flat" cmpd="sng" algn="ctr">
                      <a:solidFill>
                        <a:srgbClr val="DCD4E8"/>
                      </a:solidFill>
                      <a:prstDash val="solid"/>
                      <a:round/>
                      <a:headEnd type="none" w="med" len="med"/>
                      <a:tailEnd type="none" w="med" len="med"/>
                    </a:lnL>
                    <a:lnR w="9525" cap="flat" cmpd="sng" algn="ctr">
                      <a:solidFill>
                        <a:srgbClr val="DCD4E8"/>
                      </a:solidFill>
                      <a:prstDash val="solid"/>
                      <a:round/>
                      <a:headEnd type="none" w="med" len="med"/>
                      <a:tailEnd type="none" w="med" len="med"/>
                    </a:lnR>
                    <a:lnT w="9525" cap="flat" cmpd="sng" algn="ctr">
                      <a:solidFill>
                        <a:srgbClr val="DCD4E8"/>
                      </a:solidFill>
                      <a:prstDash val="solid"/>
                      <a:round/>
                      <a:headEnd type="none" w="med" len="med"/>
                      <a:tailEnd type="none" w="med" len="med"/>
                    </a:lnT>
                    <a:lnB w="9525" cap="flat" cmpd="sng" algn="ctr">
                      <a:solidFill>
                        <a:srgbClr val="DCD4E8"/>
                      </a:solidFill>
                      <a:prstDash val="solid"/>
                      <a:round/>
                      <a:headEnd type="none" w="med" len="med"/>
                      <a:tailEnd type="none" w="med" len="med"/>
                    </a:lnB>
                    <a:solidFill>
                      <a:srgbClr val="2A0A45"/>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Design</a:t>
                      </a:r>
                      <a:endParaRPr lang="en-US" sz="1200" dirty="0">
                        <a:latin typeface="Calibri" charset="0"/>
                        <a:ea typeface="Calibri" charset="0"/>
                        <a:cs typeface="Calibri" charset="0"/>
                      </a:endParaRPr>
                    </a:p>
                  </a:txBody>
                  <a:tcPr marL="36576" marR="36576" marT="36576" marB="36576" anchor="ctr">
                    <a:lnL w="9525" cap="flat" cmpd="sng" algn="ctr">
                      <a:solidFill>
                        <a:srgbClr val="DCD4E8"/>
                      </a:solidFill>
                      <a:prstDash val="solid"/>
                      <a:round/>
                      <a:headEnd type="none" w="med" len="med"/>
                      <a:tailEnd type="none" w="med" len="med"/>
                    </a:lnL>
                    <a:lnR w="9525" cap="flat" cmpd="sng" algn="ctr">
                      <a:solidFill>
                        <a:srgbClr val="DCD4E8"/>
                      </a:solidFill>
                      <a:prstDash val="solid"/>
                      <a:round/>
                      <a:headEnd type="none" w="med" len="med"/>
                      <a:tailEnd type="none" w="med" len="med"/>
                    </a:lnR>
                    <a:lnT w="9525" cap="flat" cmpd="sng" algn="ctr">
                      <a:solidFill>
                        <a:srgbClr val="DCD4E8"/>
                      </a:solidFill>
                      <a:prstDash val="solid"/>
                      <a:round/>
                      <a:headEnd type="none" w="med" len="med"/>
                      <a:tailEnd type="none" w="med" len="med"/>
                    </a:lnT>
                    <a:lnB w="9525" cap="flat" cmpd="sng" algn="ctr">
                      <a:solidFill>
                        <a:srgbClr val="DCD4E8"/>
                      </a:solidFill>
                      <a:prstDash val="solid"/>
                      <a:round/>
                      <a:headEnd type="none" w="med" len="med"/>
                      <a:tailEnd type="none" w="med" len="med"/>
                    </a:lnB>
                    <a:solidFill>
                      <a:srgbClr val="2A0A45"/>
                    </a:solidFill>
                  </a:tcPr>
                </a:tc>
              </a:tr>
              <a:tr h="228600">
                <a:tc>
                  <a:txBody>
                    <a:bodyPr/>
                    <a:lstStyle/>
                    <a:p>
                      <a:pPr algn="l" indent="0" marL="0">
                        <a:buNone/>
                      </a:pPr>
                      <a:r>
                        <a:rPr lang="en-US" sz="1200" dirty="0">
                          <a:solidFill>
                            <a:srgbClr val="3A3838"/>
                          </a:solidFill>
                          <a:latin typeface="Calibri" pitchFamily="34" charset="0"/>
                          <a:ea typeface="Calibri" pitchFamily="34" charset="-122"/>
                          <a:cs typeface="Calibri" pitchFamily="34" charset="-120"/>
                        </a:rPr>
                        <a:t>Co-investment</a:t>
                      </a:r>
                      <a:endParaRPr lang="en-US" sz="1200" dirty="0">
                        <a:latin typeface="Calibri" charset="0"/>
                        <a:ea typeface="Calibri" charset="0"/>
                        <a:cs typeface="Calibri" charset="0"/>
                      </a:endParaRPr>
                    </a:p>
                  </a:txBody>
                  <a:tcPr marL="36576" marR="36576" marT="36576" marB="36576" anchor="ctr">
                    <a:lnL w="9525" cap="flat" cmpd="sng" algn="ctr">
                      <a:solidFill>
                        <a:srgbClr val="DCD4E8"/>
                      </a:solidFill>
                      <a:prstDash val="solid"/>
                      <a:round/>
                      <a:headEnd type="none" w="med" len="med"/>
                      <a:tailEnd type="none" w="med" len="med"/>
                    </a:lnL>
                    <a:lnR w="9525" cap="flat" cmpd="sng" algn="ctr">
                      <a:solidFill>
                        <a:srgbClr val="DCD4E8"/>
                      </a:solidFill>
                      <a:prstDash val="solid"/>
                      <a:round/>
                      <a:headEnd type="none" w="med" len="med"/>
                      <a:tailEnd type="none" w="med" len="med"/>
                    </a:lnR>
                    <a:lnT w="9525" cap="flat" cmpd="sng" algn="ctr">
                      <a:solidFill>
                        <a:srgbClr val="DCD4E8"/>
                      </a:solidFill>
                      <a:prstDash val="solid"/>
                      <a:round/>
                      <a:headEnd type="none" w="med" len="med"/>
                      <a:tailEnd type="none" w="med" len="med"/>
                    </a:lnT>
                    <a:lnB w="9525" cap="flat" cmpd="sng" algn="ctr">
                      <a:solidFill>
                        <a:srgbClr val="DCD4E8"/>
                      </a:solidFill>
                      <a:prstDash val="solid"/>
                      <a:round/>
                      <a:headEnd type="none" w="med" len="med"/>
                      <a:tailEnd type="none" w="med" len="med"/>
                    </a:lnB>
                    <a:solidFill>
                      <a:srgbClr val="FBF8FE"/>
                    </a:solidFill>
                  </a:tcPr>
                </a:tc>
                <a:tc>
                  <a:txBody>
                    <a:bodyPr/>
                    <a:lstStyle/>
                    <a:p>
                      <a:pPr algn="l" indent="0" marL="0">
                        <a:buNone/>
                      </a:pPr>
                      <a:r>
                        <a:rPr lang="en-US" sz="1200" dirty="0">
                          <a:solidFill>
                            <a:srgbClr val="3A3838"/>
                          </a:solidFill>
                          <a:latin typeface="Calibri" pitchFamily="34" charset="0"/>
                          <a:ea typeface="Calibri" pitchFamily="34" charset="-122"/>
                          <a:cs typeface="Calibri" pitchFamily="34" charset="-120"/>
                        </a:rPr>
                        <a:t>OEM funds 100% W1 · 70% W2 · 50% W3 — early risk is paid for</a:t>
                      </a:r>
                      <a:endParaRPr lang="en-US" sz="1200" dirty="0">
                        <a:latin typeface="Calibri" charset="0"/>
                        <a:ea typeface="Calibri" charset="0"/>
                        <a:cs typeface="Calibri" charset="0"/>
                      </a:endParaRPr>
                    </a:p>
                  </a:txBody>
                  <a:tcPr marL="36576" marR="36576" marT="36576" marB="36576" anchor="ctr">
                    <a:lnL w="9525" cap="flat" cmpd="sng" algn="ctr">
                      <a:solidFill>
                        <a:srgbClr val="DCD4E8"/>
                      </a:solidFill>
                      <a:prstDash val="solid"/>
                      <a:round/>
                      <a:headEnd type="none" w="med" len="med"/>
                      <a:tailEnd type="none" w="med" len="med"/>
                    </a:lnL>
                    <a:lnR w="9525" cap="flat" cmpd="sng" algn="ctr">
                      <a:solidFill>
                        <a:srgbClr val="DCD4E8"/>
                      </a:solidFill>
                      <a:prstDash val="solid"/>
                      <a:round/>
                      <a:headEnd type="none" w="med" len="med"/>
                      <a:tailEnd type="none" w="med" len="med"/>
                    </a:lnR>
                    <a:lnT w="9525" cap="flat" cmpd="sng" algn="ctr">
                      <a:solidFill>
                        <a:srgbClr val="DCD4E8"/>
                      </a:solidFill>
                      <a:prstDash val="solid"/>
                      <a:round/>
                      <a:headEnd type="none" w="med" len="med"/>
                      <a:tailEnd type="none" w="med" len="med"/>
                    </a:lnT>
                    <a:lnB w="9525" cap="flat" cmpd="sng" algn="ctr">
                      <a:solidFill>
                        <a:srgbClr val="DCD4E8"/>
                      </a:solidFill>
                      <a:prstDash val="solid"/>
                      <a:round/>
                      <a:headEnd type="none" w="med" len="med"/>
                      <a:tailEnd type="none" w="med" len="med"/>
                    </a:lnB>
                    <a:solidFill>
                      <a:srgbClr val="FBF8FE"/>
                    </a:solidFill>
                  </a:tcPr>
                </a:tc>
              </a:tr>
              <a:tr h="228600">
                <a:tc>
                  <a:txBody>
                    <a:bodyPr/>
                    <a:lstStyle/>
                    <a:p>
                      <a:pPr algn="l" indent="0" marL="0">
                        <a:buNone/>
                      </a:pPr>
                      <a:r>
                        <a:rPr lang="en-US" sz="1200" dirty="0">
                          <a:solidFill>
                            <a:srgbClr val="3A3838"/>
                          </a:solidFill>
                          <a:latin typeface="Calibri" pitchFamily="34" charset="0"/>
                          <a:ea typeface="Calibri" pitchFamily="34" charset="-122"/>
                          <a:cs typeface="Calibri" pitchFamily="34" charset="-120"/>
                        </a:rPr>
                        <a:t>Consultant pay</a:t>
                      </a:r>
                      <a:endParaRPr lang="en-US" sz="1200" dirty="0">
                        <a:latin typeface="Calibri" charset="0"/>
                        <a:ea typeface="Calibri" charset="0"/>
                        <a:cs typeface="Calibri" charset="0"/>
                      </a:endParaRPr>
                    </a:p>
                  </a:txBody>
                  <a:tcPr marL="36576" marR="36576" marT="36576" marB="36576" anchor="ctr">
                    <a:lnL w="9525" cap="flat" cmpd="sng" algn="ctr">
                      <a:solidFill>
                        <a:srgbClr val="DCD4E8"/>
                      </a:solidFill>
                      <a:prstDash val="solid"/>
                      <a:round/>
                      <a:headEnd type="none" w="med" len="med"/>
                      <a:tailEnd type="none" w="med" len="med"/>
                    </a:lnL>
                    <a:lnR w="9525" cap="flat" cmpd="sng" algn="ctr">
                      <a:solidFill>
                        <a:srgbClr val="DCD4E8"/>
                      </a:solidFill>
                      <a:prstDash val="solid"/>
                      <a:round/>
                      <a:headEnd type="none" w="med" len="med"/>
                      <a:tailEnd type="none" w="med" len="med"/>
                    </a:lnR>
                    <a:lnT w="9525" cap="flat" cmpd="sng" algn="ctr">
                      <a:solidFill>
                        <a:srgbClr val="DCD4E8"/>
                      </a:solidFill>
                      <a:prstDash val="solid"/>
                      <a:round/>
                      <a:headEnd type="none" w="med" len="med"/>
                      <a:tailEnd type="none" w="med" len="med"/>
                    </a:lnT>
                    <a:lnB w="9525" cap="flat" cmpd="sng" algn="ctr">
                      <a:solidFill>
                        <a:srgbClr val="DCD4E8"/>
                      </a:solidFill>
                      <a:prstDash val="solid"/>
                      <a:round/>
                      <a:headEnd type="none" w="med" len="med"/>
                      <a:tailEnd type="none" w="med" len="med"/>
                    </a:lnB>
                    <a:solidFill>
                      <a:srgbClr val="FFFFFF"/>
                    </a:solidFill>
                  </a:tcPr>
                </a:tc>
                <a:tc>
                  <a:txBody>
                    <a:bodyPr/>
                    <a:lstStyle/>
                    <a:p>
                      <a:pPr algn="l" indent="0" marL="0">
                        <a:buNone/>
                      </a:pPr>
                      <a:r>
                        <a:rPr lang="en-US" sz="1200" dirty="0">
                          <a:solidFill>
                            <a:srgbClr val="3A3838"/>
                          </a:solidFill>
                          <a:latin typeface="Calibri" pitchFamily="34" charset="0"/>
                          <a:ea typeface="Calibri" pitchFamily="34" charset="-122"/>
                          <a:cs typeface="Calibri" pitchFamily="34" charset="-120"/>
                        </a:rPr>
                        <a:t>15% of variable moves to SLA + data capture</a:t>
                      </a:r>
                      <a:endParaRPr lang="en-US" sz="1200" dirty="0">
                        <a:latin typeface="Calibri" charset="0"/>
                        <a:ea typeface="Calibri" charset="0"/>
                        <a:cs typeface="Calibri" charset="0"/>
                      </a:endParaRPr>
                    </a:p>
                  </a:txBody>
                  <a:tcPr marL="36576" marR="36576" marT="36576" marB="36576" anchor="ctr">
                    <a:lnL w="9525" cap="flat" cmpd="sng" algn="ctr">
                      <a:solidFill>
                        <a:srgbClr val="DCD4E8"/>
                      </a:solidFill>
                      <a:prstDash val="solid"/>
                      <a:round/>
                      <a:headEnd type="none" w="med" len="med"/>
                      <a:tailEnd type="none" w="med" len="med"/>
                    </a:lnL>
                    <a:lnR w="9525" cap="flat" cmpd="sng" algn="ctr">
                      <a:solidFill>
                        <a:srgbClr val="DCD4E8"/>
                      </a:solidFill>
                      <a:prstDash val="solid"/>
                      <a:round/>
                      <a:headEnd type="none" w="med" len="med"/>
                      <a:tailEnd type="none" w="med" len="med"/>
                    </a:lnR>
                    <a:lnT w="9525" cap="flat" cmpd="sng" algn="ctr">
                      <a:solidFill>
                        <a:srgbClr val="DCD4E8"/>
                      </a:solidFill>
                      <a:prstDash val="solid"/>
                      <a:round/>
                      <a:headEnd type="none" w="med" len="med"/>
                      <a:tailEnd type="none" w="med" len="med"/>
                    </a:lnT>
                    <a:lnB w="9525" cap="flat" cmpd="sng" algn="ctr">
                      <a:solidFill>
                        <a:srgbClr val="DCD4E8"/>
                      </a:solidFill>
                      <a:prstDash val="solid"/>
                      <a:round/>
                      <a:headEnd type="none" w="med" len="med"/>
                      <a:tailEnd type="none" w="med" len="med"/>
                    </a:lnB>
                    <a:solidFill>
                      <a:srgbClr val="FFFFFF"/>
                    </a:solidFill>
                  </a:tcPr>
                </a:tc>
              </a:tr>
              <a:tr h="228600">
                <a:tc>
                  <a:txBody>
                    <a:bodyPr/>
                    <a:lstStyle/>
                    <a:p>
                      <a:pPr algn="l" indent="0" marL="0">
                        <a:buNone/>
                      </a:pPr>
                      <a:r>
                        <a:rPr lang="en-US" sz="1200" dirty="0">
                          <a:solidFill>
                            <a:srgbClr val="3A3838"/>
                          </a:solidFill>
                          <a:latin typeface="Calibri" pitchFamily="34" charset="0"/>
                          <a:ea typeface="Calibri" pitchFamily="34" charset="-122"/>
                          <a:cs typeface="Calibri" pitchFamily="34" charset="-120"/>
                        </a:rPr>
                        <a:t>League table</a:t>
                      </a:r>
                      <a:endParaRPr lang="en-US" sz="1200" dirty="0">
                        <a:latin typeface="Calibri" charset="0"/>
                        <a:ea typeface="Calibri" charset="0"/>
                        <a:cs typeface="Calibri" charset="0"/>
                      </a:endParaRPr>
                    </a:p>
                  </a:txBody>
                  <a:tcPr marL="36576" marR="36576" marT="36576" marB="36576" anchor="ctr">
                    <a:lnL w="9525" cap="flat" cmpd="sng" algn="ctr">
                      <a:solidFill>
                        <a:srgbClr val="DCD4E8"/>
                      </a:solidFill>
                      <a:prstDash val="solid"/>
                      <a:round/>
                      <a:headEnd type="none" w="med" len="med"/>
                      <a:tailEnd type="none" w="med" len="med"/>
                    </a:lnL>
                    <a:lnR w="9525" cap="flat" cmpd="sng" algn="ctr">
                      <a:solidFill>
                        <a:srgbClr val="DCD4E8"/>
                      </a:solidFill>
                      <a:prstDash val="solid"/>
                      <a:round/>
                      <a:headEnd type="none" w="med" len="med"/>
                      <a:tailEnd type="none" w="med" len="med"/>
                    </a:lnR>
                    <a:lnT w="9525" cap="flat" cmpd="sng" algn="ctr">
                      <a:solidFill>
                        <a:srgbClr val="DCD4E8"/>
                      </a:solidFill>
                      <a:prstDash val="solid"/>
                      <a:round/>
                      <a:headEnd type="none" w="med" len="med"/>
                      <a:tailEnd type="none" w="med" len="med"/>
                    </a:lnT>
                    <a:lnB w="9525" cap="flat" cmpd="sng" algn="ctr">
                      <a:solidFill>
                        <a:srgbClr val="DCD4E8"/>
                      </a:solidFill>
                      <a:prstDash val="solid"/>
                      <a:round/>
                      <a:headEnd type="none" w="med" len="med"/>
                      <a:tailEnd type="none" w="med" len="med"/>
                    </a:lnB>
                    <a:solidFill>
                      <a:srgbClr val="FBF8FE"/>
                    </a:solidFill>
                  </a:tcPr>
                </a:tc>
                <a:tc>
                  <a:txBody>
                    <a:bodyPr/>
                    <a:lstStyle/>
                    <a:p>
                      <a:pPr algn="l" indent="0" marL="0">
                        <a:buNone/>
                      </a:pPr>
                      <a:r>
                        <a:rPr lang="en-US" sz="1200" dirty="0">
                          <a:solidFill>
                            <a:srgbClr val="3A3838"/>
                          </a:solidFill>
                          <a:latin typeface="Calibri" pitchFamily="34" charset="0"/>
                          <a:ea typeface="Calibri" pitchFamily="34" charset="-122"/>
                          <a:cs typeface="Calibri" pitchFamily="34" charset="-120"/>
                        </a:rPr>
                        <a:t>Quarterly, all 620 principals — costs nothing</a:t>
                      </a:r>
                      <a:endParaRPr lang="en-US" sz="1200" dirty="0">
                        <a:latin typeface="Calibri" charset="0"/>
                        <a:ea typeface="Calibri" charset="0"/>
                        <a:cs typeface="Calibri" charset="0"/>
                      </a:endParaRPr>
                    </a:p>
                  </a:txBody>
                  <a:tcPr marL="36576" marR="36576" marT="36576" marB="36576" anchor="ctr">
                    <a:lnL w="9525" cap="flat" cmpd="sng" algn="ctr">
                      <a:solidFill>
                        <a:srgbClr val="DCD4E8"/>
                      </a:solidFill>
                      <a:prstDash val="solid"/>
                      <a:round/>
                      <a:headEnd type="none" w="med" len="med"/>
                      <a:tailEnd type="none" w="med" len="med"/>
                    </a:lnL>
                    <a:lnR w="9525" cap="flat" cmpd="sng" algn="ctr">
                      <a:solidFill>
                        <a:srgbClr val="DCD4E8"/>
                      </a:solidFill>
                      <a:prstDash val="solid"/>
                      <a:round/>
                      <a:headEnd type="none" w="med" len="med"/>
                      <a:tailEnd type="none" w="med" len="med"/>
                    </a:lnR>
                    <a:lnT w="9525" cap="flat" cmpd="sng" algn="ctr">
                      <a:solidFill>
                        <a:srgbClr val="DCD4E8"/>
                      </a:solidFill>
                      <a:prstDash val="solid"/>
                      <a:round/>
                      <a:headEnd type="none" w="med" len="med"/>
                      <a:tailEnd type="none" w="med" len="med"/>
                    </a:lnT>
                    <a:lnB w="9525" cap="flat" cmpd="sng" algn="ctr">
                      <a:solidFill>
                        <a:srgbClr val="DCD4E8"/>
                      </a:solidFill>
                      <a:prstDash val="solid"/>
                      <a:round/>
                      <a:headEnd type="none" w="med" len="med"/>
                      <a:tailEnd type="none" w="med" len="med"/>
                    </a:lnB>
                    <a:solidFill>
                      <a:srgbClr val="FBF8FE"/>
                    </a:solidFill>
                  </a:tcPr>
                </a:tc>
              </a:tr>
              <a:tr h="228600">
                <a:tc>
                  <a:txBody>
                    <a:bodyPr/>
                    <a:lstStyle/>
                    <a:p>
                      <a:pPr algn="l" indent="0" marL="0">
                        <a:buNone/>
                      </a:pPr>
                      <a:r>
                        <a:rPr lang="en-US" sz="1200" dirty="0">
                          <a:solidFill>
                            <a:srgbClr val="3A3838"/>
                          </a:solidFill>
                          <a:latin typeface="Calibri" pitchFamily="34" charset="0"/>
                          <a:ea typeface="Calibri" pitchFamily="34" charset="-122"/>
                          <a:cs typeface="Calibri" pitchFamily="34" charset="-120"/>
                        </a:rPr>
                        <a:t>Adoption debt</a:t>
                      </a:r>
                      <a:endParaRPr lang="en-US" sz="1200" dirty="0">
                        <a:latin typeface="Calibri" charset="0"/>
                        <a:ea typeface="Calibri" charset="0"/>
                        <a:cs typeface="Calibri" charset="0"/>
                      </a:endParaRPr>
                    </a:p>
                  </a:txBody>
                  <a:tcPr marL="36576" marR="36576" marT="36576" marB="36576" anchor="ctr">
                    <a:lnL w="9525" cap="flat" cmpd="sng" algn="ctr">
                      <a:solidFill>
                        <a:srgbClr val="DCD4E8"/>
                      </a:solidFill>
                      <a:prstDash val="solid"/>
                      <a:round/>
                      <a:headEnd type="none" w="med" len="med"/>
                      <a:tailEnd type="none" w="med" len="med"/>
                    </a:lnL>
                    <a:lnR w="9525" cap="flat" cmpd="sng" algn="ctr">
                      <a:solidFill>
                        <a:srgbClr val="DCD4E8"/>
                      </a:solidFill>
                      <a:prstDash val="solid"/>
                      <a:round/>
                      <a:headEnd type="none" w="med" len="med"/>
                      <a:tailEnd type="none" w="med" len="med"/>
                    </a:lnR>
                    <a:lnT w="9525" cap="flat" cmpd="sng" algn="ctr">
                      <a:solidFill>
                        <a:srgbClr val="DCD4E8"/>
                      </a:solidFill>
                      <a:prstDash val="solid"/>
                      <a:round/>
                      <a:headEnd type="none" w="med" len="med"/>
                      <a:tailEnd type="none" w="med" len="med"/>
                    </a:lnT>
                    <a:lnB w="9525" cap="flat" cmpd="sng" algn="ctr">
                      <a:solidFill>
                        <a:srgbClr val="DCD4E8"/>
                      </a:solidFill>
                      <a:prstDash val="solid"/>
                      <a:round/>
                      <a:headEnd type="none" w="med" len="med"/>
                      <a:tailEnd type="none" w="med" len="med"/>
                    </a:lnB>
                    <a:solidFill>
                      <a:srgbClr val="FFFFFF"/>
                    </a:solidFill>
                  </a:tcPr>
                </a:tc>
                <a:tc>
                  <a:txBody>
                    <a:bodyPr/>
                    <a:lstStyle/>
                    <a:p>
                      <a:pPr algn="l" indent="0" marL="0">
                        <a:buNone/>
                      </a:pPr>
                      <a:r>
                        <a:rPr lang="en-US" sz="1200" dirty="0">
                          <a:solidFill>
                            <a:srgbClr val="3A3838"/>
                          </a:solidFill>
                          <a:latin typeface="Calibri" pitchFamily="34" charset="0"/>
                          <a:ea typeface="Calibri" pitchFamily="34" charset="-122"/>
                          <a:cs typeface="Calibri" pitchFamily="34" charset="-120"/>
                        </a:rPr>
                        <a:t>&lt;60% for 2 qtrs → enablement funding pauses</a:t>
                      </a:r>
                      <a:endParaRPr lang="en-US" sz="1200" dirty="0">
                        <a:latin typeface="Calibri" charset="0"/>
                        <a:ea typeface="Calibri" charset="0"/>
                        <a:cs typeface="Calibri" charset="0"/>
                      </a:endParaRPr>
                    </a:p>
                  </a:txBody>
                  <a:tcPr marL="36576" marR="36576" marT="36576" marB="36576" anchor="ctr">
                    <a:lnL w="9525" cap="flat" cmpd="sng" algn="ctr">
                      <a:solidFill>
                        <a:srgbClr val="DCD4E8"/>
                      </a:solidFill>
                      <a:prstDash val="solid"/>
                      <a:round/>
                      <a:headEnd type="none" w="med" len="med"/>
                      <a:tailEnd type="none" w="med" len="med"/>
                    </a:lnL>
                    <a:lnR w="9525" cap="flat" cmpd="sng" algn="ctr">
                      <a:solidFill>
                        <a:srgbClr val="DCD4E8"/>
                      </a:solidFill>
                      <a:prstDash val="solid"/>
                      <a:round/>
                      <a:headEnd type="none" w="med" len="med"/>
                      <a:tailEnd type="none" w="med" len="med"/>
                    </a:lnR>
                    <a:lnT w="9525" cap="flat" cmpd="sng" algn="ctr">
                      <a:solidFill>
                        <a:srgbClr val="DCD4E8"/>
                      </a:solidFill>
                      <a:prstDash val="solid"/>
                      <a:round/>
                      <a:headEnd type="none" w="med" len="med"/>
                      <a:tailEnd type="none" w="med" len="med"/>
                    </a:lnT>
                    <a:lnB w="9525" cap="flat" cmpd="sng" algn="ctr">
                      <a:solidFill>
                        <a:srgbClr val="DCD4E8"/>
                      </a:solidFill>
                      <a:prstDash val="solid"/>
                      <a:round/>
                      <a:headEnd type="none" w="med" len="med"/>
                      <a:tailEnd type="none" w="med" len="med"/>
                    </a:lnB>
                    <a:solidFill>
                      <a:srgbClr val="FFFFFF"/>
                    </a:solidFill>
                  </a:tcPr>
                </a:tc>
              </a:tr>
            </a:tbl>
          </a:graphicData>
        </a:graphic>
      </p:graphicFrame>
      <p:sp>
        <p:nvSpPr>
          <p:cNvPr id="33" name="Text 27"/>
          <p:cNvSpPr/>
          <p:nvPr/>
        </p:nvSpPr>
        <p:spPr>
          <a:xfrm>
            <a:off x="4224528" y="5596128"/>
            <a:ext cx="3867912" cy="603504"/>
          </a:xfrm>
          <a:prstGeom prst="rect">
            <a:avLst/>
          </a:prstGeom>
          <a:solidFill>
            <a:srgbClr val="A100FF"/>
          </a:solidFill>
          <a:ln w="25400">
            <a:solidFill>
              <a:srgbClr val="2A0A45"/>
            </a:solidFill>
          </a:ln>
        </p:spPr>
        <p:txBody>
          <a:bodyPr wrap="square" lIns="0" tIns="0" rIns="0" bIns="0" rtlCol="0" anchor="ctr"/>
          <a:lstStyle/>
          <a:p>
            <a:pPr algn="ctr" indent="0" marL="0">
              <a:lnSpc>
                <a:spcPct val="98000"/>
              </a:lnSpc>
              <a:buNone/>
            </a:pPr>
            <a:r>
              <a:rPr lang="en-US" sz="1200" b="1" dirty="0">
                <a:solidFill>
                  <a:srgbClr val="FFFFFF"/>
                </a:solidFill>
                <a:latin typeface="Calibri" pitchFamily="34" charset="0"/>
                <a:ea typeface="Calibri" pitchFamily="34" charset="-122"/>
                <a:cs typeface="Calibri" pitchFamily="34" charset="-120"/>
              </a:rPr>
              <a:t>WE ARE NOT ASKING DEALERS TO ADOPT — WE ARE MAKING ADOPTION THE PROFITABLE CHOICE</a:t>
            </a:r>
            <a:endParaRPr lang="en-US" sz="1200" dirty="0"/>
          </a:p>
        </p:txBody>
      </p:sp>
      <p:sp>
        <p:nvSpPr>
          <p:cNvPr id="34" name="Shape 28"/>
          <p:cNvSpPr/>
          <p:nvPr/>
        </p:nvSpPr>
        <p:spPr>
          <a:xfrm>
            <a:off x="8275320" y="1920240"/>
            <a:ext cx="292608" cy="292608"/>
          </a:xfrm>
          <a:prstGeom prst="ellipse">
            <a:avLst/>
          </a:prstGeom>
          <a:solidFill>
            <a:srgbClr val="A100FF"/>
          </a:solidFill>
          <a:ln w="12700">
            <a:solidFill>
              <a:srgbClr val="333333"/>
            </a:solidFill>
            <a:prstDash val="solid"/>
          </a:ln>
        </p:spPr>
      </p:sp>
      <p:sp>
        <p:nvSpPr>
          <p:cNvPr id="35" name="Text 29"/>
          <p:cNvSpPr/>
          <p:nvPr/>
        </p:nvSpPr>
        <p:spPr>
          <a:xfrm>
            <a:off x="8275320" y="1920240"/>
            <a:ext cx="292608" cy="29260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36" name="Text 30"/>
          <p:cNvSpPr/>
          <p:nvPr/>
        </p:nvSpPr>
        <p:spPr>
          <a:xfrm>
            <a:off x="8659368" y="1929384"/>
            <a:ext cx="3474720" cy="292608"/>
          </a:xfrm>
          <a:prstGeom prst="rect">
            <a:avLst/>
          </a:prstGeom>
          <a:noFill/>
          <a:ln/>
        </p:spPr>
        <p:txBody>
          <a:bodyPr wrap="square" lIns="0" tIns="0" rIns="0" bIns="0" rtlCol="0" anchor="ctr"/>
          <a:lstStyle/>
          <a:p>
            <a:pPr indent="0" marL="0">
              <a:buNone/>
            </a:pPr>
            <a:r>
              <a:rPr lang="en-US" sz="1350" b="1" dirty="0">
                <a:solidFill>
                  <a:srgbClr val="2A0A45"/>
                </a:solidFill>
                <a:latin typeface="Calibri" pitchFamily="34" charset="0"/>
                <a:ea typeface="Calibri" pitchFamily="34" charset="-122"/>
                <a:cs typeface="Calibri" pitchFamily="34" charset="-120"/>
              </a:rPr>
              <a:t>The objections we will actually hear</a:t>
            </a:r>
            <a:endParaRPr lang="en-US" sz="1350" dirty="0"/>
          </a:p>
        </p:txBody>
      </p:sp>
      <p:graphicFrame>
        <p:nvGraphicFramePr>
          <p:cNvPr id="16" name="Table 2"/>
          <p:cNvGraphicFramePr>
            <a:graphicFrameLocks noGrp="1"/>
          </p:cNvGraphicFramePr>
          <p:nvPr>
            <p:extLst>
              <p:ext uri="{D42A27DB-BD31-4B8C-83A1-F6EECF244321}">
                <p14:modId xmlns:p14="http://schemas.microsoft.com/office/powerpoint/2010/main" val="1579011935"/>
              </p:ext>
            </p:extLst>
          </p:nvPr>
        </p:nvGraphicFramePr>
        <p:xfrm>
          <a:off x="8275320" y="2304288"/>
          <a:ext cx="3776472" cy="914400"/>
        </p:xfrm>
        <a:graphic>
          <a:graphicData uri="http://schemas.openxmlformats.org/drawingml/2006/table">
            <a:tbl>
              <a:tblPr/>
              <a:tblGrid>
                <a:gridCol w="1481328"/>
                <a:gridCol w="2295144"/>
              </a:tblGrid>
              <a:tr h="228600">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They say</a:t>
                      </a:r>
                      <a:endParaRPr lang="en-US" sz="1200" dirty="0">
                        <a:latin typeface="Calibri" charset="0"/>
                        <a:ea typeface="Calibri" charset="0"/>
                        <a:cs typeface="Calibri" charset="0"/>
                      </a:endParaRPr>
                    </a:p>
                  </a:txBody>
                  <a:tcPr marL="36576" marR="36576" marT="36576" marB="36576" anchor="ctr">
                    <a:lnL w="9525" cap="flat" cmpd="sng" algn="ctr">
                      <a:solidFill>
                        <a:srgbClr val="DCD4E8"/>
                      </a:solidFill>
                      <a:prstDash val="solid"/>
                      <a:round/>
                      <a:headEnd type="none" w="med" len="med"/>
                      <a:tailEnd type="none" w="med" len="med"/>
                    </a:lnL>
                    <a:lnR w="9525" cap="flat" cmpd="sng" algn="ctr">
                      <a:solidFill>
                        <a:srgbClr val="DCD4E8"/>
                      </a:solidFill>
                      <a:prstDash val="solid"/>
                      <a:round/>
                      <a:headEnd type="none" w="med" len="med"/>
                      <a:tailEnd type="none" w="med" len="med"/>
                    </a:lnR>
                    <a:lnT w="9525" cap="flat" cmpd="sng" algn="ctr">
                      <a:solidFill>
                        <a:srgbClr val="DCD4E8"/>
                      </a:solidFill>
                      <a:prstDash val="solid"/>
                      <a:round/>
                      <a:headEnd type="none" w="med" len="med"/>
                      <a:tailEnd type="none" w="med" len="med"/>
                    </a:lnT>
                    <a:lnB w="9525" cap="flat" cmpd="sng" algn="ctr">
                      <a:solidFill>
                        <a:srgbClr val="DCD4E8"/>
                      </a:solidFill>
                      <a:prstDash val="solid"/>
                      <a:round/>
                      <a:headEnd type="none" w="med" len="med"/>
                      <a:tailEnd type="none" w="med" len="med"/>
                    </a:lnB>
                    <a:solidFill>
                      <a:srgbClr val="2A0A45"/>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We answer</a:t>
                      </a:r>
                      <a:endParaRPr lang="en-US" sz="1200" dirty="0">
                        <a:latin typeface="Calibri" charset="0"/>
                        <a:ea typeface="Calibri" charset="0"/>
                        <a:cs typeface="Calibri" charset="0"/>
                      </a:endParaRPr>
                    </a:p>
                  </a:txBody>
                  <a:tcPr marL="36576" marR="36576" marT="36576" marB="36576" anchor="ctr">
                    <a:lnL w="9525" cap="flat" cmpd="sng" algn="ctr">
                      <a:solidFill>
                        <a:srgbClr val="DCD4E8"/>
                      </a:solidFill>
                      <a:prstDash val="solid"/>
                      <a:round/>
                      <a:headEnd type="none" w="med" len="med"/>
                      <a:tailEnd type="none" w="med" len="med"/>
                    </a:lnL>
                    <a:lnR w="9525" cap="flat" cmpd="sng" algn="ctr">
                      <a:solidFill>
                        <a:srgbClr val="DCD4E8"/>
                      </a:solidFill>
                      <a:prstDash val="solid"/>
                      <a:round/>
                      <a:headEnd type="none" w="med" len="med"/>
                      <a:tailEnd type="none" w="med" len="med"/>
                    </a:lnR>
                    <a:lnT w="9525" cap="flat" cmpd="sng" algn="ctr">
                      <a:solidFill>
                        <a:srgbClr val="DCD4E8"/>
                      </a:solidFill>
                      <a:prstDash val="solid"/>
                      <a:round/>
                      <a:headEnd type="none" w="med" len="med"/>
                      <a:tailEnd type="none" w="med" len="med"/>
                    </a:lnT>
                    <a:lnB w="9525" cap="flat" cmpd="sng" algn="ctr">
                      <a:solidFill>
                        <a:srgbClr val="DCD4E8"/>
                      </a:solidFill>
                      <a:prstDash val="solid"/>
                      <a:round/>
                      <a:headEnd type="none" w="med" len="med"/>
                      <a:tailEnd type="none" w="med" len="med"/>
                    </a:lnB>
                    <a:solidFill>
                      <a:srgbClr val="2A0A45"/>
                    </a:solidFill>
                  </a:tcPr>
                </a:tc>
              </a:tr>
              <a:tr h="228600">
                <a:tc>
                  <a:txBody>
                    <a:bodyPr/>
                    <a:lstStyle/>
                    <a:p>
                      <a:pPr algn="l" indent="0" marL="0">
                        <a:buNone/>
                      </a:pPr>
                      <a:r>
                        <a:rPr lang="en-US" sz="1200" dirty="0">
                          <a:solidFill>
                            <a:srgbClr val="3A3838"/>
                          </a:solidFill>
                          <a:latin typeface="Calibri" pitchFamily="34" charset="0"/>
                          <a:ea typeface="Calibri" pitchFamily="34" charset="-122"/>
                          <a:cs typeface="Calibri" pitchFamily="34" charset="-120"/>
                        </a:rPr>
                        <a:t>“It will take my customer”</a:t>
                      </a:r>
                      <a:endParaRPr lang="en-US" sz="1200" dirty="0">
                        <a:latin typeface="Calibri" charset="0"/>
                        <a:ea typeface="Calibri" charset="0"/>
                        <a:cs typeface="Calibri" charset="0"/>
                      </a:endParaRPr>
                    </a:p>
                  </a:txBody>
                  <a:tcPr marL="36576" marR="36576" marT="36576" marB="36576" anchor="ctr">
                    <a:lnL w="9525" cap="flat" cmpd="sng" algn="ctr">
                      <a:solidFill>
                        <a:srgbClr val="DCD4E8"/>
                      </a:solidFill>
                      <a:prstDash val="solid"/>
                      <a:round/>
                      <a:headEnd type="none" w="med" len="med"/>
                      <a:tailEnd type="none" w="med" len="med"/>
                    </a:lnL>
                    <a:lnR w="9525" cap="flat" cmpd="sng" algn="ctr">
                      <a:solidFill>
                        <a:srgbClr val="DCD4E8"/>
                      </a:solidFill>
                      <a:prstDash val="solid"/>
                      <a:round/>
                      <a:headEnd type="none" w="med" len="med"/>
                      <a:tailEnd type="none" w="med" len="med"/>
                    </a:lnR>
                    <a:lnT w="9525" cap="flat" cmpd="sng" algn="ctr">
                      <a:solidFill>
                        <a:srgbClr val="DCD4E8"/>
                      </a:solidFill>
                      <a:prstDash val="solid"/>
                      <a:round/>
                      <a:headEnd type="none" w="med" len="med"/>
                      <a:tailEnd type="none" w="med" len="med"/>
                    </a:lnT>
                    <a:lnB w="9525" cap="flat" cmpd="sng" algn="ctr">
                      <a:solidFill>
                        <a:srgbClr val="DCD4E8"/>
                      </a:solidFill>
                      <a:prstDash val="solid"/>
                      <a:round/>
                      <a:headEnd type="none" w="med" len="med"/>
                      <a:tailEnd type="none" w="med" len="med"/>
                    </a:lnB>
                    <a:solidFill>
                      <a:srgbClr val="FBF8FE"/>
                    </a:solidFill>
                  </a:tcPr>
                </a:tc>
                <a:tc>
                  <a:txBody>
                    <a:bodyPr/>
                    <a:lstStyle/>
                    <a:p>
                      <a:pPr algn="l" indent="0" marL="0">
                        <a:buNone/>
                      </a:pPr>
                      <a:r>
                        <a:rPr lang="en-US" sz="1200" dirty="0">
                          <a:solidFill>
                            <a:srgbClr val="3A3838"/>
                          </a:solidFill>
                          <a:latin typeface="Calibri" pitchFamily="34" charset="0"/>
                          <a:ea typeface="Calibri" pitchFamily="34" charset="-122"/>
                          <a:cs typeface="Calibri" pitchFamily="34" charset="-120"/>
                        </a:rPr>
                        <a:t>Only drafts a note — consultant still prices &amp; closes</a:t>
                      </a:r>
                      <a:endParaRPr lang="en-US" sz="1200" dirty="0">
                        <a:latin typeface="Calibri" charset="0"/>
                        <a:ea typeface="Calibri" charset="0"/>
                        <a:cs typeface="Calibri" charset="0"/>
                      </a:endParaRPr>
                    </a:p>
                  </a:txBody>
                  <a:tcPr marL="36576" marR="36576" marT="36576" marB="36576" anchor="ctr">
                    <a:lnL w="9525" cap="flat" cmpd="sng" algn="ctr">
                      <a:solidFill>
                        <a:srgbClr val="DCD4E8"/>
                      </a:solidFill>
                      <a:prstDash val="solid"/>
                      <a:round/>
                      <a:headEnd type="none" w="med" len="med"/>
                      <a:tailEnd type="none" w="med" len="med"/>
                    </a:lnL>
                    <a:lnR w="9525" cap="flat" cmpd="sng" algn="ctr">
                      <a:solidFill>
                        <a:srgbClr val="DCD4E8"/>
                      </a:solidFill>
                      <a:prstDash val="solid"/>
                      <a:round/>
                      <a:headEnd type="none" w="med" len="med"/>
                      <a:tailEnd type="none" w="med" len="med"/>
                    </a:lnR>
                    <a:lnT w="9525" cap="flat" cmpd="sng" algn="ctr">
                      <a:solidFill>
                        <a:srgbClr val="DCD4E8"/>
                      </a:solidFill>
                      <a:prstDash val="solid"/>
                      <a:round/>
                      <a:headEnd type="none" w="med" len="med"/>
                      <a:tailEnd type="none" w="med" len="med"/>
                    </a:lnT>
                    <a:lnB w="9525" cap="flat" cmpd="sng" algn="ctr">
                      <a:solidFill>
                        <a:srgbClr val="DCD4E8"/>
                      </a:solidFill>
                      <a:prstDash val="solid"/>
                      <a:round/>
                      <a:headEnd type="none" w="med" len="med"/>
                      <a:tailEnd type="none" w="med" len="med"/>
                    </a:lnB>
                    <a:solidFill>
                      <a:srgbClr val="FBF8FE"/>
                    </a:solidFill>
                  </a:tcPr>
                </a:tc>
              </a:tr>
              <a:tr h="228600">
                <a:tc>
                  <a:txBody>
                    <a:bodyPr/>
                    <a:lstStyle/>
                    <a:p>
                      <a:pPr algn="l" indent="0" marL="0">
                        <a:buNone/>
                      </a:pPr>
                      <a:r>
                        <a:rPr lang="en-US" sz="1200" dirty="0">
                          <a:solidFill>
                            <a:srgbClr val="3A3838"/>
                          </a:solidFill>
                          <a:latin typeface="Calibri" pitchFamily="34" charset="0"/>
                          <a:ea typeface="Calibri" pitchFamily="34" charset="-122"/>
                          <a:cs typeface="Calibri" pitchFamily="34" charset="-120"/>
                        </a:rPr>
                        <a:t>“This is more work”</a:t>
                      </a:r>
                      <a:endParaRPr lang="en-US" sz="1200" dirty="0">
                        <a:latin typeface="Calibri" charset="0"/>
                        <a:ea typeface="Calibri" charset="0"/>
                        <a:cs typeface="Calibri" charset="0"/>
                      </a:endParaRPr>
                    </a:p>
                  </a:txBody>
                  <a:tcPr marL="36576" marR="36576" marT="36576" marB="36576" anchor="ctr">
                    <a:lnL w="9525" cap="flat" cmpd="sng" algn="ctr">
                      <a:solidFill>
                        <a:srgbClr val="DCD4E8"/>
                      </a:solidFill>
                      <a:prstDash val="solid"/>
                      <a:round/>
                      <a:headEnd type="none" w="med" len="med"/>
                      <a:tailEnd type="none" w="med" len="med"/>
                    </a:lnL>
                    <a:lnR w="9525" cap="flat" cmpd="sng" algn="ctr">
                      <a:solidFill>
                        <a:srgbClr val="DCD4E8"/>
                      </a:solidFill>
                      <a:prstDash val="solid"/>
                      <a:round/>
                      <a:headEnd type="none" w="med" len="med"/>
                      <a:tailEnd type="none" w="med" len="med"/>
                    </a:lnR>
                    <a:lnT w="9525" cap="flat" cmpd="sng" algn="ctr">
                      <a:solidFill>
                        <a:srgbClr val="DCD4E8"/>
                      </a:solidFill>
                      <a:prstDash val="solid"/>
                      <a:round/>
                      <a:headEnd type="none" w="med" len="med"/>
                      <a:tailEnd type="none" w="med" len="med"/>
                    </a:lnT>
                    <a:lnB w="9525" cap="flat" cmpd="sng" algn="ctr">
                      <a:solidFill>
                        <a:srgbClr val="DCD4E8"/>
                      </a:solidFill>
                      <a:prstDash val="solid"/>
                      <a:round/>
                      <a:headEnd type="none" w="med" len="med"/>
                      <a:tailEnd type="none" w="med" len="med"/>
                    </a:lnB>
                    <a:solidFill>
                      <a:srgbClr val="FFFFFF"/>
                    </a:solidFill>
                  </a:tcPr>
                </a:tc>
                <a:tc>
                  <a:txBody>
                    <a:bodyPr/>
                    <a:lstStyle/>
                    <a:p>
                      <a:pPr algn="l" indent="0" marL="0">
                        <a:buNone/>
                      </a:pPr>
                      <a:r>
                        <a:rPr lang="en-US" sz="1200" dirty="0">
                          <a:solidFill>
                            <a:srgbClr val="3A3838"/>
                          </a:solidFill>
                          <a:latin typeface="Calibri" pitchFamily="34" charset="0"/>
                          <a:ea typeface="Calibri" pitchFamily="34" charset="-122"/>
                          <a:cs typeface="Calibri" pitchFamily="34" charset="-120"/>
                        </a:rPr>
                        <a:t>Est. 30–40 min/day back — confirmed in Q2 pilot</a:t>
                      </a:r>
                      <a:endParaRPr lang="en-US" sz="1200" dirty="0">
                        <a:latin typeface="Calibri" charset="0"/>
                        <a:ea typeface="Calibri" charset="0"/>
                        <a:cs typeface="Calibri" charset="0"/>
                      </a:endParaRPr>
                    </a:p>
                  </a:txBody>
                  <a:tcPr marL="36576" marR="36576" marT="36576" marB="36576" anchor="ctr">
                    <a:lnL w="9525" cap="flat" cmpd="sng" algn="ctr">
                      <a:solidFill>
                        <a:srgbClr val="DCD4E8"/>
                      </a:solidFill>
                      <a:prstDash val="solid"/>
                      <a:round/>
                      <a:headEnd type="none" w="med" len="med"/>
                      <a:tailEnd type="none" w="med" len="med"/>
                    </a:lnL>
                    <a:lnR w="9525" cap="flat" cmpd="sng" algn="ctr">
                      <a:solidFill>
                        <a:srgbClr val="DCD4E8"/>
                      </a:solidFill>
                      <a:prstDash val="solid"/>
                      <a:round/>
                      <a:headEnd type="none" w="med" len="med"/>
                      <a:tailEnd type="none" w="med" len="med"/>
                    </a:lnR>
                    <a:lnT w="9525" cap="flat" cmpd="sng" algn="ctr">
                      <a:solidFill>
                        <a:srgbClr val="DCD4E8"/>
                      </a:solidFill>
                      <a:prstDash val="solid"/>
                      <a:round/>
                      <a:headEnd type="none" w="med" len="med"/>
                      <a:tailEnd type="none" w="med" len="med"/>
                    </a:lnT>
                    <a:lnB w="9525" cap="flat" cmpd="sng" algn="ctr">
                      <a:solidFill>
                        <a:srgbClr val="DCD4E8"/>
                      </a:solidFill>
                      <a:prstDash val="solid"/>
                      <a:round/>
                      <a:headEnd type="none" w="med" len="med"/>
                      <a:tailEnd type="none" w="med" len="med"/>
                    </a:lnB>
                    <a:solidFill>
                      <a:srgbClr val="FFFFFF"/>
                    </a:solidFill>
                  </a:tcPr>
                </a:tc>
              </a:tr>
              <a:tr h="228600">
                <a:tc>
                  <a:txBody>
                    <a:bodyPr/>
                    <a:lstStyle/>
                    <a:p>
                      <a:pPr algn="l" indent="0" marL="0">
                        <a:buNone/>
                      </a:pPr>
                      <a:r>
                        <a:rPr lang="en-US" sz="1200" dirty="0">
                          <a:solidFill>
                            <a:srgbClr val="3A3838"/>
                          </a:solidFill>
                          <a:latin typeface="Calibri" pitchFamily="34" charset="0"/>
                          <a:ea typeface="Calibri" pitchFamily="34" charset="-122"/>
                          <a:cs typeface="Calibri" pitchFamily="34" charset="-120"/>
                        </a:rPr>
                        <a:t>“That is my data”</a:t>
                      </a:r>
                      <a:endParaRPr lang="en-US" sz="1200" dirty="0">
                        <a:latin typeface="Calibri" charset="0"/>
                        <a:ea typeface="Calibri" charset="0"/>
                        <a:cs typeface="Calibri" charset="0"/>
                      </a:endParaRPr>
                    </a:p>
                  </a:txBody>
                  <a:tcPr marL="36576" marR="36576" marT="36576" marB="36576" anchor="ctr">
                    <a:lnL w="9525" cap="flat" cmpd="sng" algn="ctr">
                      <a:solidFill>
                        <a:srgbClr val="DCD4E8"/>
                      </a:solidFill>
                      <a:prstDash val="solid"/>
                      <a:round/>
                      <a:headEnd type="none" w="med" len="med"/>
                      <a:tailEnd type="none" w="med" len="med"/>
                    </a:lnL>
                    <a:lnR w="9525" cap="flat" cmpd="sng" algn="ctr">
                      <a:solidFill>
                        <a:srgbClr val="DCD4E8"/>
                      </a:solidFill>
                      <a:prstDash val="solid"/>
                      <a:round/>
                      <a:headEnd type="none" w="med" len="med"/>
                      <a:tailEnd type="none" w="med" len="med"/>
                    </a:lnR>
                    <a:lnT w="9525" cap="flat" cmpd="sng" algn="ctr">
                      <a:solidFill>
                        <a:srgbClr val="DCD4E8"/>
                      </a:solidFill>
                      <a:prstDash val="solid"/>
                      <a:round/>
                      <a:headEnd type="none" w="med" len="med"/>
                      <a:tailEnd type="none" w="med" len="med"/>
                    </a:lnT>
                    <a:lnB w="9525" cap="flat" cmpd="sng" algn="ctr">
                      <a:solidFill>
                        <a:srgbClr val="DCD4E8"/>
                      </a:solidFill>
                      <a:prstDash val="solid"/>
                      <a:round/>
                      <a:headEnd type="none" w="med" len="med"/>
                      <a:tailEnd type="none" w="med" len="med"/>
                    </a:lnB>
                    <a:solidFill>
                      <a:srgbClr val="FBF8FE"/>
                    </a:solidFill>
                  </a:tcPr>
                </a:tc>
                <a:tc>
                  <a:txBody>
                    <a:bodyPr/>
                    <a:lstStyle/>
                    <a:p>
                      <a:pPr algn="l" indent="0" marL="0">
                        <a:buNone/>
                      </a:pPr>
                      <a:r>
                        <a:rPr lang="en-US" sz="1200" dirty="0">
                          <a:solidFill>
                            <a:srgbClr val="3A3838"/>
                          </a:solidFill>
                          <a:latin typeface="Calibri" pitchFamily="34" charset="0"/>
                          <a:ea typeface="Calibri" pitchFamily="34" charset="-122"/>
                          <a:cs typeface="Calibri" pitchFamily="34" charset="-120"/>
                        </a:rPr>
                        <a:t>Identity only — deal terms &amp; prospects stay with you</a:t>
                      </a:r>
                      <a:endParaRPr lang="en-US" sz="1200" dirty="0">
                        <a:latin typeface="Calibri" charset="0"/>
                        <a:ea typeface="Calibri" charset="0"/>
                        <a:cs typeface="Calibri" charset="0"/>
                      </a:endParaRPr>
                    </a:p>
                  </a:txBody>
                  <a:tcPr marL="36576" marR="36576" marT="36576" marB="36576" anchor="ctr">
                    <a:lnL w="9525" cap="flat" cmpd="sng" algn="ctr">
                      <a:solidFill>
                        <a:srgbClr val="DCD4E8"/>
                      </a:solidFill>
                      <a:prstDash val="solid"/>
                      <a:round/>
                      <a:headEnd type="none" w="med" len="med"/>
                      <a:tailEnd type="none" w="med" len="med"/>
                    </a:lnL>
                    <a:lnR w="9525" cap="flat" cmpd="sng" algn="ctr">
                      <a:solidFill>
                        <a:srgbClr val="DCD4E8"/>
                      </a:solidFill>
                      <a:prstDash val="solid"/>
                      <a:round/>
                      <a:headEnd type="none" w="med" len="med"/>
                      <a:tailEnd type="none" w="med" len="med"/>
                    </a:lnR>
                    <a:lnT w="9525" cap="flat" cmpd="sng" algn="ctr">
                      <a:solidFill>
                        <a:srgbClr val="DCD4E8"/>
                      </a:solidFill>
                      <a:prstDash val="solid"/>
                      <a:round/>
                      <a:headEnd type="none" w="med" len="med"/>
                      <a:tailEnd type="none" w="med" len="med"/>
                    </a:lnT>
                    <a:lnB w="9525" cap="flat" cmpd="sng" algn="ctr">
                      <a:solidFill>
                        <a:srgbClr val="DCD4E8"/>
                      </a:solidFill>
                      <a:prstDash val="solid"/>
                      <a:round/>
                      <a:headEnd type="none" w="med" len="med"/>
                      <a:tailEnd type="none" w="med" len="med"/>
                    </a:lnB>
                    <a:solidFill>
                      <a:srgbClr val="FBF8FE"/>
                    </a:solidFill>
                  </a:tcPr>
                </a:tc>
              </a:tr>
              <a:tr h="228600">
                <a:tc>
                  <a:txBody>
                    <a:bodyPr/>
                    <a:lstStyle/>
                    <a:p>
                      <a:pPr algn="l" indent="0" marL="0">
                        <a:buNone/>
                      </a:pPr>
                      <a:r>
                        <a:rPr lang="en-US" sz="1200" dirty="0">
                          <a:solidFill>
                            <a:srgbClr val="3A3838"/>
                          </a:solidFill>
                          <a:latin typeface="Calibri" pitchFamily="34" charset="0"/>
                          <a:ea typeface="Calibri" pitchFamily="34" charset="-122"/>
                          <a:cs typeface="Calibri" pitchFamily="34" charset="-120"/>
                        </a:rPr>
                        <a:t>“Why me first?”</a:t>
                      </a:r>
                      <a:endParaRPr lang="en-US" sz="1200" dirty="0">
                        <a:latin typeface="Calibri" charset="0"/>
                        <a:ea typeface="Calibri" charset="0"/>
                        <a:cs typeface="Calibri" charset="0"/>
                      </a:endParaRPr>
                    </a:p>
                  </a:txBody>
                  <a:tcPr marL="36576" marR="36576" marT="36576" marB="36576" anchor="ctr">
                    <a:lnL w="9525" cap="flat" cmpd="sng" algn="ctr">
                      <a:solidFill>
                        <a:srgbClr val="DCD4E8"/>
                      </a:solidFill>
                      <a:prstDash val="solid"/>
                      <a:round/>
                      <a:headEnd type="none" w="med" len="med"/>
                      <a:tailEnd type="none" w="med" len="med"/>
                    </a:lnL>
                    <a:lnR w="9525" cap="flat" cmpd="sng" algn="ctr">
                      <a:solidFill>
                        <a:srgbClr val="DCD4E8"/>
                      </a:solidFill>
                      <a:prstDash val="solid"/>
                      <a:round/>
                      <a:headEnd type="none" w="med" len="med"/>
                      <a:tailEnd type="none" w="med" len="med"/>
                    </a:lnR>
                    <a:lnT w="9525" cap="flat" cmpd="sng" algn="ctr">
                      <a:solidFill>
                        <a:srgbClr val="DCD4E8"/>
                      </a:solidFill>
                      <a:prstDash val="solid"/>
                      <a:round/>
                      <a:headEnd type="none" w="med" len="med"/>
                      <a:tailEnd type="none" w="med" len="med"/>
                    </a:lnT>
                    <a:lnB w="9525" cap="flat" cmpd="sng" algn="ctr">
                      <a:solidFill>
                        <a:srgbClr val="DCD4E8"/>
                      </a:solidFill>
                      <a:prstDash val="solid"/>
                      <a:round/>
                      <a:headEnd type="none" w="med" len="med"/>
                      <a:tailEnd type="none" w="med" len="med"/>
                    </a:lnB>
                    <a:solidFill>
                      <a:srgbClr val="FFFFFF"/>
                    </a:solidFill>
                  </a:tcPr>
                </a:tc>
                <a:tc>
                  <a:txBody>
                    <a:bodyPr/>
                    <a:lstStyle/>
                    <a:p>
                      <a:pPr algn="l" indent="0" marL="0">
                        <a:buNone/>
                      </a:pPr>
                      <a:r>
                        <a:rPr lang="en-US" sz="1200" dirty="0">
                          <a:solidFill>
                            <a:srgbClr val="3A3838"/>
                          </a:solidFill>
                          <a:latin typeface="Calibri" pitchFamily="34" charset="0"/>
                          <a:ea typeface="Calibri" pitchFamily="34" charset="-122"/>
                          <a:cs typeface="Calibri" pitchFamily="34" charset="-120"/>
                        </a:rPr>
                        <a:t>Wave 1 fully funded, plus priority on catchment leads</a:t>
                      </a:r>
                      <a:endParaRPr lang="en-US" sz="1200" dirty="0">
                        <a:latin typeface="Calibri" charset="0"/>
                        <a:ea typeface="Calibri" charset="0"/>
                        <a:cs typeface="Calibri" charset="0"/>
                      </a:endParaRPr>
                    </a:p>
                  </a:txBody>
                  <a:tcPr marL="36576" marR="36576" marT="36576" marB="36576" anchor="ctr">
                    <a:lnL w="9525" cap="flat" cmpd="sng" algn="ctr">
                      <a:solidFill>
                        <a:srgbClr val="DCD4E8"/>
                      </a:solidFill>
                      <a:prstDash val="solid"/>
                      <a:round/>
                      <a:headEnd type="none" w="med" len="med"/>
                      <a:tailEnd type="none" w="med" len="med"/>
                    </a:lnL>
                    <a:lnR w="9525" cap="flat" cmpd="sng" algn="ctr">
                      <a:solidFill>
                        <a:srgbClr val="DCD4E8"/>
                      </a:solidFill>
                      <a:prstDash val="solid"/>
                      <a:round/>
                      <a:headEnd type="none" w="med" len="med"/>
                      <a:tailEnd type="none" w="med" len="med"/>
                    </a:lnR>
                    <a:lnT w="9525" cap="flat" cmpd="sng" algn="ctr">
                      <a:solidFill>
                        <a:srgbClr val="DCD4E8"/>
                      </a:solidFill>
                      <a:prstDash val="solid"/>
                      <a:round/>
                      <a:headEnd type="none" w="med" len="med"/>
                      <a:tailEnd type="none" w="med" len="med"/>
                    </a:lnT>
                    <a:lnB w="9525" cap="flat" cmpd="sng" algn="ctr">
                      <a:solidFill>
                        <a:srgbClr val="DCD4E8"/>
                      </a:solidFill>
                      <a:prstDash val="solid"/>
                      <a:round/>
                      <a:headEnd type="none" w="med" len="med"/>
                      <a:tailEnd type="none" w="med" len="med"/>
                    </a:lnB>
                    <a:solidFill>
                      <a:srgbClr val="FFFFFF"/>
                    </a:solidFill>
                  </a:tcPr>
                </a:tc>
              </a:tr>
            </a:tbl>
          </a:graphicData>
        </a:graphic>
      </p:graphicFrame>
      <p:sp>
        <p:nvSpPr>
          <p:cNvPr id="38" name="Text 31"/>
          <p:cNvSpPr/>
          <p:nvPr/>
        </p:nvSpPr>
        <p:spPr>
          <a:xfrm>
            <a:off x="8275320" y="4846320"/>
            <a:ext cx="3776472" cy="859536"/>
          </a:xfrm>
          <a:prstGeom prst="rect">
            <a:avLst/>
          </a:prstGeom>
          <a:noFill/>
          <a:ln/>
        </p:spPr>
        <p:txBody>
          <a:bodyPr wrap="square" lIns="0" tIns="0" rIns="0" bIns="0" rtlCol="0" anchor="ctr"/>
          <a:lstStyle/>
          <a:p>
            <a:pPr marL="342900" indent="-342900">
              <a:lnSpc>
                <a:spcPct val="98000"/>
              </a:lnSpc>
              <a:spcAft>
                <a:spcPts val="500"/>
              </a:spcAft>
              <a:buSzPct val="100000"/>
              <a:buChar char="•"/>
            </a:pPr>
            <a:r>
              <a:rPr lang="en-US" sz="1200" dirty="0">
                <a:solidFill>
                  <a:srgbClr val="3A3838"/>
                </a:solidFill>
                <a:latin typeface="Calibri" pitchFamily="34" charset="0"/>
                <a:ea typeface="Calibri" pitchFamily="34" charset="-122"/>
                <a:cs typeface="Calibri" pitchFamily="34" charset="-120"/>
              </a:rPr>
              <a:t>Roadshow in 20 cities — margin shown, not just claimed</a:t>
            </a:r>
            <a:endParaRPr lang="en-US" sz="1200" dirty="0"/>
          </a:p>
          <a:p>
            <a:pPr marL="342900" indent="-342900">
              <a:lnSpc>
                <a:spcPct val="98000"/>
              </a:lnSpc>
              <a:spcAft>
                <a:spcPts val="500"/>
              </a:spcAft>
              <a:buSzPct val="100000"/>
              <a:buChar char="•"/>
            </a:pPr>
            <a:r>
              <a:rPr lang="en-US" sz="1200" dirty="0">
                <a:solidFill>
                  <a:srgbClr val="3A3838"/>
                </a:solidFill>
                <a:latin typeface="Calibri" pitchFamily="34" charset="0"/>
                <a:ea typeface="Calibri" pitchFamily="34" charset="-122"/>
                <a:cs typeface="Calibri" pitchFamily="34" charset="-120"/>
              </a:rPr>
              <a:t>15-min daily huddle on the agent queue, champion-run</a:t>
            </a:r>
            <a:endParaRPr lang="en-US" sz="1200" dirty="0"/>
          </a:p>
          <a:p>
            <a:pPr marL="342900" indent="-342900">
              <a:lnSpc>
                <a:spcPct val="98000"/>
              </a:lnSpc>
              <a:spcAft>
                <a:spcPts val="500"/>
              </a:spcAft>
              <a:buSzPct val="100000"/>
              <a:buChar char="•"/>
            </a:pPr>
            <a:r>
              <a:rPr lang="en-US" sz="1200" dirty="0">
                <a:solidFill>
                  <a:srgbClr val="3A3838"/>
                </a:solidFill>
                <a:latin typeface="Calibri" pitchFamily="34" charset="0"/>
                <a:ea typeface="Calibri" pitchFamily="34" charset="-122"/>
                <a:cs typeface="Calibri" pitchFamily="34" charset="-120"/>
              </a:rPr>
              <a:t>Quarterly recert, or the outlet drops a tier</a:t>
            </a:r>
            <a:endParaRPr lang="en-US" sz="1200" dirty="0"/>
          </a:p>
        </p:txBody>
      </p:sp>
      <p:sp>
        <p:nvSpPr>
          <p:cNvPr id="39" name="Text 32"/>
          <p:cNvSpPr/>
          <p:nvPr/>
        </p:nvSpPr>
        <p:spPr>
          <a:xfrm>
            <a:off x="8275320" y="5779008"/>
            <a:ext cx="3776472" cy="548640"/>
          </a:xfrm>
          <a:prstGeom prst="rect">
            <a:avLst/>
          </a:prstGeom>
          <a:solidFill>
            <a:srgbClr val="2A0A45"/>
          </a:solidFill>
          <a:ln/>
        </p:spPr>
        <p:txBody>
          <a:bodyPr wrap="square" lIns="762" tIns="762" rIns="762" bIns="762" rtlCol="0" anchor="ctr"/>
          <a:lstStyle/>
          <a:p>
            <a:pPr indent="0" marL="0">
              <a:lnSpc>
                <a:spcPct val="98000"/>
              </a:lnSpc>
              <a:buNone/>
            </a:pPr>
            <a:r>
              <a:rPr lang="en-US" sz="1200" dirty="0">
                <a:solidFill>
                  <a:srgbClr val="FFFFFF"/>
                </a:solidFill>
                <a:latin typeface="Calibri" pitchFamily="34" charset="0"/>
                <a:ea typeface="Calibri" pitchFamily="34" charset="-122"/>
                <a:cs typeface="Calibri" pitchFamily="34" charset="-120"/>
              </a:rPr>
              <a:t>Adoption is a </a:t>
            </a:r>
            <a:pPr indent="0" marL="0">
              <a:lnSpc>
                <a:spcPct val="98000"/>
              </a:lnSpc>
              <a:buNone/>
            </a:pPr>
            <a:r>
              <a:rPr lang="en-US" sz="1200" b="1" dirty="0">
                <a:solidFill>
                  <a:srgbClr val="C98CFF"/>
                </a:solidFill>
                <a:latin typeface="Calibri" pitchFamily="34" charset="0"/>
                <a:ea typeface="Calibri" pitchFamily="34" charset="-122"/>
                <a:cs typeface="Calibri" pitchFamily="34" charset="-120"/>
              </a:rPr>
              <a:t>gate condition</a:t>
            </a:r>
            <a:pPr indent="0" marL="0">
              <a:lnSpc>
                <a:spcPct val="98000"/>
              </a:lnSpc>
              <a:buNone/>
            </a:pPr>
            <a:r>
              <a:rPr lang="en-US" sz="1200" dirty="0">
                <a:solidFill>
                  <a:srgbClr val="FFFFFF"/>
                </a:solidFill>
                <a:latin typeface="Calibri" pitchFamily="34" charset="0"/>
                <a:ea typeface="Calibri" pitchFamily="34" charset="-122"/>
                <a:cs typeface="Calibri" pitchFamily="34" charset="-120"/>
              </a:rPr>
              <a:t>, not a report — if it stalls, the next wave is not funded.</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137160" y="155448"/>
            <a:ext cx="1874520" cy="41148"/>
          </a:xfrm>
          <a:prstGeom prst="rect">
            <a:avLst/>
          </a:prstGeom>
          <a:solidFill>
            <a:srgbClr val="2A0A45"/>
          </a:solidFill>
          <a:ln w="12700">
            <a:solidFill>
              <a:srgbClr val="333333"/>
            </a:solidFill>
            <a:prstDash val="solid"/>
          </a:ln>
        </p:spPr>
      </p:sp>
      <p:sp>
        <p:nvSpPr>
          <p:cNvPr id="3" name="Shape 1"/>
          <p:cNvSpPr/>
          <p:nvPr/>
        </p:nvSpPr>
        <p:spPr>
          <a:xfrm>
            <a:off x="137160" y="246888"/>
            <a:ext cx="1453896" cy="41148"/>
          </a:xfrm>
          <a:prstGeom prst="rect">
            <a:avLst/>
          </a:prstGeom>
          <a:solidFill>
            <a:srgbClr val="2A0A45"/>
          </a:solidFill>
          <a:ln w="12700">
            <a:solidFill>
              <a:srgbClr val="333333"/>
            </a:solidFill>
            <a:prstDash val="solid"/>
          </a:ln>
        </p:spPr>
      </p:sp>
      <p:sp>
        <p:nvSpPr>
          <p:cNvPr id="4" name="Shape 2"/>
          <p:cNvSpPr/>
          <p:nvPr/>
        </p:nvSpPr>
        <p:spPr>
          <a:xfrm>
            <a:off x="137160" y="338328"/>
            <a:ext cx="1874520" cy="41148"/>
          </a:xfrm>
          <a:prstGeom prst="rect">
            <a:avLst/>
          </a:prstGeom>
          <a:solidFill>
            <a:srgbClr val="2A0A45"/>
          </a:solidFill>
          <a:ln w="12700">
            <a:solidFill>
              <a:srgbClr val="333333"/>
            </a:solidFill>
            <a:prstDash val="solid"/>
          </a:ln>
        </p:spPr>
      </p:sp>
      <p:sp>
        <p:nvSpPr>
          <p:cNvPr id="5" name="Shape 3"/>
          <p:cNvSpPr/>
          <p:nvPr/>
        </p:nvSpPr>
        <p:spPr>
          <a:xfrm>
            <a:off x="10177272" y="155448"/>
            <a:ext cx="1874520" cy="41148"/>
          </a:xfrm>
          <a:prstGeom prst="rect">
            <a:avLst/>
          </a:prstGeom>
          <a:solidFill>
            <a:srgbClr val="2A0A45"/>
          </a:solidFill>
          <a:ln w="12700">
            <a:solidFill>
              <a:srgbClr val="333333"/>
            </a:solidFill>
            <a:prstDash val="solid"/>
          </a:ln>
        </p:spPr>
      </p:sp>
      <p:sp>
        <p:nvSpPr>
          <p:cNvPr id="6" name="Shape 4"/>
          <p:cNvSpPr/>
          <p:nvPr/>
        </p:nvSpPr>
        <p:spPr>
          <a:xfrm>
            <a:off x="10597896" y="246888"/>
            <a:ext cx="1453896" cy="41148"/>
          </a:xfrm>
          <a:prstGeom prst="rect">
            <a:avLst/>
          </a:prstGeom>
          <a:solidFill>
            <a:srgbClr val="2A0A45"/>
          </a:solidFill>
          <a:ln w="12700">
            <a:solidFill>
              <a:srgbClr val="333333"/>
            </a:solidFill>
            <a:prstDash val="solid"/>
          </a:ln>
        </p:spPr>
      </p:sp>
      <p:sp>
        <p:nvSpPr>
          <p:cNvPr id="7" name="Shape 5"/>
          <p:cNvSpPr/>
          <p:nvPr/>
        </p:nvSpPr>
        <p:spPr>
          <a:xfrm>
            <a:off x="10177272" y="338328"/>
            <a:ext cx="1874520" cy="41148"/>
          </a:xfrm>
          <a:prstGeom prst="rect">
            <a:avLst/>
          </a:prstGeom>
          <a:solidFill>
            <a:srgbClr val="2A0A45"/>
          </a:solidFill>
          <a:ln w="12700">
            <a:solidFill>
              <a:srgbClr val="333333"/>
            </a:solidFill>
            <a:prstDash val="solid"/>
          </a:ln>
        </p:spPr>
      </p:sp>
      <p:sp>
        <p:nvSpPr>
          <p:cNvPr id="8" name="Text 6"/>
          <p:cNvSpPr/>
          <p:nvPr/>
        </p:nvSpPr>
        <p:spPr>
          <a:xfrm>
            <a:off x="2057400" y="0"/>
            <a:ext cx="8092440" cy="530352"/>
          </a:xfrm>
          <a:prstGeom prst="rect">
            <a:avLst/>
          </a:prstGeom>
          <a:noFill/>
          <a:ln/>
        </p:spPr>
        <p:txBody>
          <a:bodyPr wrap="square" lIns="0" tIns="0" rIns="0" bIns="0" rtlCol="0" anchor="ctr"/>
          <a:lstStyle/>
          <a:p>
            <a:pPr algn="ctr" indent="0" marL="0">
              <a:buNone/>
            </a:pPr>
            <a:r>
              <a:rPr lang="en-US" sz="2600" b="1" dirty="0">
                <a:solidFill>
                  <a:srgbClr val="000000"/>
                </a:solidFill>
                <a:latin typeface="Calibri" pitchFamily="34" charset="0"/>
                <a:ea typeface="Calibri" pitchFamily="34" charset="-122"/>
                <a:cs typeface="Calibri" pitchFamily="34" charset="-120"/>
              </a:rPr>
              <a:t>TWELVE QUARTERS, FOUR GATES, ₹85 CR TO PROVE IT</a:t>
            </a:r>
            <a:endParaRPr lang="en-US" sz="2600" dirty="0"/>
          </a:p>
        </p:txBody>
      </p:sp>
      <p:sp>
        <p:nvSpPr>
          <p:cNvPr id="9" name="Text 7"/>
          <p:cNvSpPr/>
          <p:nvPr/>
        </p:nvSpPr>
        <p:spPr>
          <a:xfrm>
            <a:off x="0" y="548640"/>
            <a:ext cx="12191695" cy="310896"/>
          </a:xfrm>
          <a:prstGeom prst="rect">
            <a:avLst/>
          </a:prstGeom>
          <a:solidFill>
            <a:srgbClr val="A100FF"/>
          </a:solid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REALITY 1 ANSWERED BY SEQUENCING: PROVE ON 40 OUTLETS AGAINST MATCHED CONTROLS, SCALE ON EVIDENCE, HAND TO THE LINE</a:t>
            </a:r>
            <a:endParaRPr lang="en-US" sz="1300" dirty="0"/>
          </a:p>
        </p:txBody>
      </p:sp>
      <p:sp>
        <p:nvSpPr>
          <p:cNvPr id="10" name="Shape 8"/>
          <p:cNvSpPr/>
          <p:nvPr/>
        </p:nvSpPr>
        <p:spPr>
          <a:xfrm>
            <a:off x="0" y="859536"/>
            <a:ext cx="12191695" cy="27432"/>
          </a:xfrm>
          <a:prstGeom prst="rect">
            <a:avLst/>
          </a:prstGeom>
          <a:solidFill>
            <a:srgbClr val="2A0A45"/>
          </a:solidFill>
          <a:ln w="12700">
            <a:solidFill>
              <a:srgbClr val="333333"/>
            </a:solidFill>
            <a:prstDash val="solid"/>
          </a:ln>
        </p:spPr>
      </p:sp>
      <p:sp>
        <p:nvSpPr>
          <p:cNvPr id="11" name="Shape 9"/>
          <p:cNvSpPr/>
          <p:nvPr/>
        </p:nvSpPr>
        <p:spPr>
          <a:xfrm>
            <a:off x="0" y="1783080"/>
            <a:ext cx="12191695" cy="27432"/>
          </a:xfrm>
          <a:prstGeom prst="rect">
            <a:avLst/>
          </a:prstGeom>
          <a:solidFill>
            <a:srgbClr val="2A0A45"/>
          </a:solidFill>
          <a:ln w="12700">
            <a:solidFill>
              <a:srgbClr val="333333"/>
            </a:solidFill>
            <a:prstDash val="solid"/>
          </a:ln>
        </p:spPr>
      </p:sp>
      <p:sp>
        <p:nvSpPr>
          <p:cNvPr id="12" name="Shape 10"/>
          <p:cNvSpPr/>
          <p:nvPr/>
        </p:nvSpPr>
        <p:spPr>
          <a:xfrm>
            <a:off x="0" y="6528816"/>
            <a:ext cx="12191695" cy="329184"/>
          </a:xfrm>
          <a:prstGeom prst="rect">
            <a:avLst/>
          </a:prstGeom>
          <a:solidFill>
            <a:srgbClr val="2A0A45"/>
          </a:solidFill>
          <a:ln w="12700">
            <a:solidFill>
              <a:srgbClr val="333333"/>
            </a:solidFill>
            <a:prstDash val="solid"/>
          </a:ln>
        </p:spPr>
      </p:sp>
      <p:sp>
        <p:nvSpPr>
          <p:cNvPr id="13" name="Text 11"/>
          <p:cNvSpPr/>
          <p:nvPr/>
        </p:nvSpPr>
        <p:spPr>
          <a:xfrm>
            <a:off x="137160" y="6528816"/>
            <a:ext cx="9601200" cy="329184"/>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G1 Q2 pilot readout · G2 Q4 Year-1 readout · G3 Q8 scale readout · G4 Q12 hand-over to line ownership</a:t>
            </a:r>
            <a:endParaRPr lang="en-US" sz="1200" dirty="0"/>
          </a:p>
        </p:txBody>
      </p:sp>
      <p:sp>
        <p:nvSpPr>
          <p:cNvPr id="14" name="Text 12"/>
          <p:cNvSpPr/>
          <p:nvPr/>
        </p:nvSpPr>
        <p:spPr>
          <a:xfrm>
            <a:off x="10789920" y="6528816"/>
            <a:ext cx="1280160" cy="329184"/>
          </a:xfrm>
          <a:prstGeom prst="rect">
            <a:avLst/>
          </a:prstGeom>
          <a:noFill/>
          <a:ln/>
        </p:spPr>
        <p:txBody>
          <a:bodyPr wrap="square" lIns="0" tIns="0" rIns="0" bIns="0" rtlCol="0" anchor="ctr"/>
          <a:lstStyle/>
          <a:p>
            <a:pPr algn="r" indent="0" marL="0">
              <a:buNone/>
            </a:pPr>
            <a:r>
              <a:rPr lang="en-US" sz="1200" dirty="0">
                <a:solidFill>
                  <a:srgbClr val="FFFFFF"/>
                </a:solidFill>
                <a:latin typeface="Calibri" pitchFamily="34" charset="0"/>
                <a:ea typeface="Calibri" pitchFamily="34" charset="-122"/>
                <a:cs typeface="Calibri" pitchFamily="34" charset="-120"/>
              </a:rPr>
              <a:t>6 / 7</a:t>
            </a:r>
            <a:endParaRPr lang="en-US" sz="1200" dirty="0"/>
          </a:p>
        </p:txBody>
      </p:sp>
      <p:sp>
        <p:nvSpPr>
          <p:cNvPr id="15" name="Shape 13"/>
          <p:cNvSpPr/>
          <p:nvPr/>
        </p:nvSpPr>
        <p:spPr>
          <a:xfrm>
            <a:off x="0" y="886968"/>
            <a:ext cx="1938528" cy="896112"/>
          </a:xfrm>
          <a:prstGeom prst="homePlate">
            <a:avLst/>
          </a:prstGeom>
          <a:solidFill>
            <a:srgbClr val="2A0A45"/>
          </a:solidFill>
          <a:ln w="12700">
            <a:solidFill>
              <a:srgbClr val="333333"/>
            </a:solidFill>
            <a:prstDash val="solid"/>
          </a:ln>
        </p:spPr>
      </p:sp>
      <p:pic>
        <p:nvPicPr>
          <p:cNvPr id="16" name="Image 0" descr="preencoded.png">    </p:cNvPr>
          <p:cNvPicPr>
            <a:picLocks noChangeAspect="1"/>
          </p:cNvPicPr>
          <p:nvPr/>
        </p:nvPicPr>
        <p:blipFill>
          <a:blip r:embed="rId1"/>
          <a:stretch>
            <a:fillRect/>
          </a:stretch>
        </p:blipFill>
        <p:spPr>
          <a:xfrm>
            <a:off x="128016" y="1005840"/>
            <a:ext cx="274320" cy="274320"/>
          </a:xfrm>
          <a:prstGeom prst="rect">
            <a:avLst/>
          </a:prstGeom>
        </p:spPr>
      </p:pic>
      <p:sp>
        <p:nvSpPr>
          <p:cNvPr id="17" name="Text 14"/>
          <p:cNvSpPr/>
          <p:nvPr/>
        </p:nvSpPr>
        <p:spPr>
          <a:xfrm>
            <a:off x="457200" y="905256"/>
            <a:ext cx="1325880" cy="859536"/>
          </a:xfrm>
          <a:prstGeom prst="rect">
            <a:avLst/>
          </a:prstGeom>
          <a:noFill/>
          <a:ln/>
        </p:spPr>
        <p:txBody>
          <a:bodyPr wrap="square" lIns="0" tIns="0" rIns="0" bIns="0" rtlCol="0" anchor="ctr"/>
          <a:lstStyle/>
          <a:p>
            <a:pPr indent="0" marL="0">
              <a:lnSpc>
                <a:spcPct val="100000"/>
              </a:lnSpc>
              <a:buNone/>
            </a:pPr>
            <a:r>
              <a:rPr lang="en-US" sz="1200" b="1" dirty="0">
                <a:solidFill>
                  <a:srgbClr val="FFFFFF"/>
                </a:solidFill>
                <a:latin typeface="Calibri" pitchFamily="34" charset="0"/>
                <a:ea typeface="Calibri" pitchFamily="34" charset="-122"/>
                <a:cs typeface="Calibri" pitchFamily="34" charset="-120"/>
              </a:rPr>
              <a:t>ROLLOUT &amp;</a:t>
            </a:r>
            <a:pPr indent="0" marL="0">
              <a:lnSpc>
                <a:spcPct val="100000"/>
              </a:lnSpc>
              <a:buNone/>
            </a:pPr>
            <a:endParaRPr lang="en-US" sz="1200" dirty="0"/>
          </a:p>
          <a:p>
            <a:pPr indent="0" marL="0">
              <a:lnSpc>
                <a:spcPct val="100000"/>
              </a:lnSpc>
              <a:buNone/>
            </a:pPr>
            <a:r>
              <a:rPr lang="en-US" sz="1200" b="1" dirty="0">
                <a:solidFill>
                  <a:srgbClr val="FFFFFF"/>
                </a:solidFill>
                <a:latin typeface="Calibri" pitchFamily="34" charset="0"/>
                <a:ea typeface="Calibri" pitchFamily="34" charset="-122"/>
                <a:cs typeface="Calibri" pitchFamily="34" charset="-120"/>
              </a:rPr>
              <a:t>CAPITAL RELEASE</a:t>
            </a:r>
            <a:endParaRPr lang="en-US" sz="1200" dirty="0"/>
          </a:p>
        </p:txBody>
      </p:sp>
      <p:sp>
        <p:nvSpPr>
          <p:cNvPr id="18" name="Shape 15"/>
          <p:cNvSpPr/>
          <p:nvPr/>
        </p:nvSpPr>
        <p:spPr>
          <a:xfrm>
            <a:off x="2029968" y="1005840"/>
            <a:ext cx="1783080" cy="512064"/>
          </a:xfrm>
          <a:prstGeom prst="rect">
            <a:avLst/>
          </a:prstGeom>
          <a:solidFill>
            <a:srgbClr val="EADCF9"/>
          </a:solidFill>
          <a:ln w="12700">
            <a:solidFill>
              <a:srgbClr val="333333"/>
            </a:solidFill>
            <a:prstDash val="solid"/>
          </a:ln>
        </p:spPr>
      </p:sp>
      <p:sp>
        <p:nvSpPr>
          <p:cNvPr id="19" name="Text 16"/>
          <p:cNvSpPr/>
          <p:nvPr/>
        </p:nvSpPr>
        <p:spPr>
          <a:xfrm>
            <a:off x="2066544" y="1005840"/>
            <a:ext cx="1709928" cy="512064"/>
          </a:xfrm>
          <a:prstGeom prst="rect">
            <a:avLst/>
          </a:prstGeom>
          <a:noFill/>
          <a:ln/>
        </p:spPr>
        <p:txBody>
          <a:bodyPr wrap="square" lIns="0" tIns="0" rIns="0" bIns="0" rtlCol="0" anchor="ctr"/>
          <a:lstStyle/>
          <a:p>
            <a:pPr algn="l" indent="0" marL="0">
              <a:lnSpc>
                <a:spcPct val="92000"/>
              </a:lnSpc>
              <a:buNone/>
            </a:pPr>
            <a:r>
              <a:rPr lang="en-US" sz="1200" b="1" dirty="0">
                <a:solidFill>
                  <a:srgbClr val="2A0A45"/>
                </a:solidFill>
                <a:latin typeface="Calibri" pitchFamily="34" charset="0"/>
                <a:ea typeface="Calibri" pitchFamily="34" charset="-122"/>
                <a:cs typeface="Calibri" pitchFamily="34" charset="-120"/>
              </a:rPr>
              <a:t>Q1–Q2 · build + 40-outlet pilot</a:t>
            </a:r>
            <a:endParaRPr lang="en-US" sz="1200" dirty="0"/>
          </a:p>
        </p:txBody>
      </p:sp>
      <p:sp>
        <p:nvSpPr>
          <p:cNvPr id="20" name="Text 17"/>
          <p:cNvSpPr/>
          <p:nvPr/>
        </p:nvSpPr>
        <p:spPr>
          <a:xfrm>
            <a:off x="2029968" y="1517904"/>
            <a:ext cx="1783080" cy="237744"/>
          </a:xfrm>
          <a:prstGeom prst="rect">
            <a:avLst/>
          </a:prstGeom>
          <a:noFill/>
          <a:ln/>
        </p:spPr>
        <p:txBody>
          <a:bodyPr wrap="square" lIns="0" tIns="0" rIns="0" bIns="0" rtlCol="0" anchor="ctr"/>
          <a:lstStyle/>
          <a:p>
            <a:pPr indent="0" marL="0">
              <a:buNone/>
            </a:pPr>
            <a:r>
              <a:rPr lang="en-US" sz="1200" dirty="0">
                <a:solidFill>
                  <a:srgbClr val="6E6875"/>
                </a:solidFill>
                <a:latin typeface="Calibri" pitchFamily="34" charset="0"/>
                <a:ea typeface="Calibri" pitchFamily="34" charset="-122"/>
                <a:cs typeface="Calibri" pitchFamily="34" charset="-120"/>
              </a:rPr>
              <a:t>₹85 cr committed</a:t>
            </a:r>
            <a:endParaRPr lang="en-US" sz="1200" dirty="0"/>
          </a:p>
        </p:txBody>
      </p:sp>
      <p:sp>
        <p:nvSpPr>
          <p:cNvPr id="21" name="Shape 18"/>
          <p:cNvSpPr/>
          <p:nvPr/>
        </p:nvSpPr>
        <p:spPr>
          <a:xfrm>
            <a:off x="3831336" y="1005840"/>
            <a:ext cx="310896" cy="512064"/>
          </a:xfrm>
          <a:prstGeom prst="rect">
            <a:avLst/>
          </a:prstGeom>
          <a:solidFill>
            <a:srgbClr val="C00000"/>
          </a:solidFill>
          <a:ln w="12700">
            <a:solidFill>
              <a:srgbClr val="333333"/>
            </a:solidFill>
            <a:prstDash val="solid"/>
          </a:ln>
        </p:spPr>
      </p:sp>
      <p:sp>
        <p:nvSpPr>
          <p:cNvPr id="22" name="Text 19"/>
          <p:cNvSpPr/>
          <p:nvPr/>
        </p:nvSpPr>
        <p:spPr>
          <a:xfrm>
            <a:off x="3867912" y="1005840"/>
            <a:ext cx="237744" cy="512064"/>
          </a:xfrm>
          <a:prstGeom prst="rect">
            <a:avLst/>
          </a:prstGeom>
          <a:noFill/>
          <a:ln/>
        </p:spPr>
        <p:txBody>
          <a:bodyPr wrap="square" lIns="0" tIns="0" rIns="0" bIns="0" rtlCol="0" anchor="ctr"/>
          <a:lstStyle/>
          <a:p>
            <a:pPr algn="ctr" indent="0" marL="0">
              <a:lnSpc>
                <a:spcPct val="92000"/>
              </a:lnSpc>
              <a:buNone/>
            </a:pPr>
            <a:r>
              <a:rPr lang="en-US" sz="1200" b="1" dirty="0">
                <a:solidFill>
                  <a:srgbClr val="FFFFFF"/>
                </a:solidFill>
                <a:latin typeface="Calibri" pitchFamily="34" charset="0"/>
                <a:ea typeface="Calibri" pitchFamily="34" charset="-122"/>
                <a:cs typeface="Calibri" pitchFamily="34" charset="-120"/>
              </a:rPr>
              <a:t>G1</a:t>
            </a:r>
            <a:endParaRPr lang="en-US" sz="1200" dirty="0"/>
          </a:p>
        </p:txBody>
      </p:sp>
      <p:sp>
        <p:nvSpPr>
          <p:cNvPr id="23" name="Shape 20"/>
          <p:cNvSpPr/>
          <p:nvPr/>
        </p:nvSpPr>
        <p:spPr>
          <a:xfrm>
            <a:off x="4160520" y="1005840"/>
            <a:ext cx="1920240" cy="512064"/>
          </a:xfrm>
          <a:prstGeom prst="rect">
            <a:avLst/>
          </a:prstGeom>
          <a:solidFill>
            <a:srgbClr val="C98CFF"/>
          </a:solidFill>
          <a:ln w="12700">
            <a:solidFill>
              <a:srgbClr val="333333"/>
            </a:solidFill>
            <a:prstDash val="solid"/>
          </a:ln>
        </p:spPr>
      </p:sp>
      <p:sp>
        <p:nvSpPr>
          <p:cNvPr id="24" name="Text 21"/>
          <p:cNvSpPr/>
          <p:nvPr/>
        </p:nvSpPr>
        <p:spPr>
          <a:xfrm>
            <a:off x="4197096" y="1005840"/>
            <a:ext cx="1847088" cy="512064"/>
          </a:xfrm>
          <a:prstGeom prst="rect">
            <a:avLst/>
          </a:prstGeom>
          <a:noFill/>
          <a:ln/>
        </p:spPr>
        <p:txBody>
          <a:bodyPr wrap="square" lIns="0" tIns="0" rIns="0" bIns="0" rtlCol="0" anchor="ctr"/>
          <a:lstStyle/>
          <a:p>
            <a:pPr algn="l" indent="0" marL="0">
              <a:lnSpc>
                <a:spcPct val="92000"/>
              </a:lnSpc>
              <a:buNone/>
            </a:pPr>
            <a:r>
              <a:rPr lang="en-US" sz="1200" b="1" dirty="0">
                <a:solidFill>
                  <a:srgbClr val="2A0A45"/>
                </a:solidFill>
                <a:latin typeface="Calibri" pitchFamily="34" charset="0"/>
                <a:ea typeface="Calibri" pitchFamily="34" charset="-122"/>
                <a:cs typeface="Calibri" pitchFamily="34" charset="-120"/>
              </a:rPr>
              <a:t>Q3–Q4 · Wave 1 — 200 metro outlets</a:t>
            </a:r>
            <a:endParaRPr lang="en-US" sz="1200" dirty="0"/>
          </a:p>
        </p:txBody>
      </p:sp>
      <p:sp>
        <p:nvSpPr>
          <p:cNvPr id="25" name="Text 22"/>
          <p:cNvSpPr/>
          <p:nvPr/>
        </p:nvSpPr>
        <p:spPr>
          <a:xfrm>
            <a:off x="4160520" y="1517904"/>
            <a:ext cx="1920240" cy="237744"/>
          </a:xfrm>
          <a:prstGeom prst="rect">
            <a:avLst/>
          </a:prstGeom>
          <a:noFill/>
          <a:ln/>
        </p:spPr>
        <p:txBody>
          <a:bodyPr wrap="square" lIns="0" tIns="0" rIns="0" bIns="0" rtlCol="0" anchor="ctr"/>
          <a:lstStyle/>
          <a:p>
            <a:pPr indent="0" marL="0">
              <a:buNone/>
            </a:pPr>
            <a:r>
              <a:rPr lang="en-US" sz="1200" dirty="0">
                <a:solidFill>
                  <a:srgbClr val="6E6875"/>
                </a:solidFill>
                <a:latin typeface="Calibri" pitchFamily="34" charset="0"/>
                <a:ea typeface="Calibri" pitchFamily="34" charset="-122"/>
                <a:cs typeface="Calibri" pitchFamily="34" charset="-120"/>
              </a:rPr>
              <a:t>₹165 cr released</a:t>
            </a:r>
            <a:endParaRPr lang="en-US" sz="1200" dirty="0"/>
          </a:p>
        </p:txBody>
      </p:sp>
      <p:sp>
        <p:nvSpPr>
          <p:cNvPr id="26" name="Shape 23"/>
          <p:cNvSpPr/>
          <p:nvPr/>
        </p:nvSpPr>
        <p:spPr>
          <a:xfrm>
            <a:off x="6099048" y="1005840"/>
            <a:ext cx="310896" cy="512064"/>
          </a:xfrm>
          <a:prstGeom prst="rect">
            <a:avLst/>
          </a:prstGeom>
          <a:solidFill>
            <a:srgbClr val="C00000"/>
          </a:solidFill>
          <a:ln w="12700">
            <a:solidFill>
              <a:srgbClr val="333333"/>
            </a:solidFill>
            <a:prstDash val="solid"/>
          </a:ln>
        </p:spPr>
      </p:sp>
      <p:sp>
        <p:nvSpPr>
          <p:cNvPr id="27" name="Text 24"/>
          <p:cNvSpPr/>
          <p:nvPr/>
        </p:nvSpPr>
        <p:spPr>
          <a:xfrm>
            <a:off x="6135624" y="1005840"/>
            <a:ext cx="237744" cy="512064"/>
          </a:xfrm>
          <a:prstGeom prst="rect">
            <a:avLst/>
          </a:prstGeom>
          <a:noFill/>
          <a:ln/>
        </p:spPr>
        <p:txBody>
          <a:bodyPr wrap="square" lIns="0" tIns="0" rIns="0" bIns="0" rtlCol="0" anchor="ctr"/>
          <a:lstStyle/>
          <a:p>
            <a:pPr algn="ctr" indent="0" marL="0">
              <a:lnSpc>
                <a:spcPct val="92000"/>
              </a:lnSpc>
              <a:buNone/>
            </a:pPr>
            <a:r>
              <a:rPr lang="en-US" sz="1200" b="1" dirty="0">
                <a:solidFill>
                  <a:srgbClr val="FFFFFF"/>
                </a:solidFill>
                <a:latin typeface="Calibri" pitchFamily="34" charset="0"/>
                <a:ea typeface="Calibri" pitchFamily="34" charset="-122"/>
                <a:cs typeface="Calibri" pitchFamily="34" charset="-120"/>
              </a:rPr>
              <a:t>G2</a:t>
            </a:r>
            <a:endParaRPr lang="en-US" sz="1200" dirty="0"/>
          </a:p>
        </p:txBody>
      </p:sp>
      <p:sp>
        <p:nvSpPr>
          <p:cNvPr id="28" name="Shape 25"/>
          <p:cNvSpPr/>
          <p:nvPr/>
        </p:nvSpPr>
        <p:spPr>
          <a:xfrm>
            <a:off x="6428232" y="1005840"/>
            <a:ext cx="3017520" cy="512064"/>
          </a:xfrm>
          <a:prstGeom prst="rect">
            <a:avLst/>
          </a:prstGeom>
          <a:solidFill>
            <a:srgbClr val="A100FF"/>
          </a:solidFill>
          <a:ln w="12700">
            <a:solidFill>
              <a:srgbClr val="333333"/>
            </a:solidFill>
            <a:prstDash val="solid"/>
          </a:ln>
        </p:spPr>
      </p:sp>
      <p:sp>
        <p:nvSpPr>
          <p:cNvPr id="29" name="Text 26"/>
          <p:cNvSpPr/>
          <p:nvPr/>
        </p:nvSpPr>
        <p:spPr>
          <a:xfrm>
            <a:off x="6464808" y="1005840"/>
            <a:ext cx="2944368" cy="512064"/>
          </a:xfrm>
          <a:prstGeom prst="rect">
            <a:avLst/>
          </a:prstGeom>
          <a:noFill/>
          <a:ln/>
        </p:spPr>
        <p:txBody>
          <a:bodyPr wrap="square" lIns="0" tIns="0" rIns="0" bIns="0" rtlCol="0" anchor="ctr"/>
          <a:lstStyle/>
          <a:p>
            <a:pPr algn="l" indent="0" marL="0">
              <a:lnSpc>
                <a:spcPct val="92000"/>
              </a:lnSpc>
              <a:buNone/>
            </a:pPr>
            <a:r>
              <a:rPr lang="en-US" sz="1200" b="1" dirty="0">
                <a:solidFill>
                  <a:srgbClr val="FFFFFF"/>
                </a:solidFill>
                <a:latin typeface="Calibri" pitchFamily="34" charset="0"/>
                <a:ea typeface="Calibri" pitchFamily="34" charset="-122"/>
                <a:cs typeface="Calibri" pitchFamily="34" charset="-120"/>
              </a:rPr>
              <a:t>Q5–Q8 · Wave 2 — 600 · Vega on the new model (Q5–Q6)</a:t>
            </a:r>
            <a:endParaRPr lang="en-US" sz="1200" dirty="0"/>
          </a:p>
        </p:txBody>
      </p:sp>
      <p:sp>
        <p:nvSpPr>
          <p:cNvPr id="30" name="Text 27"/>
          <p:cNvSpPr/>
          <p:nvPr/>
        </p:nvSpPr>
        <p:spPr>
          <a:xfrm>
            <a:off x="6428232" y="1517904"/>
            <a:ext cx="3017520" cy="237744"/>
          </a:xfrm>
          <a:prstGeom prst="rect">
            <a:avLst/>
          </a:prstGeom>
          <a:noFill/>
          <a:ln/>
        </p:spPr>
        <p:txBody>
          <a:bodyPr wrap="square" lIns="0" tIns="0" rIns="0" bIns="0" rtlCol="0" anchor="ctr"/>
          <a:lstStyle/>
          <a:p>
            <a:pPr indent="0" marL="0">
              <a:buNone/>
            </a:pPr>
            <a:r>
              <a:rPr lang="en-US" sz="1200" dirty="0">
                <a:solidFill>
                  <a:srgbClr val="6E6875"/>
                </a:solidFill>
                <a:latin typeface="Calibri" pitchFamily="34" charset="0"/>
                <a:ea typeface="Calibri" pitchFamily="34" charset="-122"/>
                <a:cs typeface="Calibri" pitchFamily="34" charset="-120"/>
              </a:rPr>
              <a:t>₹250 cr released</a:t>
            </a:r>
            <a:endParaRPr lang="en-US" sz="1200" dirty="0"/>
          </a:p>
        </p:txBody>
      </p:sp>
      <p:sp>
        <p:nvSpPr>
          <p:cNvPr id="31" name="Shape 28"/>
          <p:cNvSpPr/>
          <p:nvPr/>
        </p:nvSpPr>
        <p:spPr>
          <a:xfrm>
            <a:off x="9464040" y="1005840"/>
            <a:ext cx="310896" cy="512064"/>
          </a:xfrm>
          <a:prstGeom prst="rect">
            <a:avLst/>
          </a:prstGeom>
          <a:solidFill>
            <a:srgbClr val="C00000"/>
          </a:solidFill>
          <a:ln w="12700">
            <a:solidFill>
              <a:srgbClr val="333333"/>
            </a:solidFill>
            <a:prstDash val="solid"/>
          </a:ln>
        </p:spPr>
      </p:sp>
      <p:sp>
        <p:nvSpPr>
          <p:cNvPr id="32" name="Text 29"/>
          <p:cNvSpPr/>
          <p:nvPr/>
        </p:nvSpPr>
        <p:spPr>
          <a:xfrm>
            <a:off x="9500616" y="1005840"/>
            <a:ext cx="237744" cy="512064"/>
          </a:xfrm>
          <a:prstGeom prst="rect">
            <a:avLst/>
          </a:prstGeom>
          <a:noFill/>
          <a:ln/>
        </p:spPr>
        <p:txBody>
          <a:bodyPr wrap="square" lIns="0" tIns="0" rIns="0" bIns="0" rtlCol="0" anchor="ctr"/>
          <a:lstStyle/>
          <a:p>
            <a:pPr algn="ctr" indent="0" marL="0">
              <a:lnSpc>
                <a:spcPct val="92000"/>
              </a:lnSpc>
              <a:buNone/>
            </a:pPr>
            <a:r>
              <a:rPr lang="en-US" sz="1200" b="1" dirty="0">
                <a:solidFill>
                  <a:srgbClr val="FFFFFF"/>
                </a:solidFill>
                <a:latin typeface="Calibri" pitchFamily="34" charset="0"/>
                <a:ea typeface="Calibri" pitchFamily="34" charset="-122"/>
                <a:cs typeface="Calibri" pitchFamily="34" charset="-120"/>
              </a:rPr>
              <a:t>G3</a:t>
            </a:r>
            <a:endParaRPr lang="en-US" sz="1200" dirty="0"/>
          </a:p>
        </p:txBody>
      </p:sp>
      <p:sp>
        <p:nvSpPr>
          <p:cNvPr id="33" name="Shape 30"/>
          <p:cNvSpPr/>
          <p:nvPr/>
        </p:nvSpPr>
        <p:spPr>
          <a:xfrm>
            <a:off x="9793224" y="1005840"/>
            <a:ext cx="2103120" cy="512064"/>
          </a:xfrm>
          <a:prstGeom prst="rect">
            <a:avLst/>
          </a:prstGeom>
          <a:solidFill>
            <a:srgbClr val="6A00B8"/>
          </a:solidFill>
          <a:ln w="12700">
            <a:solidFill>
              <a:srgbClr val="333333"/>
            </a:solidFill>
            <a:prstDash val="solid"/>
          </a:ln>
        </p:spPr>
      </p:sp>
      <p:sp>
        <p:nvSpPr>
          <p:cNvPr id="34" name="Text 31"/>
          <p:cNvSpPr/>
          <p:nvPr/>
        </p:nvSpPr>
        <p:spPr>
          <a:xfrm>
            <a:off x="9829800" y="1005840"/>
            <a:ext cx="2029968" cy="512064"/>
          </a:xfrm>
          <a:prstGeom prst="rect">
            <a:avLst/>
          </a:prstGeom>
          <a:noFill/>
          <a:ln/>
        </p:spPr>
        <p:txBody>
          <a:bodyPr wrap="square" lIns="0" tIns="0" rIns="0" bIns="0" rtlCol="0" anchor="ctr"/>
          <a:lstStyle/>
          <a:p>
            <a:pPr algn="l" indent="0" marL="0">
              <a:lnSpc>
                <a:spcPct val="92000"/>
              </a:lnSpc>
              <a:buNone/>
            </a:pPr>
            <a:r>
              <a:rPr lang="en-US" sz="1200" b="1" dirty="0">
                <a:solidFill>
                  <a:srgbClr val="FFFFFF"/>
                </a:solidFill>
                <a:latin typeface="Calibri" pitchFamily="34" charset="0"/>
                <a:ea typeface="Calibri" pitchFamily="34" charset="-122"/>
                <a:cs typeface="Calibri" pitchFamily="34" charset="-120"/>
              </a:rPr>
              <a:t>Q9–Q12 · Wave 3 — all 1,050 · hand-over</a:t>
            </a:r>
            <a:endParaRPr lang="en-US" sz="1200" dirty="0"/>
          </a:p>
        </p:txBody>
      </p:sp>
      <p:sp>
        <p:nvSpPr>
          <p:cNvPr id="35" name="Text 32"/>
          <p:cNvSpPr/>
          <p:nvPr/>
        </p:nvSpPr>
        <p:spPr>
          <a:xfrm>
            <a:off x="9793224" y="1517904"/>
            <a:ext cx="2103120" cy="237744"/>
          </a:xfrm>
          <a:prstGeom prst="rect">
            <a:avLst/>
          </a:prstGeom>
          <a:noFill/>
          <a:ln/>
        </p:spPr>
        <p:txBody>
          <a:bodyPr wrap="square" lIns="0" tIns="0" rIns="0" bIns="0" rtlCol="0" anchor="ctr"/>
          <a:lstStyle/>
          <a:p>
            <a:pPr indent="0" marL="0">
              <a:buNone/>
            </a:pPr>
            <a:r>
              <a:rPr lang="en-US" sz="1200" dirty="0">
                <a:solidFill>
                  <a:srgbClr val="6E6875"/>
                </a:solidFill>
                <a:latin typeface="Calibri" pitchFamily="34" charset="0"/>
                <a:ea typeface="Calibri" pitchFamily="34" charset="-122"/>
                <a:cs typeface="Calibri" pitchFamily="34" charset="-120"/>
              </a:rPr>
              <a:t>₹250 cr released</a:t>
            </a:r>
            <a:endParaRPr lang="en-US" sz="1200" dirty="0"/>
          </a:p>
        </p:txBody>
      </p:sp>
      <p:sp>
        <p:nvSpPr>
          <p:cNvPr id="36" name="Shape 33"/>
          <p:cNvSpPr/>
          <p:nvPr/>
        </p:nvSpPr>
        <p:spPr>
          <a:xfrm>
            <a:off x="11914632" y="1005840"/>
            <a:ext cx="310896" cy="512064"/>
          </a:xfrm>
          <a:prstGeom prst="rect">
            <a:avLst/>
          </a:prstGeom>
          <a:solidFill>
            <a:srgbClr val="C00000"/>
          </a:solidFill>
          <a:ln w="12700">
            <a:solidFill>
              <a:srgbClr val="333333"/>
            </a:solidFill>
            <a:prstDash val="solid"/>
          </a:ln>
        </p:spPr>
      </p:sp>
      <p:sp>
        <p:nvSpPr>
          <p:cNvPr id="37" name="Text 34"/>
          <p:cNvSpPr/>
          <p:nvPr/>
        </p:nvSpPr>
        <p:spPr>
          <a:xfrm>
            <a:off x="11951208" y="1005840"/>
            <a:ext cx="237744" cy="512064"/>
          </a:xfrm>
          <a:prstGeom prst="rect">
            <a:avLst/>
          </a:prstGeom>
          <a:noFill/>
          <a:ln/>
        </p:spPr>
        <p:txBody>
          <a:bodyPr wrap="square" lIns="0" tIns="0" rIns="0" bIns="0" rtlCol="0" anchor="ctr"/>
          <a:lstStyle/>
          <a:p>
            <a:pPr algn="ctr" indent="0" marL="0">
              <a:lnSpc>
                <a:spcPct val="92000"/>
              </a:lnSpc>
              <a:buNone/>
            </a:pPr>
            <a:r>
              <a:rPr lang="en-US" sz="1200" b="1" dirty="0">
                <a:solidFill>
                  <a:srgbClr val="FFFFFF"/>
                </a:solidFill>
                <a:latin typeface="Calibri" pitchFamily="34" charset="0"/>
                <a:ea typeface="Calibri" pitchFamily="34" charset="-122"/>
                <a:cs typeface="Calibri" pitchFamily="34" charset="-120"/>
              </a:rPr>
              <a:t>G4</a:t>
            </a:r>
            <a:endParaRPr lang="en-US" sz="1200" dirty="0"/>
          </a:p>
        </p:txBody>
      </p:sp>
      <p:sp>
        <p:nvSpPr>
          <p:cNvPr id="38" name="Shape 35"/>
          <p:cNvSpPr/>
          <p:nvPr/>
        </p:nvSpPr>
        <p:spPr>
          <a:xfrm>
            <a:off x="4123944" y="1874520"/>
            <a:ext cx="13716" cy="4526280"/>
          </a:xfrm>
          <a:prstGeom prst="rect">
            <a:avLst/>
          </a:prstGeom>
          <a:solidFill>
            <a:srgbClr val="DCD4E8"/>
          </a:solidFill>
          <a:ln w="12700">
            <a:solidFill>
              <a:srgbClr val="333333"/>
            </a:solidFill>
            <a:prstDash val="solid"/>
          </a:ln>
        </p:spPr>
      </p:sp>
      <p:sp>
        <p:nvSpPr>
          <p:cNvPr id="39" name="Shape 36"/>
          <p:cNvSpPr/>
          <p:nvPr/>
        </p:nvSpPr>
        <p:spPr>
          <a:xfrm>
            <a:off x="8174736" y="1874520"/>
            <a:ext cx="13716" cy="4526280"/>
          </a:xfrm>
          <a:prstGeom prst="rect">
            <a:avLst/>
          </a:prstGeom>
          <a:solidFill>
            <a:srgbClr val="DCD4E8"/>
          </a:solidFill>
          <a:ln w="12700">
            <a:solidFill>
              <a:srgbClr val="333333"/>
            </a:solidFill>
            <a:prstDash val="solid"/>
          </a:ln>
        </p:spPr>
      </p:sp>
      <p:sp>
        <p:nvSpPr>
          <p:cNvPr id="40" name="Shape 37"/>
          <p:cNvSpPr/>
          <p:nvPr/>
        </p:nvSpPr>
        <p:spPr>
          <a:xfrm>
            <a:off x="137160" y="1920240"/>
            <a:ext cx="292608" cy="292608"/>
          </a:xfrm>
          <a:prstGeom prst="ellipse">
            <a:avLst/>
          </a:prstGeom>
          <a:solidFill>
            <a:srgbClr val="A100FF"/>
          </a:solidFill>
          <a:ln w="12700">
            <a:solidFill>
              <a:srgbClr val="333333"/>
            </a:solidFill>
            <a:prstDash val="solid"/>
          </a:ln>
        </p:spPr>
      </p:sp>
      <p:sp>
        <p:nvSpPr>
          <p:cNvPr id="41" name="Text 38"/>
          <p:cNvSpPr/>
          <p:nvPr/>
        </p:nvSpPr>
        <p:spPr>
          <a:xfrm>
            <a:off x="137160" y="1920240"/>
            <a:ext cx="292608" cy="29260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42" name="Text 39"/>
          <p:cNvSpPr/>
          <p:nvPr/>
        </p:nvSpPr>
        <p:spPr>
          <a:xfrm>
            <a:off x="521208" y="1929384"/>
            <a:ext cx="3474720" cy="292608"/>
          </a:xfrm>
          <a:prstGeom prst="rect">
            <a:avLst/>
          </a:prstGeom>
          <a:noFill/>
          <a:ln/>
        </p:spPr>
        <p:txBody>
          <a:bodyPr wrap="square" lIns="0" tIns="0" rIns="0" bIns="0" rtlCol="0" anchor="ctr"/>
          <a:lstStyle/>
          <a:p>
            <a:pPr indent="0" marL="0">
              <a:buNone/>
            </a:pPr>
            <a:r>
              <a:rPr lang="en-US" sz="1350" b="1" dirty="0">
                <a:solidFill>
                  <a:srgbClr val="2A0A45"/>
                </a:solidFill>
                <a:latin typeface="Calibri" pitchFamily="34" charset="0"/>
                <a:ea typeface="Calibri" pitchFamily="34" charset="-122"/>
                <a:cs typeface="Calibri" pitchFamily="34" charset="-120"/>
              </a:rPr>
              <a:t>What happens, quarter by quarter</a:t>
            </a:r>
            <a:endParaRPr lang="en-US" sz="135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137160" y="2304288"/>
          <a:ext cx="3904488" cy="914400"/>
        </p:xfrm>
        <a:graphic>
          <a:graphicData uri="http://schemas.openxmlformats.org/drawingml/2006/table">
            <a:tbl>
              <a:tblPr/>
              <a:tblGrid>
                <a:gridCol w="566928"/>
                <a:gridCol w="2788920"/>
                <a:gridCol w="548640"/>
              </a:tblGrid>
              <a:tr h="228600">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When</a:t>
                      </a:r>
                      <a:endParaRPr lang="en-US" sz="1200" dirty="0">
                        <a:latin typeface="Calibri" charset="0"/>
                        <a:ea typeface="Calibri" charset="0"/>
                        <a:cs typeface="Calibri" charset="0"/>
                      </a:endParaRPr>
                    </a:p>
                  </a:txBody>
                  <a:tcPr marL="36576" marR="36576" marT="36576" marB="36576" anchor="ctr">
                    <a:lnL w="9525" cap="flat" cmpd="sng" algn="ctr">
                      <a:solidFill>
                        <a:srgbClr val="DCD4E8"/>
                      </a:solidFill>
                      <a:prstDash val="solid"/>
                      <a:round/>
                      <a:headEnd type="none" w="med" len="med"/>
                      <a:tailEnd type="none" w="med" len="med"/>
                    </a:lnL>
                    <a:lnR w="9525" cap="flat" cmpd="sng" algn="ctr">
                      <a:solidFill>
                        <a:srgbClr val="DCD4E8"/>
                      </a:solidFill>
                      <a:prstDash val="solid"/>
                      <a:round/>
                      <a:headEnd type="none" w="med" len="med"/>
                      <a:tailEnd type="none" w="med" len="med"/>
                    </a:lnR>
                    <a:lnT w="9525" cap="flat" cmpd="sng" algn="ctr">
                      <a:solidFill>
                        <a:srgbClr val="DCD4E8"/>
                      </a:solidFill>
                      <a:prstDash val="solid"/>
                      <a:round/>
                      <a:headEnd type="none" w="med" len="med"/>
                      <a:tailEnd type="none" w="med" len="med"/>
                    </a:lnT>
                    <a:lnB w="9525" cap="flat" cmpd="sng" algn="ctr">
                      <a:solidFill>
                        <a:srgbClr val="DCD4E8"/>
                      </a:solidFill>
                      <a:prstDash val="solid"/>
                      <a:round/>
                      <a:headEnd type="none" w="med" len="med"/>
                      <a:tailEnd type="none" w="med" len="med"/>
                    </a:lnB>
                    <a:solidFill>
                      <a:srgbClr val="2A0A45"/>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What we do</a:t>
                      </a:r>
                      <a:endParaRPr lang="en-US" sz="1200" dirty="0">
                        <a:latin typeface="Calibri" charset="0"/>
                        <a:ea typeface="Calibri" charset="0"/>
                        <a:cs typeface="Calibri" charset="0"/>
                      </a:endParaRPr>
                    </a:p>
                  </a:txBody>
                  <a:tcPr marL="36576" marR="36576" marT="36576" marB="36576" anchor="ctr">
                    <a:lnL w="9525" cap="flat" cmpd="sng" algn="ctr">
                      <a:solidFill>
                        <a:srgbClr val="DCD4E8"/>
                      </a:solidFill>
                      <a:prstDash val="solid"/>
                      <a:round/>
                      <a:headEnd type="none" w="med" len="med"/>
                      <a:tailEnd type="none" w="med" len="med"/>
                    </a:lnL>
                    <a:lnR w="9525" cap="flat" cmpd="sng" algn="ctr">
                      <a:solidFill>
                        <a:srgbClr val="DCD4E8"/>
                      </a:solidFill>
                      <a:prstDash val="solid"/>
                      <a:round/>
                      <a:headEnd type="none" w="med" len="med"/>
                      <a:tailEnd type="none" w="med" len="med"/>
                    </a:lnR>
                    <a:lnT w="9525" cap="flat" cmpd="sng" algn="ctr">
                      <a:solidFill>
                        <a:srgbClr val="DCD4E8"/>
                      </a:solidFill>
                      <a:prstDash val="solid"/>
                      <a:round/>
                      <a:headEnd type="none" w="med" len="med"/>
                      <a:tailEnd type="none" w="med" len="med"/>
                    </a:lnT>
                    <a:lnB w="9525" cap="flat" cmpd="sng" algn="ctr">
                      <a:solidFill>
                        <a:srgbClr val="DCD4E8"/>
                      </a:solidFill>
                      <a:prstDash val="solid"/>
                      <a:round/>
                      <a:headEnd type="none" w="med" len="med"/>
                      <a:tailEnd type="none" w="med" len="med"/>
                    </a:lnB>
                    <a:solidFill>
                      <a:srgbClr val="2A0A45"/>
                    </a:solidFill>
                  </a:tcPr>
                </a:tc>
                <a:tc>
                  <a:txBody>
                    <a:bodyPr/>
                    <a:lstStyle/>
                    <a:p>
                      <a:pPr algn="r" indent="0" marL="0">
                        <a:buNone/>
                      </a:pPr>
                      <a:r>
                        <a:rPr lang="en-US" sz="1200" b="1" dirty="0">
                          <a:solidFill>
                            <a:srgbClr val="FFFFFF"/>
                          </a:solidFill>
                          <a:latin typeface="Calibri" pitchFamily="34" charset="0"/>
                          <a:ea typeface="Calibri" pitchFamily="34" charset="-122"/>
                          <a:cs typeface="Calibri" pitchFamily="34" charset="-120"/>
                        </a:rPr>
                        <a:t>Live</a:t>
                      </a:r>
                      <a:endParaRPr lang="en-US" sz="1200" dirty="0">
                        <a:latin typeface="Calibri" charset="0"/>
                        <a:ea typeface="Calibri" charset="0"/>
                        <a:cs typeface="Calibri" charset="0"/>
                      </a:endParaRPr>
                    </a:p>
                  </a:txBody>
                  <a:tcPr marL="36576" marR="36576" marT="36576" marB="36576" anchor="ctr">
                    <a:lnL w="9525" cap="flat" cmpd="sng" algn="ctr">
                      <a:solidFill>
                        <a:srgbClr val="DCD4E8"/>
                      </a:solidFill>
                      <a:prstDash val="solid"/>
                      <a:round/>
                      <a:headEnd type="none" w="med" len="med"/>
                      <a:tailEnd type="none" w="med" len="med"/>
                    </a:lnL>
                    <a:lnR w="9525" cap="flat" cmpd="sng" algn="ctr">
                      <a:solidFill>
                        <a:srgbClr val="DCD4E8"/>
                      </a:solidFill>
                      <a:prstDash val="solid"/>
                      <a:round/>
                      <a:headEnd type="none" w="med" len="med"/>
                      <a:tailEnd type="none" w="med" len="med"/>
                    </a:lnR>
                    <a:lnT w="9525" cap="flat" cmpd="sng" algn="ctr">
                      <a:solidFill>
                        <a:srgbClr val="DCD4E8"/>
                      </a:solidFill>
                      <a:prstDash val="solid"/>
                      <a:round/>
                      <a:headEnd type="none" w="med" len="med"/>
                      <a:tailEnd type="none" w="med" len="med"/>
                    </a:lnT>
                    <a:lnB w="9525" cap="flat" cmpd="sng" algn="ctr">
                      <a:solidFill>
                        <a:srgbClr val="DCD4E8"/>
                      </a:solidFill>
                      <a:prstDash val="solid"/>
                      <a:round/>
                      <a:headEnd type="none" w="med" len="med"/>
                      <a:tailEnd type="none" w="med" len="med"/>
                    </a:lnB>
                    <a:solidFill>
                      <a:srgbClr val="2A0A45"/>
                    </a:solidFill>
                  </a:tcPr>
                </a:tc>
              </a:tr>
              <a:tr h="228600">
                <a:tc>
                  <a:txBody>
                    <a:bodyPr/>
                    <a:lstStyle/>
                    <a:p>
                      <a:pPr algn="l" indent="0" marL="0">
                        <a:buNone/>
                      </a:pPr>
                      <a:r>
                        <a:rPr lang="en-US" sz="1200" dirty="0">
                          <a:solidFill>
                            <a:srgbClr val="3A3838"/>
                          </a:solidFill>
                          <a:latin typeface="Calibri" pitchFamily="34" charset="0"/>
                          <a:ea typeface="Calibri" pitchFamily="34" charset="-122"/>
                          <a:cs typeface="Calibri" pitchFamily="34" charset="-120"/>
                        </a:rPr>
                        <a:t>Q1</a:t>
                      </a:r>
                      <a:endParaRPr lang="en-US" sz="1200" dirty="0">
                        <a:latin typeface="Calibri" charset="0"/>
                        <a:ea typeface="Calibri" charset="0"/>
                        <a:cs typeface="Calibri" charset="0"/>
                      </a:endParaRPr>
                    </a:p>
                  </a:txBody>
                  <a:tcPr marL="36576" marR="36576" marT="36576" marB="36576" anchor="ctr">
                    <a:lnL w="9525" cap="flat" cmpd="sng" algn="ctr">
                      <a:solidFill>
                        <a:srgbClr val="DCD4E8"/>
                      </a:solidFill>
                      <a:prstDash val="solid"/>
                      <a:round/>
                      <a:headEnd type="none" w="med" len="med"/>
                      <a:tailEnd type="none" w="med" len="med"/>
                    </a:lnL>
                    <a:lnR w="9525" cap="flat" cmpd="sng" algn="ctr">
                      <a:solidFill>
                        <a:srgbClr val="DCD4E8"/>
                      </a:solidFill>
                      <a:prstDash val="solid"/>
                      <a:round/>
                      <a:headEnd type="none" w="med" len="med"/>
                      <a:tailEnd type="none" w="med" len="med"/>
                    </a:lnR>
                    <a:lnT w="9525" cap="flat" cmpd="sng" algn="ctr">
                      <a:solidFill>
                        <a:srgbClr val="DCD4E8"/>
                      </a:solidFill>
                      <a:prstDash val="solid"/>
                      <a:round/>
                      <a:headEnd type="none" w="med" len="med"/>
                      <a:tailEnd type="none" w="med" len="med"/>
                    </a:lnT>
                    <a:lnB w="9525" cap="flat" cmpd="sng" algn="ctr">
                      <a:solidFill>
                        <a:srgbClr val="DCD4E8"/>
                      </a:solidFill>
                      <a:prstDash val="solid"/>
                      <a:round/>
                      <a:headEnd type="none" w="med" len="med"/>
                      <a:tailEnd type="none" w="med" len="med"/>
                    </a:lnB>
                    <a:solidFill>
                      <a:srgbClr val="FBF8FE"/>
                    </a:solidFill>
                  </a:tcPr>
                </a:tc>
                <a:tc>
                  <a:txBody>
                    <a:bodyPr/>
                    <a:lstStyle/>
                    <a:p>
                      <a:pPr algn="l" indent="0" marL="0">
                        <a:buNone/>
                      </a:pPr>
                      <a:r>
                        <a:rPr lang="en-US" sz="1200" dirty="0">
                          <a:solidFill>
                            <a:srgbClr val="3A3838"/>
                          </a:solidFill>
                          <a:latin typeface="Calibri" pitchFamily="34" charset="0"/>
                          <a:ea typeface="Calibri" pitchFamily="34" charset="-122"/>
                          <a:cs typeface="Calibri" pitchFamily="34" charset="-120"/>
                        </a:rPr>
                        <a:t>Council formed · 32 pilots cut to 7 · match engine · scorecard network-wide · 120 coaches</a:t>
                      </a:r>
                      <a:endParaRPr lang="en-US" sz="1200" dirty="0">
                        <a:latin typeface="Calibri" charset="0"/>
                        <a:ea typeface="Calibri" charset="0"/>
                        <a:cs typeface="Calibri" charset="0"/>
                      </a:endParaRPr>
                    </a:p>
                  </a:txBody>
                  <a:tcPr marL="36576" marR="36576" marT="36576" marB="36576" anchor="ctr">
                    <a:lnL w="9525" cap="flat" cmpd="sng" algn="ctr">
                      <a:solidFill>
                        <a:srgbClr val="DCD4E8"/>
                      </a:solidFill>
                      <a:prstDash val="solid"/>
                      <a:round/>
                      <a:headEnd type="none" w="med" len="med"/>
                      <a:tailEnd type="none" w="med" len="med"/>
                    </a:lnL>
                    <a:lnR w="9525" cap="flat" cmpd="sng" algn="ctr">
                      <a:solidFill>
                        <a:srgbClr val="DCD4E8"/>
                      </a:solidFill>
                      <a:prstDash val="solid"/>
                      <a:round/>
                      <a:headEnd type="none" w="med" len="med"/>
                      <a:tailEnd type="none" w="med" len="med"/>
                    </a:lnR>
                    <a:lnT w="9525" cap="flat" cmpd="sng" algn="ctr">
                      <a:solidFill>
                        <a:srgbClr val="DCD4E8"/>
                      </a:solidFill>
                      <a:prstDash val="solid"/>
                      <a:round/>
                      <a:headEnd type="none" w="med" len="med"/>
                      <a:tailEnd type="none" w="med" len="med"/>
                    </a:lnT>
                    <a:lnB w="9525" cap="flat" cmpd="sng" algn="ctr">
                      <a:solidFill>
                        <a:srgbClr val="DCD4E8"/>
                      </a:solidFill>
                      <a:prstDash val="solid"/>
                      <a:round/>
                      <a:headEnd type="none" w="med" len="med"/>
                      <a:tailEnd type="none" w="med" len="med"/>
                    </a:lnB>
                    <a:solidFill>
                      <a:srgbClr val="FBF8FE"/>
                    </a:solidFill>
                  </a:tcPr>
                </a:tc>
                <a:tc>
                  <a:txBody>
                    <a:bodyPr/>
                    <a:lstStyle/>
                    <a:p>
                      <a:pPr algn="r" indent="0" marL="0">
                        <a:buNone/>
                      </a:pPr>
                      <a:r>
                        <a:rPr lang="en-US" sz="1200" dirty="0">
                          <a:solidFill>
                            <a:srgbClr val="3A3838"/>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marL="36576" marR="36576" marT="36576" marB="36576" anchor="ctr">
                    <a:lnL w="9525" cap="flat" cmpd="sng" algn="ctr">
                      <a:solidFill>
                        <a:srgbClr val="DCD4E8"/>
                      </a:solidFill>
                      <a:prstDash val="solid"/>
                      <a:round/>
                      <a:headEnd type="none" w="med" len="med"/>
                      <a:tailEnd type="none" w="med" len="med"/>
                    </a:lnL>
                    <a:lnR w="9525" cap="flat" cmpd="sng" algn="ctr">
                      <a:solidFill>
                        <a:srgbClr val="DCD4E8"/>
                      </a:solidFill>
                      <a:prstDash val="solid"/>
                      <a:round/>
                      <a:headEnd type="none" w="med" len="med"/>
                      <a:tailEnd type="none" w="med" len="med"/>
                    </a:lnR>
                    <a:lnT w="9525" cap="flat" cmpd="sng" algn="ctr">
                      <a:solidFill>
                        <a:srgbClr val="DCD4E8"/>
                      </a:solidFill>
                      <a:prstDash val="solid"/>
                      <a:round/>
                      <a:headEnd type="none" w="med" len="med"/>
                      <a:tailEnd type="none" w="med" len="med"/>
                    </a:lnT>
                    <a:lnB w="9525" cap="flat" cmpd="sng" algn="ctr">
                      <a:solidFill>
                        <a:srgbClr val="DCD4E8"/>
                      </a:solidFill>
                      <a:prstDash val="solid"/>
                      <a:round/>
                      <a:headEnd type="none" w="med" len="med"/>
                      <a:tailEnd type="none" w="med" len="med"/>
                    </a:lnB>
                    <a:solidFill>
                      <a:srgbClr val="FBF8FE"/>
                    </a:solidFill>
                  </a:tcPr>
                </a:tc>
              </a:tr>
              <a:tr h="228600">
                <a:tc>
                  <a:txBody>
                    <a:bodyPr/>
                    <a:lstStyle/>
                    <a:p>
                      <a:pPr algn="l" indent="0" marL="0">
                        <a:buNone/>
                      </a:pPr>
                      <a:r>
                        <a:rPr lang="en-US" sz="1200" dirty="0">
                          <a:solidFill>
                            <a:srgbClr val="3A3838"/>
                          </a:solidFill>
                          <a:latin typeface="Calibri" pitchFamily="34" charset="0"/>
                          <a:ea typeface="Calibri" pitchFamily="34" charset="-122"/>
                          <a:cs typeface="Calibri" pitchFamily="34" charset="-120"/>
                        </a:rPr>
                        <a:t>Q2</a:t>
                      </a:r>
                      <a:endParaRPr lang="en-US" sz="1200" dirty="0">
                        <a:latin typeface="Calibri" charset="0"/>
                        <a:ea typeface="Calibri" charset="0"/>
                        <a:cs typeface="Calibri" charset="0"/>
                      </a:endParaRPr>
                    </a:p>
                  </a:txBody>
                  <a:tcPr marL="36576" marR="36576" marT="36576" marB="36576" anchor="ctr">
                    <a:lnL w="9525" cap="flat" cmpd="sng" algn="ctr">
                      <a:solidFill>
                        <a:srgbClr val="DCD4E8"/>
                      </a:solidFill>
                      <a:prstDash val="solid"/>
                      <a:round/>
                      <a:headEnd type="none" w="med" len="med"/>
                      <a:tailEnd type="none" w="med" len="med"/>
                    </a:lnL>
                    <a:lnR w="9525" cap="flat" cmpd="sng" algn="ctr">
                      <a:solidFill>
                        <a:srgbClr val="DCD4E8"/>
                      </a:solidFill>
                      <a:prstDash val="solid"/>
                      <a:round/>
                      <a:headEnd type="none" w="med" len="med"/>
                      <a:tailEnd type="none" w="med" len="med"/>
                    </a:lnR>
                    <a:lnT w="9525" cap="flat" cmpd="sng" algn="ctr">
                      <a:solidFill>
                        <a:srgbClr val="DCD4E8"/>
                      </a:solidFill>
                      <a:prstDash val="solid"/>
                      <a:round/>
                      <a:headEnd type="none" w="med" len="med"/>
                      <a:tailEnd type="none" w="med" len="med"/>
                    </a:lnT>
                    <a:lnB w="9525" cap="flat" cmpd="sng" algn="ctr">
                      <a:solidFill>
                        <a:srgbClr val="DCD4E8"/>
                      </a:solidFill>
                      <a:prstDash val="solid"/>
                      <a:round/>
                      <a:headEnd type="none" w="med" len="med"/>
                      <a:tailEnd type="none" w="med" len="med"/>
                    </a:lnB>
                    <a:solidFill>
                      <a:srgbClr val="FFFFFF"/>
                    </a:solidFill>
                  </a:tcPr>
                </a:tc>
                <a:tc>
                  <a:txBody>
                    <a:bodyPr/>
                    <a:lstStyle/>
                    <a:p>
                      <a:pPr algn="l" indent="0" marL="0">
                        <a:buNone/>
                      </a:pPr>
                      <a:r>
                        <a:rPr lang="en-US" sz="1200" dirty="0">
                          <a:solidFill>
                            <a:srgbClr val="3A3838"/>
                          </a:solidFill>
                          <a:latin typeface="Calibri" pitchFamily="34" charset="0"/>
                          <a:ea typeface="Calibri" pitchFamily="34" charset="-122"/>
                          <a:cs typeface="Calibri" pitchFamily="34" charset="-120"/>
                        </a:rPr>
                        <a:t>40 champion outlets vs 40 matched controls · both journeys live · time study · GATE 1</a:t>
                      </a:r>
                      <a:endParaRPr lang="en-US" sz="1200" dirty="0">
                        <a:latin typeface="Calibri" charset="0"/>
                        <a:ea typeface="Calibri" charset="0"/>
                        <a:cs typeface="Calibri" charset="0"/>
                      </a:endParaRPr>
                    </a:p>
                  </a:txBody>
                  <a:tcPr marL="36576" marR="36576" marT="36576" marB="36576" anchor="ctr">
                    <a:lnL w="9525" cap="flat" cmpd="sng" algn="ctr">
                      <a:solidFill>
                        <a:srgbClr val="DCD4E8"/>
                      </a:solidFill>
                      <a:prstDash val="solid"/>
                      <a:round/>
                      <a:headEnd type="none" w="med" len="med"/>
                      <a:tailEnd type="none" w="med" len="med"/>
                    </a:lnL>
                    <a:lnR w="9525" cap="flat" cmpd="sng" algn="ctr">
                      <a:solidFill>
                        <a:srgbClr val="DCD4E8"/>
                      </a:solidFill>
                      <a:prstDash val="solid"/>
                      <a:round/>
                      <a:headEnd type="none" w="med" len="med"/>
                      <a:tailEnd type="none" w="med" len="med"/>
                    </a:lnR>
                    <a:lnT w="9525" cap="flat" cmpd="sng" algn="ctr">
                      <a:solidFill>
                        <a:srgbClr val="DCD4E8"/>
                      </a:solidFill>
                      <a:prstDash val="solid"/>
                      <a:round/>
                      <a:headEnd type="none" w="med" len="med"/>
                      <a:tailEnd type="none" w="med" len="med"/>
                    </a:lnT>
                    <a:lnB w="9525" cap="flat" cmpd="sng" algn="ctr">
                      <a:solidFill>
                        <a:srgbClr val="DCD4E8"/>
                      </a:solidFill>
                      <a:prstDash val="solid"/>
                      <a:round/>
                      <a:headEnd type="none" w="med" len="med"/>
                      <a:tailEnd type="none" w="med" len="med"/>
                    </a:lnB>
                    <a:solidFill>
                      <a:srgbClr val="FFFFFF"/>
                    </a:solidFill>
                  </a:tcPr>
                </a:tc>
                <a:tc>
                  <a:txBody>
                    <a:bodyPr/>
                    <a:lstStyle/>
                    <a:p>
                      <a:pPr algn="r" indent="0" marL="0">
                        <a:buNone/>
                      </a:pPr>
                      <a:r>
                        <a:rPr lang="en-US" sz="1200" dirty="0">
                          <a:solidFill>
                            <a:srgbClr val="3A3838"/>
                          </a:solidFill>
                          <a:latin typeface="Calibri" pitchFamily="34" charset="0"/>
                          <a:ea typeface="Calibri" pitchFamily="34" charset="-122"/>
                          <a:cs typeface="Calibri" pitchFamily="34" charset="-120"/>
                        </a:rPr>
                        <a:t>40</a:t>
                      </a:r>
                      <a:endParaRPr lang="en-US" sz="1200" dirty="0">
                        <a:latin typeface="Calibri" charset="0"/>
                        <a:ea typeface="Calibri" charset="0"/>
                        <a:cs typeface="Calibri" charset="0"/>
                      </a:endParaRPr>
                    </a:p>
                  </a:txBody>
                  <a:tcPr marL="36576" marR="36576" marT="36576" marB="36576" anchor="ctr">
                    <a:lnL w="9525" cap="flat" cmpd="sng" algn="ctr">
                      <a:solidFill>
                        <a:srgbClr val="DCD4E8"/>
                      </a:solidFill>
                      <a:prstDash val="solid"/>
                      <a:round/>
                      <a:headEnd type="none" w="med" len="med"/>
                      <a:tailEnd type="none" w="med" len="med"/>
                    </a:lnL>
                    <a:lnR w="9525" cap="flat" cmpd="sng" algn="ctr">
                      <a:solidFill>
                        <a:srgbClr val="DCD4E8"/>
                      </a:solidFill>
                      <a:prstDash val="solid"/>
                      <a:round/>
                      <a:headEnd type="none" w="med" len="med"/>
                      <a:tailEnd type="none" w="med" len="med"/>
                    </a:lnR>
                    <a:lnT w="9525" cap="flat" cmpd="sng" algn="ctr">
                      <a:solidFill>
                        <a:srgbClr val="DCD4E8"/>
                      </a:solidFill>
                      <a:prstDash val="solid"/>
                      <a:round/>
                      <a:headEnd type="none" w="med" len="med"/>
                      <a:tailEnd type="none" w="med" len="med"/>
                    </a:lnT>
                    <a:lnB w="9525" cap="flat" cmpd="sng" algn="ctr">
                      <a:solidFill>
                        <a:srgbClr val="DCD4E8"/>
                      </a:solidFill>
                      <a:prstDash val="solid"/>
                      <a:round/>
                      <a:headEnd type="none" w="med" len="med"/>
                      <a:tailEnd type="none" w="med" len="med"/>
                    </a:lnB>
                    <a:solidFill>
                      <a:srgbClr val="FFFFFF"/>
                    </a:solidFill>
                  </a:tcPr>
                </a:tc>
              </a:tr>
              <a:tr h="228600">
                <a:tc>
                  <a:txBody>
                    <a:bodyPr/>
                    <a:lstStyle/>
                    <a:p>
                      <a:pPr algn="l" indent="0" marL="0">
                        <a:buNone/>
                      </a:pPr>
                      <a:r>
                        <a:rPr lang="en-US" sz="1200" dirty="0">
                          <a:solidFill>
                            <a:srgbClr val="3A3838"/>
                          </a:solidFill>
                          <a:latin typeface="Calibri" pitchFamily="34" charset="0"/>
                          <a:ea typeface="Calibri" pitchFamily="34" charset="-122"/>
                          <a:cs typeface="Calibri" pitchFamily="34" charset="-120"/>
                        </a:rPr>
                        <a:t>Q3–4</a:t>
                      </a:r>
                      <a:endParaRPr lang="en-US" sz="1200" dirty="0">
                        <a:latin typeface="Calibri" charset="0"/>
                        <a:ea typeface="Calibri" charset="0"/>
                        <a:cs typeface="Calibri" charset="0"/>
                      </a:endParaRPr>
                    </a:p>
                  </a:txBody>
                  <a:tcPr marL="36576" marR="36576" marT="36576" marB="36576" anchor="ctr">
                    <a:lnL w="9525" cap="flat" cmpd="sng" algn="ctr">
                      <a:solidFill>
                        <a:srgbClr val="DCD4E8"/>
                      </a:solidFill>
                      <a:prstDash val="solid"/>
                      <a:round/>
                      <a:headEnd type="none" w="med" len="med"/>
                      <a:tailEnd type="none" w="med" len="med"/>
                    </a:lnL>
                    <a:lnR w="9525" cap="flat" cmpd="sng" algn="ctr">
                      <a:solidFill>
                        <a:srgbClr val="DCD4E8"/>
                      </a:solidFill>
                      <a:prstDash val="solid"/>
                      <a:round/>
                      <a:headEnd type="none" w="med" len="med"/>
                      <a:tailEnd type="none" w="med" len="med"/>
                    </a:lnR>
                    <a:lnT w="9525" cap="flat" cmpd="sng" algn="ctr">
                      <a:solidFill>
                        <a:srgbClr val="DCD4E8"/>
                      </a:solidFill>
                      <a:prstDash val="solid"/>
                      <a:round/>
                      <a:headEnd type="none" w="med" len="med"/>
                      <a:tailEnd type="none" w="med" len="med"/>
                    </a:lnT>
                    <a:lnB w="9525" cap="flat" cmpd="sng" algn="ctr">
                      <a:solidFill>
                        <a:srgbClr val="DCD4E8"/>
                      </a:solidFill>
                      <a:prstDash val="solid"/>
                      <a:round/>
                      <a:headEnd type="none" w="med" len="med"/>
                      <a:tailEnd type="none" w="med" len="med"/>
                    </a:lnB>
                    <a:solidFill>
                      <a:srgbClr val="FBF8FE"/>
                    </a:solidFill>
                  </a:tcPr>
                </a:tc>
                <a:tc>
                  <a:txBody>
                    <a:bodyPr/>
                    <a:lstStyle/>
                    <a:p>
                      <a:pPr algn="l" indent="0" marL="0">
                        <a:buNone/>
                      </a:pPr>
                      <a:r>
                        <a:rPr lang="en-US" sz="1200" dirty="0">
                          <a:solidFill>
                            <a:srgbClr val="3A3838"/>
                          </a:solidFill>
                          <a:latin typeface="Calibri" pitchFamily="34" charset="0"/>
                          <a:ea typeface="Calibri" pitchFamily="34" charset="-122"/>
                          <a:cs typeface="Calibri" pitchFamily="34" charset="-120"/>
                        </a:rPr>
                        <a:t>Wave 1 to 200 metro outlets · care first-fix wave · consultant pay redesign · GATE 2</a:t>
                      </a:r>
                      <a:endParaRPr lang="en-US" sz="1200" dirty="0">
                        <a:latin typeface="Calibri" charset="0"/>
                        <a:ea typeface="Calibri" charset="0"/>
                        <a:cs typeface="Calibri" charset="0"/>
                      </a:endParaRPr>
                    </a:p>
                  </a:txBody>
                  <a:tcPr marL="36576" marR="36576" marT="36576" marB="36576" anchor="ctr">
                    <a:lnL w="9525" cap="flat" cmpd="sng" algn="ctr">
                      <a:solidFill>
                        <a:srgbClr val="DCD4E8"/>
                      </a:solidFill>
                      <a:prstDash val="solid"/>
                      <a:round/>
                      <a:headEnd type="none" w="med" len="med"/>
                      <a:tailEnd type="none" w="med" len="med"/>
                    </a:lnL>
                    <a:lnR w="9525" cap="flat" cmpd="sng" algn="ctr">
                      <a:solidFill>
                        <a:srgbClr val="DCD4E8"/>
                      </a:solidFill>
                      <a:prstDash val="solid"/>
                      <a:round/>
                      <a:headEnd type="none" w="med" len="med"/>
                      <a:tailEnd type="none" w="med" len="med"/>
                    </a:lnR>
                    <a:lnT w="9525" cap="flat" cmpd="sng" algn="ctr">
                      <a:solidFill>
                        <a:srgbClr val="DCD4E8"/>
                      </a:solidFill>
                      <a:prstDash val="solid"/>
                      <a:round/>
                      <a:headEnd type="none" w="med" len="med"/>
                      <a:tailEnd type="none" w="med" len="med"/>
                    </a:lnT>
                    <a:lnB w="9525" cap="flat" cmpd="sng" algn="ctr">
                      <a:solidFill>
                        <a:srgbClr val="DCD4E8"/>
                      </a:solidFill>
                      <a:prstDash val="solid"/>
                      <a:round/>
                      <a:headEnd type="none" w="med" len="med"/>
                      <a:tailEnd type="none" w="med" len="med"/>
                    </a:lnB>
                    <a:solidFill>
                      <a:srgbClr val="FBF8FE"/>
                    </a:solidFill>
                  </a:tcPr>
                </a:tc>
                <a:tc>
                  <a:txBody>
                    <a:bodyPr/>
                    <a:lstStyle/>
                    <a:p>
                      <a:pPr algn="r" indent="0" marL="0">
                        <a:buNone/>
                      </a:pPr>
                      <a:r>
                        <a:rPr lang="en-US" sz="1200" dirty="0">
                          <a:solidFill>
                            <a:srgbClr val="3A3838"/>
                          </a:solidFill>
                          <a:latin typeface="Calibri" pitchFamily="34" charset="0"/>
                          <a:ea typeface="Calibri" pitchFamily="34" charset="-122"/>
                          <a:cs typeface="Calibri" pitchFamily="34" charset="-120"/>
                        </a:rPr>
                        <a:t>200</a:t>
                      </a:r>
                      <a:endParaRPr lang="en-US" sz="1200" dirty="0">
                        <a:latin typeface="Calibri" charset="0"/>
                        <a:ea typeface="Calibri" charset="0"/>
                        <a:cs typeface="Calibri" charset="0"/>
                      </a:endParaRPr>
                    </a:p>
                  </a:txBody>
                  <a:tcPr marL="36576" marR="36576" marT="36576" marB="36576" anchor="ctr">
                    <a:lnL w="9525" cap="flat" cmpd="sng" algn="ctr">
                      <a:solidFill>
                        <a:srgbClr val="DCD4E8"/>
                      </a:solidFill>
                      <a:prstDash val="solid"/>
                      <a:round/>
                      <a:headEnd type="none" w="med" len="med"/>
                      <a:tailEnd type="none" w="med" len="med"/>
                    </a:lnL>
                    <a:lnR w="9525" cap="flat" cmpd="sng" algn="ctr">
                      <a:solidFill>
                        <a:srgbClr val="DCD4E8"/>
                      </a:solidFill>
                      <a:prstDash val="solid"/>
                      <a:round/>
                      <a:headEnd type="none" w="med" len="med"/>
                      <a:tailEnd type="none" w="med" len="med"/>
                    </a:lnR>
                    <a:lnT w="9525" cap="flat" cmpd="sng" algn="ctr">
                      <a:solidFill>
                        <a:srgbClr val="DCD4E8"/>
                      </a:solidFill>
                      <a:prstDash val="solid"/>
                      <a:round/>
                      <a:headEnd type="none" w="med" len="med"/>
                      <a:tailEnd type="none" w="med" len="med"/>
                    </a:lnT>
                    <a:lnB w="9525" cap="flat" cmpd="sng" algn="ctr">
                      <a:solidFill>
                        <a:srgbClr val="DCD4E8"/>
                      </a:solidFill>
                      <a:prstDash val="solid"/>
                      <a:round/>
                      <a:headEnd type="none" w="med" len="med"/>
                      <a:tailEnd type="none" w="med" len="med"/>
                    </a:lnB>
                    <a:solidFill>
                      <a:srgbClr val="FBF8FE"/>
                    </a:solidFill>
                  </a:tcPr>
                </a:tc>
              </a:tr>
              <a:tr h="228600">
                <a:tc>
                  <a:txBody>
                    <a:bodyPr/>
                    <a:lstStyle/>
                    <a:p>
                      <a:pPr algn="l" indent="0" marL="0">
                        <a:buNone/>
                      </a:pPr>
                      <a:r>
                        <a:rPr lang="en-US" sz="1200" dirty="0">
                          <a:solidFill>
                            <a:srgbClr val="3A3838"/>
                          </a:solidFill>
                          <a:latin typeface="Calibri" pitchFamily="34" charset="0"/>
                          <a:ea typeface="Calibri" pitchFamily="34" charset="-122"/>
                          <a:cs typeface="Calibri" pitchFamily="34" charset="-120"/>
                        </a:rPr>
                        <a:t>Q5–8</a:t>
                      </a:r>
                      <a:endParaRPr lang="en-US" sz="1200" dirty="0">
                        <a:latin typeface="Calibri" charset="0"/>
                        <a:ea typeface="Calibri" charset="0"/>
                        <a:cs typeface="Calibri" charset="0"/>
                      </a:endParaRPr>
                    </a:p>
                  </a:txBody>
                  <a:tcPr marL="36576" marR="36576" marT="36576" marB="36576" anchor="ctr">
                    <a:lnL w="9525" cap="flat" cmpd="sng" algn="ctr">
                      <a:solidFill>
                        <a:srgbClr val="DCD4E8"/>
                      </a:solidFill>
                      <a:prstDash val="solid"/>
                      <a:round/>
                      <a:headEnd type="none" w="med" len="med"/>
                      <a:tailEnd type="none" w="med" len="med"/>
                    </a:lnL>
                    <a:lnR w="9525" cap="flat" cmpd="sng" algn="ctr">
                      <a:solidFill>
                        <a:srgbClr val="DCD4E8"/>
                      </a:solidFill>
                      <a:prstDash val="solid"/>
                      <a:round/>
                      <a:headEnd type="none" w="med" len="med"/>
                      <a:tailEnd type="none" w="med" len="med"/>
                    </a:lnR>
                    <a:lnT w="9525" cap="flat" cmpd="sng" algn="ctr">
                      <a:solidFill>
                        <a:srgbClr val="DCD4E8"/>
                      </a:solidFill>
                      <a:prstDash val="solid"/>
                      <a:round/>
                      <a:headEnd type="none" w="med" len="med"/>
                      <a:tailEnd type="none" w="med" len="med"/>
                    </a:lnT>
                    <a:lnB w="9525" cap="flat" cmpd="sng" algn="ctr">
                      <a:solidFill>
                        <a:srgbClr val="DCD4E8"/>
                      </a:solidFill>
                      <a:prstDash val="solid"/>
                      <a:round/>
                      <a:headEnd type="none" w="med" len="med"/>
                      <a:tailEnd type="none" w="med" len="med"/>
                    </a:lnB>
                    <a:solidFill>
                      <a:srgbClr val="FFFFFF"/>
                    </a:solidFill>
                  </a:tcPr>
                </a:tc>
                <a:tc>
                  <a:txBody>
                    <a:bodyPr/>
                    <a:lstStyle/>
                    <a:p>
                      <a:pPr algn="l" indent="0" marL="0">
                        <a:buNone/>
                      </a:pPr>
                      <a:r>
                        <a:rPr lang="en-US" sz="1200" dirty="0">
                          <a:solidFill>
                            <a:srgbClr val="3A3838"/>
                          </a:solidFill>
                          <a:latin typeface="Calibri" pitchFamily="34" charset="0"/>
                          <a:ea typeface="Calibri" pitchFamily="34" charset="-122"/>
                          <a:cs typeface="Calibri" pitchFamily="34" charset="-120"/>
                        </a:rPr>
                        <a:t>Wave 2 · Vega launches on the new model Q5–Q6 · vendors → 4 · GATE 3</a:t>
                      </a:r>
                      <a:endParaRPr lang="en-US" sz="1200" dirty="0">
                        <a:latin typeface="Calibri" charset="0"/>
                        <a:ea typeface="Calibri" charset="0"/>
                        <a:cs typeface="Calibri" charset="0"/>
                      </a:endParaRPr>
                    </a:p>
                  </a:txBody>
                  <a:tcPr marL="36576" marR="36576" marT="36576" marB="36576" anchor="ctr">
                    <a:lnL w="9525" cap="flat" cmpd="sng" algn="ctr">
                      <a:solidFill>
                        <a:srgbClr val="DCD4E8"/>
                      </a:solidFill>
                      <a:prstDash val="solid"/>
                      <a:round/>
                      <a:headEnd type="none" w="med" len="med"/>
                      <a:tailEnd type="none" w="med" len="med"/>
                    </a:lnL>
                    <a:lnR w="9525" cap="flat" cmpd="sng" algn="ctr">
                      <a:solidFill>
                        <a:srgbClr val="DCD4E8"/>
                      </a:solidFill>
                      <a:prstDash val="solid"/>
                      <a:round/>
                      <a:headEnd type="none" w="med" len="med"/>
                      <a:tailEnd type="none" w="med" len="med"/>
                    </a:lnR>
                    <a:lnT w="9525" cap="flat" cmpd="sng" algn="ctr">
                      <a:solidFill>
                        <a:srgbClr val="DCD4E8"/>
                      </a:solidFill>
                      <a:prstDash val="solid"/>
                      <a:round/>
                      <a:headEnd type="none" w="med" len="med"/>
                      <a:tailEnd type="none" w="med" len="med"/>
                    </a:lnT>
                    <a:lnB w="9525" cap="flat" cmpd="sng" algn="ctr">
                      <a:solidFill>
                        <a:srgbClr val="DCD4E8"/>
                      </a:solidFill>
                      <a:prstDash val="solid"/>
                      <a:round/>
                      <a:headEnd type="none" w="med" len="med"/>
                      <a:tailEnd type="none" w="med" len="med"/>
                    </a:lnB>
                    <a:solidFill>
                      <a:srgbClr val="FFFFFF"/>
                    </a:solidFill>
                  </a:tcPr>
                </a:tc>
                <a:tc>
                  <a:txBody>
                    <a:bodyPr/>
                    <a:lstStyle/>
                    <a:p>
                      <a:pPr algn="r" indent="0" marL="0">
                        <a:buNone/>
                      </a:pPr>
                      <a:r>
                        <a:rPr lang="en-US" sz="1200" dirty="0">
                          <a:solidFill>
                            <a:srgbClr val="3A3838"/>
                          </a:solidFill>
                          <a:latin typeface="Calibri" pitchFamily="34" charset="0"/>
                          <a:ea typeface="Calibri" pitchFamily="34" charset="-122"/>
                          <a:cs typeface="Calibri" pitchFamily="34" charset="-120"/>
                        </a:rPr>
                        <a:t>600</a:t>
                      </a:r>
                      <a:endParaRPr lang="en-US" sz="1200" dirty="0">
                        <a:latin typeface="Calibri" charset="0"/>
                        <a:ea typeface="Calibri" charset="0"/>
                        <a:cs typeface="Calibri" charset="0"/>
                      </a:endParaRPr>
                    </a:p>
                  </a:txBody>
                  <a:tcPr marL="36576" marR="36576" marT="36576" marB="36576" anchor="ctr">
                    <a:lnL w="9525" cap="flat" cmpd="sng" algn="ctr">
                      <a:solidFill>
                        <a:srgbClr val="DCD4E8"/>
                      </a:solidFill>
                      <a:prstDash val="solid"/>
                      <a:round/>
                      <a:headEnd type="none" w="med" len="med"/>
                      <a:tailEnd type="none" w="med" len="med"/>
                    </a:lnL>
                    <a:lnR w="9525" cap="flat" cmpd="sng" algn="ctr">
                      <a:solidFill>
                        <a:srgbClr val="DCD4E8"/>
                      </a:solidFill>
                      <a:prstDash val="solid"/>
                      <a:round/>
                      <a:headEnd type="none" w="med" len="med"/>
                      <a:tailEnd type="none" w="med" len="med"/>
                    </a:lnR>
                    <a:lnT w="9525" cap="flat" cmpd="sng" algn="ctr">
                      <a:solidFill>
                        <a:srgbClr val="DCD4E8"/>
                      </a:solidFill>
                      <a:prstDash val="solid"/>
                      <a:round/>
                      <a:headEnd type="none" w="med" len="med"/>
                      <a:tailEnd type="none" w="med" len="med"/>
                    </a:lnT>
                    <a:lnB w="9525" cap="flat" cmpd="sng" algn="ctr">
                      <a:solidFill>
                        <a:srgbClr val="DCD4E8"/>
                      </a:solidFill>
                      <a:prstDash val="solid"/>
                      <a:round/>
                      <a:headEnd type="none" w="med" len="med"/>
                      <a:tailEnd type="none" w="med" len="med"/>
                    </a:lnB>
                    <a:solidFill>
                      <a:srgbClr val="FFFFFF"/>
                    </a:solidFill>
                  </a:tcPr>
                </a:tc>
              </a:tr>
              <a:tr h="228600">
                <a:tc>
                  <a:txBody>
                    <a:bodyPr/>
                    <a:lstStyle/>
                    <a:p>
                      <a:pPr algn="l" indent="0" marL="0">
                        <a:buNone/>
                      </a:pPr>
                      <a:r>
                        <a:rPr lang="en-US" sz="1200" dirty="0">
                          <a:solidFill>
                            <a:srgbClr val="3A3838"/>
                          </a:solidFill>
                          <a:latin typeface="Calibri" pitchFamily="34" charset="0"/>
                          <a:ea typeface="Calibri" pitchFamily="34" charset="-122"/>
                          <a:cs typeface="Calibri" pitchFamily="34" charset="-120"/>
                        </a:rPr>
                        <a:t>Q9–12</a:t>
                      </a:r>
                      <a:endParaRPr lang="en-US" sz="1200" dirty="0">
                        <a:latin typeface="Calibri" charset="0"/>
                        <a:ea typeface="Calibri" charset="0"/>
                        <a:cs typeface="Calibri" charset="0"/>
                      </a:endParaRPr>
                    </a:p>
                  </a:txBody>
                  <a:tcPr marL="36576" marR="36576" marT="36576" marB="36576" anchor="ctr">
                    <a:lnL w="9525" cap="flat" cmpd="sng" algn="ctr">
                      <a:solidFill>
                        <a:srgbClr val="DCD4E8"/>
                      </a:solidFill>
                      <a:prstDash val="solid"/>
                      <a:round/>
                      <a:headEnd type="none" w="med" len="med"/>
                      <a:tailEnd type="none" w="med" len="med"/>
                    </a:lnL>
                    <a:lnR w="9525" cap="flat" cmpd="sng" algn="ctr">
                      <a:solidFill>
                        <a:srgbClr val="DCD4E8"/>
                      </a:solidFill>
                      <a:prstDash val="solid"/>
                      <a:round/>
                      <a:headEnd type="none" w="med" len="med"/>
                      <a:tailEnd type="none" w="med" len="med"/>
                    </a:lnR>
                    <a:lnT w="9525" cap="flat" cmpd="sng" algn="ctr">
                      <a:solidFill>
                        <a:srgbClr val="DCD4E8"/>
                      </a:solidFill>
                      <a:prstDash val="solid"/>
                      <a:round/>
                      <a:headEnd type="none" w="med" len="med"/>
                      <a:tailEnd type="none" w="med" len="med"/>
                    </a:lnT>
                    <a:lnB w="9525" cap="flat" cmpd="sng" algn="ctr">
                      <a:solidFill>
                        <a:srgbClr val="DCD4E8"/>
                      </a:solidFill>
                      <a:prstDash val="solid"/>
                      <a:round/>
                      <a:headEnd type="none" w="med" len="med"/>
                      <a:tailEnd type="none" w="med" len="med"/>
                    </a:lnB>
                    <a:solidFill>
                      <a:srgbClr val="FBF8FE"/>
                    </a:solidFill>
                  </a:tcPr>
                </a:tc>
                <a:tc>
                  <a:txBody>
                    <a:bodyPr/>
                    <a:lstStyle/>
                    <a:p>
                      <a:pPr algn="l" indent="0" marL="0">
                        <a:buNone/>
                      </a:pPr>
                      <a:r>
                        <a:rPr lang="en-US" sz="1200" dirty="0">
                          <a:solidFill>
                            <a:srgbClr val="3A3838"/>
                          </a:solidFill>
                          <a:latin typeface="Calibri" pitchFamily="34" charset="0"/>
                          <a:ea typeface="Calibri" pitchFamily="34" charset="-122"/>
                          <a:cs typeface="Calibri" pitchFamily="34" charset="-120"/>
                        </a:rPr>
                        <a:t>Wave 3 completes network · loyalty + referral · EV service revenue · GATE 4</a:t>
                      </a:r>
                      <a:endParaRPr lang="en-US" sz="1200" dirty="0">
                        <a:latin typeface="Calibri" charset="0"/>
                        <a:ea typeface="Calibri" charset="0"/>
                        <a:cs typeface="Calibri" charset="0"/>
                      </a:endParaRPr>
                    </a:p>
                  </a:txBody>
                  <a:tcPr marL="36576" marR="36576" marT="36576" marB="36576" anchor="ctr">
                    <a:lnL w="9525" cap="flat" cmpd="sng" algn="ctr">
                      <a:solidFill>
                        <a:srgbClr val="DCD4E8"/>
                      </a:solidFill>
                      <a:prstDash val="solid"/>
                      <a:round/>
                      <a:headEnd type="none" w="med" len="med"/>
                      <a:tailEnd type="none" w="med" len="med"/>
                    </a:lnL>
                    <a:lnR w="9525" cap="flat" cmpd="sng" algn="ctr">
                      <a:solidFill>
                        <a:srgbClr val="DCD4E8"/>
                      </a:solidFill>
                      <a:prstDash val="solid"/>
                      <a:round/>
                      <a:headEnd type="none" w="med" len="med"/>
                      <a:tailEnd type="none" w="med" len="med"/>
                    </a:lnR>
                    <a:lnT w="9525" cap="flat" cmpd="sng" algn="ctr">
                      <a:solidFill>
                        <a:srgbClr val="DCD4E8"/>
                      </a:solidFill>
                      <a:prstDash val="solid"/>
                      <a:round/>
                      <a:headEnd type="none" w="med" len="med"/>
                      <a:tailEnd type="none" w="med" len="med"/>
                    </a:lnT>
                    <a:lnB w="9525" cap="flat" cmpd="sng" algn="ctr">
                      <a:solidFill>
                        <a:srgbClr val="DCD4E8"/>
                      </a:solidFill>
                      <a:prstDash val="solid"/>
                      <a:round/>
                      <a:headEnd type="none" w="med" len="med"/>
                      <a:tailEnd type="none" w="med" len="med"/>
                    </a:lnB>
                    <a:solidFill>
                      <a:srgbClr val="FBF8FE"/>
                    </a:solidFill>
                  </a:tcPr>
                </a:tc>
                <a:tc>
                  <a:txBody>
                    <a:bodyPr/>
                    <a:lstStyle/>
                    <a:p>
                      <a:pPr algn="r" indent="0" marL="0">
                        <a:buNone/>
                      </a:pPr>
                      <a:r>
                        <a:rPr lang="en-US" sz="1200" dirty="0">
                          <a:solidFill>
                            <a:srgbClr val="3A3838"/>
                          </a:solidFill>
                          <a:latin typeface="Calibri" pitchFamily="34" charset="0"/>
                          <a:ea typeface="Calibri" pitchFamily="34" charset="-122"/>
                          <a:cs typeface="Calibri" pitchFamily="34" charset="-120"/>
                        </a:rPr>
                        <a:t>1,050</a:t>
                      </a:r>
                      <a:endParaRPr lang="en-US" sz="1200" dirty="0">
                        <a:latin typeface="Calibri" charset="0"/>
                        <a:ea typeface="Calibri" charset="0"/>
                        <a:cs typeface="Calibri" charset="0"/>
                      </a:endParaRPr>
                    </a:p>
                  </a:txBody>
                  <a:tcPr marL="36576" marR="36576" marT="36576" marB="36576" anchor="ctr">
                    <a:lnL w="9525" cap="flat" cmpd="sng" algn="ctr">
                      <a:solidFill>
                        <a:srgbClr val="DCD4E8"/>
                      </a:solidFill>
                      <a:prstDash val="solid"/>
                      <a:round/>
                      <a:headEnd type="none" w="med" len="med"/>
                      <a:tailEnd type="none" w="med" len="med"/>
                    </a:lnL>
                    <a:lnR w="9525" cap="flat" cmpd="sng" algn="ctr">
                      <a:solidFill>
                        <a:srgbClr val="DCD4E8"/>
                      </a:solidFill>
                      <a:prstDash val="solid"/>
                      <a:round/>
                      <a:headEnd type="none" w="med" len="med"/>
                      <a:tailEnd type="none" w="med" len="med"/>
                    </a:lnR>
                    <a:lnT w="9525" cap="flat" cmpd="sng" algn="ctr">
                      <a:solidFill>
                        <a:srgbClr val="DCD4E8"/>
                      </a:solidFill>
                      <a:prstDash val="solid"/>
                      <a:round/>
                      <a:headEnd type="none" w="med" len="med"/>
                      <a:tailEnd type="none" w="med" len="med"/>
                    </a:lnT>
                    <a:lnB w="9525" cap="flat" cmpd="sng" algn="ctr">
                      <a:solidFill>
                        <a:srgbClr val="DCD4E8"/>
                      </a:solidFill>
                      <a:prstDash val="solid"/>
                      <a:round/>
                      <a:headEnd type="none" w="med" len="med"/>
                      <a:tailEnd type="none" w="med" len="med"/>
                    </a:lnB>
                    <a:solidFill>
                      <a:srgbClr val="FBF8FE"/>
                    </a:solidFill>
                  </a:tcPr>
                </a:tc>
              </a:tr>
            </a:tbl>
          </a:graphicData>
        </a:graphic>
      </p:graphicFrame>
      <p:sp>
        <p:nvSpPr>
          <p:cNvPr id="44" name="Text 40"/>
          <p:cNvSpPr/>
          <p:nvPr/>
        </p:nvSpPr>
        <p:spPr>
          <a:xfrm>
            <a:off x="137160" y="5175504"/>
            <a:ext cx="3904488" cy="438912"/>
          </a:xfrm>
          <a:prstGeom prst="rect">
            <a:avLst/>
          </a:prstGeom>
          <a:noFill/>
          <a:ln/>
        </p:spPr>
        <p:txBody>
          <a:bodyPr wrap="square" lIns="0" tIns="0" rIns="0" bIns="0" rtlCol="0" anchor="ctr"/>
          <a:lstStyle/>
          <a:p>
            <a:pPr indent="0" marL="0">
              <a:lnSpc>
                <a:spcPct val="94000"/>
              </a:lnSpc>
              <a:buNone/>
            </a:pPr>
            <a:r>
              <a:rPr lang="en-US" sz="1200" b="1" dirty="0">
                <a:solidFill>
                  <a:srgbClr val="3A3838"/>
                </a:solidFill>
                <a:latin typeface="Calibri" pitchFamily="34" charset="0"/>
                <a:ea typeface="Calibri" pitchFamily="34" charset="-122"/>
                <a:cs typeface="Calibri" pitchFamily="34" charset="-120"/>
              </a:rPr>
              <a:t>Gate 1 (Q2) — readiness:</a:t>
            </a:r>
            <a:pPr indent="0" marL="0">
              <a:lnSpc>
                <a:spcPct val="94000"/>
              </a:lnSpc>
              <a:buNone/>
            </a:pPr>
            <a:r>
              <a:rPr lang="en-US" sz="1200" dirty="0">
                <a:solidFill>
                  <a:srgbClr val="3A3838"/>
                </a:solidFill>
                <a:latin typeface="Calibri" pitchFamily="34" charset="0"/>
                <a:ea typeface="Calibri" pitchFamily="34" charset="-122"/>
                <a:cs typeface="Calibri" pitchFamily="34" charset="-120"/>
              </a:rPr>
              <a:t> journeys live, 40v40 matched &amp; baselined, ≥70% certified.</a:t>
            </a:r>
            <a:endParaRPr lang="en-US" sz="1200" dirty="0"/>
          </a:p>
        </p:txBody>
      </p:sp>
      <p:sp>
        <p:nvSpPr>
          <p:cNvPr id="45" name="Text 41"/>
          <p:cNvSpPr/>
          <p:nvPr/>
        </p:nvSpPr>
        <p:spPr>
          <a:xfrm>
            <a:off x="137160" y="5632704"/>
            <a:ext cx="3904488" cy="475488"/>
          </a:xfrm>
          <a:prstGeom prst="rect">
            <a:avLst/>
          </a:prstGeom>
          <a:noFill/>
          <a:ln/>
        </p:spPr>
        <p:txBody>
          <a:bodyPr wrap="square" lIns="0" tIns="0" rIns="0" bIns="0" rtlCol="0" anchor="ctr"/>
          <a:lstStyle/>
          <a:p>
            <a:pPr indent="0" marL="0">
              <a:lnSpc>
                <a:spcPct val="94000"/>
              </a:lnSpc>
              <a:buNone/>
            </a:pPr>
            <a:r>
              <a:rPr lang="en-US" sz="1200" b="1" dirty="0">
                <a:solidFill>
                  <a:srgbClr val="3A3838"/>
                </a:solidFill>
                <a:latin typeface="Calibri" pitchFamily="34" charset="0"/>
                <a:ea typeface="Calibri" pitchFamily="34" charset="-122"/>
                <a:cs typeface="Calibri" pitchFamily="34" charset="-120"/>
              </a:rPr>
              <a:t>Gate 2 (Q4) — performance:</a:t>
            </a:r>
            <a:pPr indent="0" marL="0">
              <a:lnSpc>
                <a:spcPct val="94000"/>
              </a:lnSpc>
              <a:buNone/>
            </a:pPr>
            <a:r>
              <a:rPr lang="en-US" sz="1200" dirty="0">
                <a:solidFill>
                  <a:srgbClr val="3A3838"/>
                </a:solidFill>
                <a:latin typeface="Calibri" pitchFamily="34" charset="0"/>
                <a:ea typeface="Calibri" pitchFamily="34" charset="-122"/>
                <a:cs typeface="Calibri" pitchFamily="34" charset="-120"/>
              </a:rPr>
              <a:t> cohort beats controls ≥3pp conversion, margin ≥1.9% — or Wave 2 pauses.</a:t>
            </a:r>
            <a:endParaRPr lang="en-US" sz="1200" dirty="0"/>
          </a:p>
        </p:txBody>
      </p:sp>
      <p:sp>
        <p:nvSpPr>
          <p:cNvPr id="46" name="Shape 42"/>
          <p:cNvSpPr/>
          <p:nvPr/>
        </p:nvSpPr>
        <p:spPr>
          <a:xfrm>
            <a:off x="4224528" y="1920240"/>
            <a:ext cx="292608" cy="292608"/>
          </a:xfrm>
          <a:prstGeom prst="ellipse">
            <a:avLst/>
          </a:prstGeom>
          <a:solidFill>
            <a:srgbClr val="A100FF"/>
          </a:solidFill>
          <a:ln w="12700">
            <a:solidFill>
              <a:srgbClr val="333333"/>
            </a:solidFill>
            <a:prstDash val="solid"/>
          </a:ln>
        </p:spPr>
      </p:sp>
      <p:sp>
        <p:nvSpPr>
          <p:cNvPr id="47" name="Text 43"/>
          <p:cNvSpPr/>
          <p:nvPr/>
        </p:nvSpPr>
        <p:spPr>
          <a:xfrm>
            <a:off x="4224528" y="1920240"/>
            <a:ext cx="292608" cy="29260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48" name="Text 44"/>
          <p:cNvSpPr/>
          <p:nvPr/>
        </p:nvSpPr>
        <p:spPr>
          <a:xfrm>
            <a:off x="4608576" y="1929384"/>
            <a:ext cx="3474720" cy="292608"/>
          </a:xfrm>
          <a:prstGeom prst="rect">
            <a:avLst/>
          </a:prstGeom>
          <a:noFill/>
          <a:ln/>
        </p:spPr>
        <p:txBody>
          <a:bodyPr wrap="square" lIns="0" tIns="0" rIns="0" bIns="0" rtlCol="0" anchor="ctr"/>
          <a:lstStyle/>
          <a:p>
            <a:pPr indent="0" marL="0">
              <a:buNone/>
            </a:pPr>
            <a:r>
              <a:rPr lang="en-US" sz="1350" b="1" dirty="0">
                <a:solidFill>
                  <a:srgbClr val="2A0A45"/>
                </a:solidFill>
                <a:latin typeface="Calibri" pitchFamily="34" charset="0"/>
                <a:ea typeface="Calibri" pitchFamily="34" charset="-122"/>
                <a:cs typeface="Calibri" pitchFamily="34" charset="-120"/>
              </a:rPr>
              <a:t>Where ₹250 cr a year goes</a:t>
            </a:r>
            <a:endParaRPr lang="en-US" sz="1350" dirty="0"/>
          </a:p>
        </p:txBody>
      </p:sp>
      <p:graphicFrame>
        <p:nvGraphicFramePr>
          <p:cNvPr id="13" name="Table 1"/>
          <p:cNvGraphicFramePr>
            <a:graphicFrameLocks noGrp="1"/>
          </p:cNvGraphicFramePr>
          <p:nvPr>
            <p:extLst>
              <p:ext uri="{D42A27DB-BD31-4B8C-83A1-F6EECF244321}">
                <p14:modId xmlns:p14="http://schemas.microsoft.com/office/powerpoint/2010/main" val="1579011935"/>
              </p:ext>
            </p:extLst>
          </p:nvPr>
        </p:nvGraphicFramePr>
        <p:xfrm>
          <a:off x="4224528" y="2304288"/>
          <a:ext cx="3867912" cy="914400"/>
        </p:xfrm>
        <a:graphic>
          <a:graphicData uri="http://schemas.openxmlformats.org/drawingml/2006/table">
            <a:tbl>
              <a:tblPr/>
              <a:tblGrid>
                <a:gridCol w="1965960"/>
                <a:gridCol w="630936"/>
                <a:gridCol w="630936"/>
                <a:gridCol w="640080"/>
              </a:tblGrid>
              <a:tr h="228600">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Investment area (₹ cr)</a:t>
                      </a:r>
                      <a:endParaRPr lang="en-US" sz="1200" dirty="0">
                        <a:latin typeface="Calibri" charset="0"/>
                        <a:ea typeface="Calibri" charset="0"/>
                        <a:cs typeface="Calibri" charset="0"/>
                      </a:endParaRPr>
                    </a:p>
                  </a:txBody>
                  <a:tcPr marL="36576" marR="36576" marT="36576" marB="36576" anchor="ctr">
                    <a:lnL w="9525" cap="flat" cmpd="sng" algn="ctr">
                      <a:solidFill>
                        <a:srgbClr val="DCD4E8"/>
                      </a:solidFill>
                      <a:prstDash val="solid"/>
                      <a:round/>
                      <a:headEnd type="none" w="med" len="med"/>
                      <a:tailEnd type="none" w="med" len="med"/>
                    </a:lnL>
                    <a:lnR w="9525" cap="flat" cmpd="sng" algn="ctr">
                      <a:solidFill>
                        <a:srgbClr val="DCD4E8"/>
                      </a:solidFill>
                      <a:prstDash val="solid"/>
                      <a:round/>
                      <a:headEnd type="none" w="med" len="med"/>
                      <a:tailEnd type="none" w="med" len="med"/>
                    </a:lnR>
                    <a:lnT w="9525" cap="flat" cmpd="sng" algn="ctr">
                      <a:solidFill>
                        <a:srgbClr val="DCD4E8"/>
                      </a:solidFill>
                      <a:prstDash val="solid"/>
                      <a:round/>
                      <a:headEnd type="none" w="med" len="med"/>
                      <a:tailEnd type="none" w="med" len="med"/>
                    </a:lnT>
                    <a:lnB w="9525" cap="flat" cmpd="sng" algn="ctr">
                      <a:solidFill>
                        <a:srgbClr val="DCD4E8"/>
                      </a:solidFill>
                      <a:prstDash val="solid"/>
                      <a:round/>
                      <a:headEnd type="none" w="med" len="med"/>
                      <a:tailEnd type="none" w="med" len="med"/>
                    </a:lnB>
                    <a:solidFill>
                      <a:srgbClr val="2A0A45"/>
                    </a:solidFill>
                  </a:tcPr>
                </a:tc>
                <a:tc>
                  <a:txBody>
                    <a:bodyPr/>
                    <a:lstStyle/>
                    <a:p>
                      <a:pPr algn="r" indent="0" marL="0">
                        <a:buNone/>
                      </a:pPr>
                      <a:r>
                        <a:rPr lang="en-US" sz="1200" b="1" dirty="0">
                          <a:solidFill>
                            <a:srgbClr val="FFFFFF"/>
                          </a:solidFill>
                          <a:latin typeface="Calibri" pitchFamily="34" charset="0"/>
                          <a:ea typeface="Calibri" pitchFamily="34" charset="-122"/>
                          <a:cs typeface="Calibri" pitchFamily="34" charset="-120"/>
                        </a:rPr>
                        <a:t>Yr1</a:t>
                      </a:r>
                      <a:endParaRPr lang="en-US" sz="1200" dirty="0">
                        <a:latin typeface="Calibri" charset="0"/>
                        <a:ea typeface="Calibri" charset="0"/>
                        <a:cs typeface="Calibri" charset="0"/>
                      </a:endParaRPr>
                    </a:p>
                  </a:txBody>
                  <a:tcPr marL="36576" marR="36576" marT="36576" marB="36576" anchor="ctr">
                    <a:lnL w="9525" cap="flat" cmpd="sng" algn="ctr">
                      <a:solidFill>
                        <a:srgbClr val="DCD4E8"/>
                      </a:solidFill>
                      <a:prstDash val="solid"/>
                      <a:round/>
                      <a:headEnd type="none" w="med" len="med"/>
                      <a:tailEnd type="none" w="med" len="med"/>
                    </a:lnL>
                    <a:lnR w="9525" cap="flat" cmpd="sng" algn="ctr">
                      <a:solidFill>
                        <a:srgbClr val="DCD4E8"/>
                      </a:solidFill>
                      <a:prstDash val="solid"/>
                      <a:round/>
                      <a:headEnd type="none" w="med" len="med"/>
                      <a:tailEnd type="none" w="med" len="med"/>
                    </a:lnR>
                    <a:lnT w="9525" cap="flat" cmpd="sng" algn="ctr">
                      <a:solidFill>
                        <a:srgbClr val="DCD4E8"/>
                      </a:solidFill>
                      <a:prstDash val="solid"/>
                      <a:round/>
                      <a:headEnd type="none" w="med" len="med"/>
                      <a:tailEnd type="none" w="med" len="med"/>
                    </a:lnT>
                    <a:lnB w="9525" cap="flat" cmpd="sng" algn="ctr">
                      <a:solidFill>
                        <a:srgbClr val="DCD4E8"/>
                      </a:solidFill>
                      <a:prstDash val="solid"/>
                      <a:round/>
                      <a:headEnd type="none" w="med" len="med"/>
                      <a:tailEnd type="none" w="med" len="med"/>
                    </a:lnB>
                    <a:solidFill>
                      <a:srgbClr val="2A0A45"/>
                    </a:solidFill>
                  </a:tcPr>
                </a:tc>
                <a:tc>
                  <a:txBody>
                    <a:bodyPr/>
                    <a:lstStyle/>
                    <a:p>
                      <a:pPr algn="r" indent="0" marL="0">
                        <a:buNone/>
                      </a:pPr>
                      <a:r>
                        <a:rPr lang="en-US" sz="1200" b="1" dirty="0">
                          <a:solidFill>
                            <a:srgbClr val="FFFFFF"/>
                          </a:solidFill>
                          <a:latin typeface="Calibri" pitchFamily="34" charset="0"/>
                          <a:ea typeface="Calibri" pitchFamily="34" charset="-122"/>
                          <a:cs typeface="Calibri" pitchFamily="34" charset="-120"/>
                        </a:rPr>
                        <a:t>Yr2</a:t>
                      </a:r>
                      <a:endParaRPr lang="en-US" sz="1200" dirty="0">
                        <a:latin typeface="Calibri" charset="0"/>
                        <a:ea typeface="Calibri" charset="0"/>
                        <a:cs typeface="Calibri" charset="0"/>
                      </a:endParaRPr>
                    </a:p>
                  </a:txBody>
                  <a:tcPr marL="36576" marR="36576" marT="36576" marB="36576" anchor="ctr">
                    <a:lnL w="9525" cap="flat" cmpd="sng" algn="ctr">
                      <a:solidFill>
                        <a:srgbClr val="DCD4E8"/>
                      </a:solidFill>
                      <a:prstDash val="solid"/>
                      <a:round/>
                      <a:headEnd type="none" w="med" len="med"/>
                      <a:tailEnd type="none" w="med" len="med"/>
                    </a:lnL>
                    <a:lnR w="9525" cap="flat" cmpd="sng" algn="ctr">
                      <a:solidFill>
                        <a:srgbClr val="DCD4E8"/>
                      </a:solidFill>
                      <a:prstDash val="solid"/>
                      <a:round/>
                      <a:headEnd type="none" w="med" len="med"/>
                      <a:tailEnd type="none" w="med" len="med"/>
                    </a:lnR>
                    <a:lnT w="9525" cap="flat" cmpd="sng" algn="ctr">
                      <a:solidFill>
                        <a:srgbClr val="DCD4E8"/>
                      </a:solidFill>
                      <a:prstDash val="solid"/>
                      <a:round/>
                      <a:headEnd type="none" w="med" len="med"/>
                      <a:tailEnd type="none" w="med" len="med"/>
                    </a:lnT>
                    <a:lnB w="9525" cap="flat" cmpd="sng" algn="ctr">
                      <a:solidFill>
                        <a:srgbClr val="DCD4E8"/>
                      </a:solidFill>
                      <a:prstDash val="solid"/>
                      <a:round/>
                      <a:headEnd type="none" w="med" len="med"/>
                      <a:tailEnd type="none" w="med" len="med"/>
                    </a:lnB>
                    <a:solidFill>
                      <a:srgbClr val="2A0A45"/>
                    </a:solidFill>
                  </a:tcPr>
                </a:tc>
                <a:tc>
                  <a:txBody>
                    <a:bodyPr/>
                    <a:lstStyle/>
                    <a:p>
                      <a:pPr algn="r" indent="0" marL="0">
                        <a:buNone/>
                      </a:pPr>
                      <a:r>
                        <a:rPr lang="en-US" sz="1200" b="1" dirty="0">
                          <a:solidFill>
                            <a:srgbClr val="FFFFFF"/>
                          </a:solidFill>
                          <a:latin typeface="Calibri" pitchFamily="34" charset="0"/>
                          <a:ea typeface="Calibri" pitchFamily="34" charset="-122"/>
                          <a:cs typeface="Calibri" pitchFamily="34" charset="-120"/>
                        </a:rPr>
                        <a:t>Yr3</a:t>
                      </a:r>
                      <a:endParaRPr lang="en-US" sz="1200" dirty="0">
                        <a:latin typeface="Calibri" charset="0"/>
                        <a:ea typeface="Calibri" charset="0"/>
                        <a:cs typeface="Calibri" charset="0"/>
                      </a:endParaRPr>
                    </a:p>
                  </a:txBody>
                  <a:tcPr marL="36576" marR="36576" marT="36576" marB="36576" anchor="ctr">
                    <a:lnL w="9525" cap="flat" cmpd="sng" algn="ctr">
                      <a:solidFill>
                        <a:srgbClr val="DCD4E8"/>
                      </a:solidFill>
                      <a:prstDash val="solid"/>
                      <a:round/>
                      <a:headEnd type="none" w="med" len="med"/>
                      <a:tailEnd type="none" w="med" len="med"/>
                    </a:lnL>
                    <a:lnR w="9525" cap="flat" cmpd="sng" algn="ctr">
                      <a:solidFill>
                        <a:srgbClr val="DCD4E8"/>
                      </a:solidFill>
                      <a:prstDash val="solid"/>
                      <a:round/>
                      <a:headEnd type="none" w="med" len="med"/>
                      <a:tailEnd type="none" w="med" len="med"/>
                    </a:lnR>
                    <a:lnT w="9525" cap="flat" cmpd="sng" algn="ctr">
                      <a:solidFill>
                        <a:srgbClr val="DCD4E8"/>
                      </a:solidFill>
                      <a:prstDash val="solid"/>
                      <a:round/>
                      <a:headEnd type="none" w="med" len="med"/>
                      <a:tailEnd type="none" w="med" len="med"/>
                    </a:lnT>
                    <a:lnB w="9525" cap="flat" cmpd="sng" algn="ctr">
                      <a:solidFill>
                        <a:srgbClr val="DCD4E8"/>
                      </a:solidFill>
                      <a:prstDash val="solid"/>
                      <a:round/>
                      <a:headEnd type="none" w="med" len="med"/>
                      <a:tailEnd type="none" w="med" len="med"/>
                    </a:lnB>
                    <a:solidFill>
                      <a:srgbClr val="2A0A45"/>
                    </a:solidFill>
                  </a:tcPr>
                </a:tc>
              </a:tr>
              <a:tr h="228600">
                <a:tc>
                  <a:txBody>
                    <a:bodyPr/>
                    <a:lstStyle/>
                    <a:p>
                      <a:pPr algn="l" indent="0" marL="0">
                        <a:buNone/>
                      </a:pPr>
                      <a:r>
                        <a:rPr lang="en-US" sz="1200" dirty="0">
                          <a:solidFill>
                            <a:srgbClr val="3A3838"/>
                          </a:solidFill>
                          <a:latin typeface="Calibri" pitchFamily="34" charset="0"/>
                          <a:ea typeface="Calibri" pitchFamily="34" charset="-122"/>
                          <a:cs typeface="Calibri" pitchFamily="34" charset="-120"/>
                        </a:rPr>
                        <a:t>Foundations &amp; process</a:t>
                      </a:r>
                      <a:endParaRPr lang="en-US" sz="1200" dirty="0">
                        <a:latin typeface="Calibri" charset="0"/>
                        <a:ea typeface="Calibri" charset="0"/>
                        <a:cs typeface="Calibri" charset="0"/>
                      </a:endParaRPr>
                    </a:p>
                  </a:txBody>
                  <a:tcPr marL="36576" marR="36576" marT="36576" marB="36576" anchor="ctr">
                    <a:lnL w="9525" cap="flat" cmpd="sng" algn="ctr">
                      <a:solidFill>
                        <a:srgbClr val="DCD4E8"/>
                      </a:solidFill>
                      <a:prstDash val="solid"/>
                      <a:round/>
                      <a:headEnd type="none" w="med" len="med"/>
                      <a:tailEnd type="none" w="med" len="med"/>
                    </a:lnL>
                    <a:lnR w="9525" cap="flat" cmpd="sng" algn="ctr">
                      <a:solidFill>
                        <a:srgbClr val="DCD4E8"/>
                      </a:solidFill>
                      <a:prstDash val="solid"/>
                      <a:round/>
                      <a:headEnd type="none" w="med" len="med"/>
                      <a:tailEnd type="none" w="med" len="med"/>
                    </a:lnR>
                    <a:lnT w="9525" cap="flat" cmpd="sng" algn="ctr">
                      <a:solidFill>
                        <a:srgbClr val="DCD4E8"/>
                      </a:solidFill>
                      <a:prstDash val="solid"/>
                      <a:round/>
                      <a:headEnd type="none" w="med" len="med"/>
                      <a:tailEnd type="none" w="med" len="med"/>
                    </a:lnT>
                    <a:lnB w="9525" cap="flat" cmpd="sng" algn="ctr">
                      <a:solidFill>
                        <a:srgbClr val="DCD4E8"/>
                      </a:solidFill>
                      <a:prstDash val="solid"/>
                      <a:round/>
                      <a:headEnd type="none" w="med" len="med"/>
                      <a:tailEnd type="none" w="med" len="med"/>
                    </a:lnB>
                    <a:solidFill>
                      <a:srgbClr val="FBF8FE"/>
                    </a:solidFill>
                  </a:tcPr>
                </a:tc>
                <a:tc>
                  <a:txBody>
                    <a:bodyPr/>
                    <a:lstStyle/>
                    <a:p>
                      <a:pPr algn="r" indent="0" marL="0">
                        <a:buNone/>
                      </a:pPr>
                      <a:r>
                        <a:rPr lang="en-US" sz="1200" dirty="0">
                          <a:solidFill>
                            <a:srgbClr val="3A3838"/>
                          </a:solidFill>
                          <a:latin typeface="Calibri" pitchFamily="34" charset="0"/>
                          <a:ea typeface="Calibri" pitchFamily="34" charset="-122"/>
                          <a:cs typeface="Calibri" pitchFamily="34" charset="-120"/>
                        </a:rPr>
                        <a:t>80</a:t>
                      </a:r>
                      <a:endParaRPr lang="en-US" sz="1200" dirty="0">
                        <a:latin typeface="Calibri" charset="0"/>
                        <a:ea typeface="Calibri" charset="0"/>
                        <a:cs typeface="Calibri" charset="0"/>
                      </a:endParaRPr>
                    </a:p>
                  </a:txBody>
                  <a:tcPr marL="36576" marR="36576" marT="36576" marB="36576" anchor="ctr">
                    <a:lnL w="9525" cap="flat" cmpd="sng" algn="ctr">
                      <a:solidFill>
                        <a:srgbClr val="DCD4E8"/>
                      </a:solidFill>
                      <a:prstDash val="solid"/>
                      <a:round/>
                      <a:headEnd type="none" w="med" len="med"/>
                      <a:tailEnd type="none" w="med" len="med"/>
                    </a:lnL>
                    <a:lnR w="9525" cap="flat" cmpd="sng" algn="ctr">
                      <a:solidFill>
                        <a:srgbClr val="DCD4E8"/>
                      </a:solidFill>
                      <a:prstDash val="solid"/>
                      <a:round/>
                      <a:headEnd type="none" w="med" len="med"/>
                      <a:tailEnd type="none" w="med" len="med"/>
                    </a:lnR>
                    <a:lnT w="9525" cap="flat" cmpd="sng" algn="ctr">
                      <a:solidFill>
                        <a:srgbClr val="DCD4E8"/>
                      </a:solidFill>
                      <a:prstDash val="solid"/>
                      <a:round/>
                      <a:headEnd type="none" w="med" len="med"/>
                      <a:tailEnd type="none" w="med" len="med"/>
                    </a:lnT>
                    <a:lnB w="9525" cap="flat" cmpd="sng" algn="ctr">
                      <a:solidFill>
                        <a:srgbClr val="DCD4E8"/>
                      </a:solidFill>
                      <a:prstDash val="solid"/>
                      <a:round/>
                      <a:headEnd type="none" w="med" len="med"/>
                      <a:tailEnd type="none" w="med" len="med"/>
                    </a:lnB>
                    <a:solidFill>
                      <a:srgbClr val="FBF8FE"/>
                    </a:solidFill>
                  </a:tcPr>
                </a:tc>
                <a:tc>
                  <a:txBody>
                    <a:bodyPr/>
                    <a:lstStyle/>
                    <a:p>
                      <a:pPr algn="r" indent="0" marL="0">
                        <a:buNone/>
                      </a:pPr>
                      <a:r>
                        <a:rPr lang="en-US" sz="1200" dirty="0">
                          <a:solidFill>
                            <a:srgbClr val="3A3838"/>
                          </a:solidFill>
                          <a:latin typeface="Calibri" pitchFamily="34" charset="0"/>
                          <a:ea typeface="Calibri" pitchFamily="34" charset="-122"/>
                          <a:cs typeface="Calibri" pitchFamily="34" charset="-120"/>
                        </a:rPr>
                        <a:t>40</a:t>
                      </a:r>
                      <a:endParaRPr lang="en-US" sz="1200" dirty="0">
                        <a:latin typeface="Calibri" charset="0"/>
                        <a:ea typeface="Calibri" charset="0"/>
                        <a:cs typeface="Calibri" charset="0"/>
                      </a:endParaRPr>
                    </a:p>
                  </a:txBody>
                  <a:tcPr marL="36576" marR="36576" marT="36576" marB="36576" anchor="ctr">
                    <a:lnL w="9525" cap="flat" cmpd="sng" algn="ctr">
                      <a:solidFill>
                        <a:srgbClr val="DCD4E8"/>
                      </a:solidFill>
                      <a:prstDash val="solid"/>
                      <a:round/>
                      <a:headEnd type="none" w="med" len="med"/>
                      <a:tailEnd type="none" w="med" len="med"/>
                    </a:lnL>
                    <a:lnR w="9525" cap="flat" cmpd="sng" algn="ctr">
                      <a:solidFill>
                        <a:srgbClr val="DCD4E8"/>
                      </a:solidFill>
                      <a:prstDash val="solid"/>
                      <a:round/>
                      <a:headEnd type="none" w="med" len="med"/>
                      <a:tailEnd type="none" w="med" len="med"/>
                    </a:lnR>
                    <a:lnT w="9525" cap="flat" cmpd="sng" algn="ctr">
                      <a:solidFill>
                        <a:srgbClr val="DCD4E8"/>
                      </a:solidFill>
                      <a:prstDash val="solid"/>
                      <a:round/>
                      <a:headEnd type="none" w="med" len="med"/>
                      <a:tailEnd type="none" w="med" len="med"/>
                    </a:lnT>
                    <a:lnB w="9525" cap="flat" cmpd="sng" algn="ctr">
                      <a:solidFill>
                        <a:srgbClr val="DCD4E8"/>
                      </a:solidFill>
                      <a:prstDash val="solid"/>
                      <a:round/>
                      <a:headEnd type="none" w="med" len="med"/>
                      <a:tailEnd type="none" w="med" len="med"/>
                    </a:lnB>
                    <a:solidFill>
                      <a:srgbClr val="FBF8FE"/>
                    </a:solidFill>
                  </a:tcPr>
                </a:tc>
                <a:tc>
                  <a:txBody>
                    <a:bodyPr/>
                    <a:lstStyle/>
                    <a:p>
                      <a:pPr algn="r" indent="0" marL="0">
                        <a:buNone/>
                      </a:pPr>
                      <a:r>
                        <a:rPr lang="en-US" sz="1200" dirty="0">
                          <a:solidFill>
                            <a:srgbClr val="3A3838"/>
                          </a:solidFill>
                          <a:latin typeface="Calibri" pitchFamily="34" charset="0"/>
                          <a:ea typeface="Calibri" pitchFamily="34" charset="-122"/>
                          <a:cs typeface="Calibri" pitchFamily="34" charset="-120"/>
                        </a:rPr>
                        <a:t>20</a:t>
                      </a:r>
                      <a:endParaRPr lang="en-US" sz="1200" dirty="0">
                        <a:latin typeface="Calibri" charset="0"/>
                        <a:ea typeface="Calibri" charset="0"/>
                        <a:cs typeface="Calibri" charset="0"/>
                      </a:endParaRPr>
                    </a:p>
                  </a:txBody>
                  <a:tcPr marL="36576" marR="36576" marT="36576" marB="36576" anchor="ctr">
                    <a:lnL w="9525" cap="flat" cmpd="sng" algn="ctr">
                      <a:solidFill>
                        <a:srgbClr val="DCD4E8"/>
                      </a:solidFill>
                      <a:prstDash val="solid"/>
                      <a:round/>
                      <a:headEnd type="none" w="med" len="med"/>
                      <a:tailEnd type="none" w="med" len="med"/>
                    </a:lnL>
                    <a:lnR w="9525" cap="flat" cmpd="sng" algn="ctr">
                      <a:solidFill>
                        <a:srgbClr val="DCD4E8"/>
                      </a:solidFill>
                      <a:prstDash val="solid"/>
                      <a:round/>
                      <a:headEnd type="none" w="med" len="med"/>
                      <a:tailEnd type="none" w="med" len="med"/>
                    </a:lnR>
                    <a:lnT w="9525" cap="flat" cmpd="sng" algn="ctr">
                      <a:solidFill>
                        <a:srgbClr val="DCD4E8"/>
                      </a:solidFill>
                      <a:prstDash val="solid"/>
                      <a:round/>
                      <a:headEnd type="none" w="med" len="med"/>
                      <a:tailEnd type="none" w="med" len="med"/>
                    </a:lnT>
                    <a:lnB w="9525" cap="flat" cmpd="sng" algn="ctr">
                      <a:solidFill>
                        <a:srgbClr val="DCD4E8"/>
                      </a:solidFill>
                      <a:prstDash val="solid"/>
                      <a:round/>
                      <a:headEnd type="none" w="med" len="med"/>
                      <a:tailEnd type="none" w="med" len="med"/>
                    </a:lnB>
                    <a:solidFill>
                      <a:srgbClr val="FBF8FE"/>
                    </a:solidFill>
                  </a:tcPr>
                </a:tc>
              </a:tr>
              <a:tr h="228600">
                <a:tc>
                  <a:txBody>
                    <a:bodyPr/>
                    <a:lstStyle/>
                    <a:p>
                      <a:pPr algn="l" indent="0" marL="0">
                        <a:buNone/>
                      </a:pPr>
                      <a:r>
                        <a:rPr lang="en-US" sz="1200" dirty="0">
                          <a:solidFill>
                            <a:srgbClr val="3A3838"/>
                          </a:solidFill>
                          <a:latin typeface="Calibri" pitchFamily="34" charset="0"/>
                          <a:ea typeface="Calibri" pitchFamily="34" charset="-122"/>
                          <a:cs typeface="Calibri" pitchFamily="34" charset="-120"/>
                        </a:rPr>
                        <a:t>Agent platform</a:t>
                      </a:r>
                      <a:endParaRPr lang="en-US" sz="1200" dirty="0">
                        <a:latin typeface="Calibri" charset="0"/>
                        <a:ea typeface="Calibri" charset="0"/>
                        <a:cs typeface="Calibri" charset="0"/>
                      </a:endParaRPr>
                    </a:p>
                  </a:txBody>
                  <a:tcPr marL="36576" marR="36576" marT="36576" marB="36576" anchor="ctr">
                    <a:lnL w="9525" cap="flat" cmpd="sng" algn="ctr">
                      <a:solidFill>
                        <a:srgbClr val="DCD4E8"/>
                      </a:solidFill>
                      <a:prstDash val="solid"/>
                      <a:round/>
                      <a:headEnd type="none" w="med" len="med"/>
                      <a:tailEnd type="none" w="med" len="med"/>
                    </a:lnL>
                    <a:lnR w="9525" cap="flat" cmpd="sng" algn="ctr">
                      <a:solidFill>
                        <a:srgbClr val="DCD4E8"/>
                      </a:solidFill>
                      <a:prstDash val="solid"/>
                      <a:round/>
                      <a:headEnd type="none" w="med" len="med"/>
                      <a:tailEnd type="none" w="med" len="med"/>
                    </a:lnR>
                    <a:lnT w="9525" cap="flat" cmpd="sng" algn="ctr">
                      <a:solidFill>
                        <a:srgbClr val="DCD4E8"/>
                      </a:solidFill>
                      <a:prstDash val="solid"/>
                      <a:round/>
                      <a:headEnd type="none" w="med" len="med"/>
                      <a:tailEnd type="none" w="med" len="med"/>
                    </a:lnT>
                    <a:lnB w="9525" cap="flat" cmpd="sng" algn="ctr">
                      <a:solidFill>
                        <a:srgbClr val="DCD4E8"/>
                      </a:solidFill>
                      <a:prstDash val="solid"/>
                      <a:round/>
                      <a:headEnd type="none" w="med" len="med"/>
                      <a:tailEnd type="none" w="med" len="med"/>
                    </a:lnB>
                    <a:solidFill>
                      <a:srgbClr val="FFFFFF"/>
                    </a:solidFill>
                  </a:tcPr>
                </a:tc>
                <a:tc>
                  <a:txBody>
                    <a:bodyPr/>
                    <a:lstStyle/>
                    <a:p>
                      <a:pPr algn="r" indent="0" marL="0">
                        <a:buNone/>
                      </a:pPr>
                      <a:r>
                        <a:rPr lang="en-US" sz="1200" dirty="0">
                          <a:solidFill>
                            <a:srgbClr val="3A3838"/>
                          </a:solidFill>
                          <a:latin typeface="Calibri" pitchFamily="34" charset="0"/>
                          <a:ea typeface="Calibri" pitchFamily="34" charset="-122"/>
                          <a:cs typeface="Calibri" pitchFamily="34" charset="-120"/>
                        </a:rPr>
                        <a:t>55</a:t>
                      </a:r>
                      <a:endParaRPr lang="en-US" sz="1200" dirty="0">
                        <a:latin typeface="Calibri" charset="0"/>
                        <a:ea typeface="Calibri" charset="0"/>
                        <a:cs typeface="Calibri" charset="0"/>
                      </a:endParaRPr>
                    </a:p>
                  </a:txBody>
                  <a:tcPr marL="36576" marR="36576" marT="36576" marB="36576" anchor="ctr">
                    <a:lnL w="9525" cap="flat" cmpd="sng" algn="ctr">
                      <a:solidFill>
                        <a:srgbClr val="DCD4E8"/>
                      </a:solidFill>
                      <a:prstDash val="solid"/>
                      <a:round/>
                      <a:headEnd type="none" w="med" len="med"/>
                      <a:tailEnd type="none" w="med" len="med"/>
                    </a:lnL>
                    <a:lnR w="9525" cap="flat" cmpd="sng" algn="ctr">
                      <a:solidFill>
                        <a:srgbClr val="DCD4E8"/>
                      </a:solidFill>
                      <a:prstDash val="solid"/>
                      <a:round/>
                      <a:headEnd type="none" w="med" len="med"/>
                      <a:tailEnd type="none" w="med" len="med"/>
                    </a:lnR>
                    <a:lnT w="9525" cap="flat" cmpd="sng" algn="ctr">
                      <a:solidFill>
                        <a:srgbClr val="DCD4E8"/>
                      </a:solidFill>
                      <a:prstDash val="solid"/>
                      <a:round/>
                      <a:headEnd type="none" w="med" len="med"/>
                      <a:tailEnd type="none" w="med" len="med"/>
                    </a:lnT>
                    <a:lnB w="9525" cap="flat" cmpd="sng" algn="ctr">
                      <a:solidFill>
                        <a:srgbClr val="DCD4E8"/>
                      </a:solidFill>
                      <a:prstDash val="solid"/>
                      <a:round/>
                      <a:headEnd type="none" w="med" len="med"/>
                      <a:tailEnd type="none" w="med" len="med"/>
                    </a:lnB>
                    <a:solidFill>
                      <a:srgbClr val="FFFFFF"/>
                    </a:solidFill>
                  </a:tcPr>
                </a:tc>
                <a:tc>
                  <a:txBody>
                    <a:bodyPr/>
                    <a:lstStyle/>
                    <a:p>
                      <a:pPr algn="r" indent="0" marL="0">
                        <a:buNone/>
                      </a:pPr>
                      <a:r>
                        <a:rPr lang="en-US" sz="1200" dirty="0">
                          <a:solidFill>
                            <a:srgbClr val="3A3838"/>
                          </a:solidFill>
                          <a:latin typeface="Calibri" pitchFamily="34" charset="0"/>
                          <a:ea typeface="Calibri" pitchFamily="34" charset="-122"/>
                          <a:cs typeface="Calibri" pitchFamily="34" charset="-120"/>
                        </a:rPr>
                        <a:t>80</a:t>
                      </a:r>
                      <a:endParaRPr lang="en-US" sz="1200" dirty="0">
                        <a:latin typeface="Calibri" charset="0"/>
                        <a:ea typeface="Calibri" charset="0"/>
                        <a:cs typeface="Calibri" charset="0"/>
                      </a:endParaRPr>
                    </a:p>
                  </a:txBody>
                  <a:tcPr marL="36576" marR="36576" marT="36576" marB="36576" anchor="ctr">
                    <a:lnL w="9525" cap="flat" cmpd="sng" algn="ctr">
                      <a:solidFill>
                        <a:srgbClr val="DCD4E8"/>
                      </a:solidFill>
                      <a:prstDash val="solid"/>
                      <a:round/>
                      <a:headEnd type="none" w="med" len="med"/>
                      <a:tailEnd type="none" w="med" len="med"/>
                    </a:lnL>
                    <a:lnR w="9525" cap="flat" cmpd="sng" algn="ctr">
                      <a:solidFill>
                        <a:srgbClr val="DCD4E8"/>
                      </a:solidFill>
                      <a:prstDash val="solid"/>
                      <a:round/>
                      <a:headEnd type="none" w="med" len="med"/>
                      <a:tailEnd type="none" w="med" len="med"/>
                    </a:lnR>
                    <a:lnT w="9525" cap="flat" cmpd="sng" algn="ctr">
                      <a:solidFill>
                        <a:srgbClr val="DCD4E8"/>
                      </a:solidFill>
                      <a:prstDash val="solid"/>
                      <a:round/>
                      <a:headEnd type="none" w="med" len="med"/>
                      <a:tailEnd type="none" w="med" len="med"/>
                    </a:lnT>
                    <a:lnB w="9525" cap="flat" cmpd="sng" algn="ctr">
                      <a:solidFill>
                        <a:srgbClr val="DCD4E8"/>
                      </a:solidFill>
                      <a:prstDash val="solid"/>
                      <a:round/>
                      <a:headEnd type="none" w="med" len="med"/>
                      <a:tailEnd type="none" w="med" len="med"/>
                    </a:lnB>
                    <a:solidFill>
                      <a:srgbClr val="FFFFFF"/>
                    </a:solidFill>
                  </a:tcPr>
                </a:tc>
                <a:tc>
                  <a:txBody>
                    <a:bodyPr/>
                    <a:lstStyle/>
                    <a:p>
                      <a:pPr algn="r" indent="0" marL="0">
                        <a:buNone/>
                      </a:pPr>
                      <a:r>
                        <a:rPr lang="en-US" sz="1200" dirty="0">
                          <a:solidFill>
                            <a:srgbClr val="3A3838"/>
                          </a:solidFill>
                          <a:latin typeface="Calibri" pitchFamily="34" charset="0"/>
                          <a:ea typeface="Calibri" pitchFamily="34" charset="-122"/>
                          <a:cs typeface="Calibri" pitchFamily="34" charset="-120"/>
                        </a:rPr>
                        <a:t>75</a:t>
                      </a:r>
                      <a:endParaRPr lang="en-US" sz="1200" dirty="0">
                        <a:latin typeface="Calibri" charset="0"/>
                        <a:ea typeface="Calibri" charset="0"/>
                        <a:cs typeface="Calibri" charset="0"/>
                      </a:endParaRPr>
                    </a:p>
                  </a:txBody>
                  <a:tcPr marL="36576" marR="36576" marT="36576" marB="36576" anchor="ctr">
                    <a:lnL w="9525" cap="flat" cmpd="sng" algn="ctr">
                      <a:solidFill>
                        <a:srgbClr val="DCD4E8"/>
                      </a:solidFill>
                      <a:prstDash val="solid"/>
                      <a:round/>
                      <a:headEnd type="none" w="med" len="med"/>
                      <a:tailEnd type="none" w="med" len="med"/>
                    </a:lnL>
                    <a:lnR w="9525" cap="flat" cmpd="sng" algn="ctr">
                      <a:solidFill>
                        <a:srgbClr val="DCD4E8"/>
                      </a:solidFill>
                      <a:prstDash val="solid"/>
                      <a:round/>
                      <a:headEnd type="none" w="med" len="med"/>
                      <a:tailEnd type="none" w="med" len="med"/>
                    </a:lnR>
                    <a:lnT w="9525" cap="flat" cmpd="sng" algn="ctr">
                      <a:solidFill>
                        <a:srgbClr val="DCD4E8"/>
                      </a:solidFill>
                      <a:prstDash val="solid"/>
                      <a:round/>
                      <a:headEnd type="none" w="med" len="med"/>
                      <a:tailEnd type="none" w="med" len="med"/>
                    </a:lnT>
                    <a:lnB w="9525" cap="flat" cmpd="sng" algn="ctr">
                      <a:solidFill>
                        <a:srgbClr val="DCD4E8"/>
                      </a:solidFill>
                      <a:prstDash val="solid"/>
                      <a:round/>
                      <a:headEnd type="none" w="med" len="med"/>
                      <a:tailEnd type="none" w="med" len="med"/>
                    </a:lnB>
                    <a:solidFill>
                      <a:srgbClr val="FFFFFF"/>
                    </a:solidFill>
                  </a:tcPr>
                </a:tc>
              </a:tr>
              <a:tr h="228600">
                <a:tc>
                  <a:txBody>
                    <a:bodyPr/>
                    <a:lstStyle/>
                    <a:p>
                      <a:pPr algn="l" indent="0" marL="0">
                        <a:buNone/>
                      </a:pPr>
                      <a:r>
                        <a:rPr lang="en-US" sz="1200" dirty="0">
                          <a:solidFill>
                            <a:srgbClr val="3A3838"/>
                          </a:solidFill>
                          <a:latin typeface="Calibri" pitchFamily="34" charset="0"/>
                          <a:ea typeface="Calibri" pitchFamily="34" charset="-122"/>
                          <a:cs typeface="Calibri" pitchFamily="34" charset="-120"/>
                        </a:rPr>
                        <a:t>Adoption engine</a:t>
                      </a:r>
                      <a:endParaRPr lang="en-US" sz="1200" dirty="0">
                        <a:latin typeface="Calibri" charset="0"/>
                        <a:ea typeface="Calibri" charset="0"/>
                        <a:cs typeface="Calibri" charset="0"/>
                      </a:endParaRPr>
                    </a:p>
                  </a:txBody>
                  <a:tcPr marL="36576" marR="36576" marT="36576" marB="36576" anchor="ctr">
                    <a:lnL w="9525" cap="flat" cmpd="sng" algn="ctr">
                      <a:solidFill>
                        <a:srgbClr val="DCD4E8"/>
                      </a:solidFill>
                      <a:prstDash val="solid"/>
                      <a:round/>
                      <a:headEnd type="none" w="med" len="med"/>
                      <a:tailEnd type="none" w="med" len="med"/>
                    </a:lnL>
                    <a:lnR w="9525" cap="flat" cmpd="sng" algn="ctr">
                      <a:solidFill>
                        <a:srgbClr val="DCD4E8"/>
                      </a:solidFill>
                      <a:prstDash val="solid"/>
                      <a:round/>
                      <a:headEnd type="none" w="med" len="med"/>
                      <a:tailEnd type="none" w="med" len="med"/>
                    </a:lnR>
                    <a:lnT w="9525" cap="flat" cmpd="sng" algn="ctr">
                      <a:solidFill>
                        <a:srgbClr val="DCD4E8"/>
                      </a:solidFill>
                      <a:prstDash val="solid"/>
                      <a:round/>
                      <a:headEnd type="none" w="med" len="med"/>
                      <a:tailEnd type="none" w="med" len="med"/>
                    </a:lnT>
                    <a:lnB w="9525" cap="flat" cmpd="sng" algn="ctr">
                      <a:solidFill>
                        <a:srgbClr val="DCD4E8"/>
                      </a:solidFill>
                      <a:prstDash val="solid"/>
                      <a:round/>
                      <a:headEnd type="none" w="med" len="med"/>
                      <a:tailEnd type="none" w="med" len="med"/>
                    </a:lnB>
                    <a:solidFill>
                      <a:srgbClr val="FBF8FE"/>
                    </a:solidFill>
                  </a:tcPr>
                </a:tc>
                <a:tc>
                  <a:txBody>
                    <a:bodyPr/>
                    <a:lstStyle/>
                    <a:p>
                      <a:pPr algn="r" indent="0" marL="0">
                        <a:buNone/>
                      </a:pPr>
                      <a:r>
                        <a:rPr lang="en-US" sz="1200" dirty="0">
                          <a:solidFill>
                            <a:srgbClr val="3A3838"/>
                          </a:solidFill>
                          <a:latin typeface="Calibri" pitchFamily="34" charset="0"/>
                          <a:ea typeface="Calibri" pitchFamily="34" charset="-122"/>
                          <a:cs typeface="Calibri" pitchFamily="34" charset="-120"/>
                        </a:rPr>
                        <a:t>35</a:t>
                      </a:r>
                      <a:endParaRPr lang="en-US" sz="1200" dirty="0">
                        <a:latin typeface="Calibri" charset="0"/>
                        <a:ea typeface="Calibri" charset="0"/>
                        <a:cs typeface="Calibri" charset="0"/>
                      </a:endParaRPr>
                    </a:p>
                  </a:txBody>
                  <a:tcPr marL="36576" marR="36576" marT="36576" marB="36576" anchor="ctr">
                    <a:lnL w="9525" cap="flat" cmpd="sng" algn="ctr">
                      <a:solidFill>
                        <a:srgbClr val="DCD4E8"/>
                      </a:solidFill>
                      <a:prstDash val="solid"/>
                      <a:round/>
                      <a:headEnd type="none" w="med" len="med"/>
                      <a:tailEnd type="none" w="med" len="med"/>
                    </a:lnL>
                    <a:lnR w="9525" cap="flat" cmpd="sng" algn="ctr">
                      <a:solidFill>
                        <a:srgbClr val="DCD4E8"/>
                      </a:solidFill>
                      <a:prstDash val="solid"/>
                      <a:round/>
                      <a:headEnd type="none" w="med" len="med"/>
                      <a:tailEnd type="none" w="med" len="med"/>
                    </a:lnR>
                    <a:lnT w="9525" cap="flat" cmpd="sng" algn="ctr">
                      <a:solidFill>
                        <a:srgbClr val="DCD4E8"/>
                      </a:solidFill>
                      <a:prstDash val="solid"/>
                      <a:round/>
                      <a:headEnd type="none" w="med" len="med"/>
                      <a:tailEnd type="none" w="med" len="med"/>
                    </a:lnT>
                    <a:lnB w="9525" cap="flat" cmpd="sng" algn="ctr">
                      <a:solidFill>
                        <a:srgbClr val="DCD4E8"/>
                      </a:solidFill>
                      <a:prstDash val="solid"/>
                      <a:round/>
                      <a:headEnd type="none" w="med" len="med"/>
                      <a:tailEnd type="none" w="med" len="med"/>
                    </a:lnB>
                    <a:solidFill>
                      <a:srgbClr val="FBF8FE"/>
                    </a:solidFill>
                  </a:tcPr>
                </a:tc>
                <a:tc>
                  <a:txBody>
                    <a:bodyPr/>
                    <a:lstStyle/>
                    <a:p>
                      <a:pPr algn="r" indent="0" marL="0">
                        <a:buNone/>
                      </a:pPr>
                      <a:r>
                        <a:rPr lang="en-US" sz="1200" dirty="0">
                          <a:solidFill>
                            <a:srgbClr val="3A3838"/>
                          </a:solidFill>
                          <a:latin typeface="Calibri" pitchFamily="34" charset="0"/>
                          <a:ea typeface="Calibri" pitchFamily="34" charset="-122"/>
                          <a:cs typeface="Calibri" pitchFamily="34" charset="-120"/>
                        </a:rPr>
                        <a:t>45</a:t>
                      </a:r>
                      <a:endParaRPr lang="en-US" sz="1200" dirty="0">
                        <a:latin typeface="Calibri" charset="0"/>
                        <a:ea typeface="Calibri" charset="0"/>
                        <a:cs typeface="Calibri" charset="0"/>
                      </a:endParaRPr>
                    </a:p>
                  </a:txBody>
                  <a:tcPr marL="36576" marR="36576" marT="36576" marB="36576" anchor="ctr">
                    <a:lnL w="9525" cap="flat" cmpd="sng" algn="ctr">
                      <a:solidFill>
                        <a:srgbClr val="DCD4E8"/>
                      </a:solidFill>
                      <a:prstDash val="solid"/>
                      <a:round/>
                      <a:headEnd type="none" w="med" len="med"/>
                      <a:tailEnd type="none" w="med" len="med"/>
                    </a:lnL>
                    <a:lnR w="9525" cap="flat" cmpd="sng" algn="ctr">
                      <a:solidFill>
                        <a:srgbClr val="DCD4E8"/>
                      </a:solidFill>
                      <a:prstDash val="solid"/>
                      <a:round/>
                      <a:headEnd type="none" w="med" len="med"/>
                      <a:tailEnd type="none" w="med" len="med"/>
                    </a:lnR>
                    <a:lnT w="9525" cap="flat" cmpd="sng" algn="ctr">
                      <a:solidFill>
                        <a:srgbClr val="DCD4E8"/>
                      </a:solidFill>
                      <a:prstDash val="solid"/>
                      <a:round/>
                      <a:headEnd type="none" w="med" len="med"/>
                      <a:tailEnd type="none" w="med" len="med"/>
                    </a:lnT>
                    <a:lnB w="9525" cap="flat" cmpd="sng" algn="ctr">
                      <a:solidFill>
                        <a:srgbClr val="DCD4E8"/>
                      </a:solidFill>
                      <a:prstDash val="solid"/>
                      <a:round/>
                      <a:headEnd type="none" w="med" len="med"/>
                      <a:tailEnd type="none" w="med" len="med"/>
                    </a:lnB>
                    <a:solidFill>
                      <a:srgbClr val="FBF8FE"/>
                    </a:solidFill>
                  </a:tcPr>
                </a:tc>
                <a:tc>
                  <a:txBody>
                    <a:bodyPr/>
                    <a:lstStyle/>
                    <a:p>
                      <a:pPr algn="r" indent="0" marL="0">
                        <a:buNone/>
                      </a:pPr>
                      <a:r>
                        <a:rPr lang="en-US" sz="1200" dirty="0">
                          <a:solidFill>
                            <a:srgbClr val="3A3838"/>
                          </a:solidFill>
                          <a:latin typeface="Calibri" pitchFamily="34" charset="0"/>
                          <a:ea typeface="Calibri" pitchFamily="34" charset="-122"/>
                          <a:cs typeface="Calibri" pitchFamily="34" charset="-120"/>
                        </a:rPr>
                        <a:t>35</a:t>
                      </a:r>
                      <a:endParaRPr lang="en-US" sz="1200" dirty="0">
                        <a:latin typeface="Calibri" charset="0"/>
                        <a:ea typeface="Calibri" charset="0"/>
                        <a:cs typeface="Calibri" charset="0"/>
                      </a:endParaRPr>
                    </a:p>
                  </a:txBody>
                  <a:tcPr marL="36576" marR="36576" marT="36576" marB="36576" anchor="ctr">
                    <a:lnL w="9525" cap="flat" cmpd="sng" algn="ctr">
                      <a:solidFill>
                        <a:srgbClr val="DCD4E8"/>
                      </a:solidFill>
                      <a:prstDash val="solid"/>
                      <a:round/>
                      <a:headEnd type="none" w="med" len="med"/>
                      <a:tailEnd type="none" w="med" len="med"/>
                    </a:lnL>
                    <a:lnR w="9525" cap="flat" cmpd="sng" algn="ctr">
                      <a:solidFill>
                        <a:srgbClr val="DCD4E8"/>
                      </a:solidFill>
                      <a:prstDash val="solid"/>
                      <a:round/>
                      <a:headEnd type="none" w="med" len="med"/>
                      <a:tailEnd type="none" w="med" len="med"/>
                    </a:lnR>
                    <a:lnT w="9525" cap="flat" cmpd="sng" algn="ctr">
                      <a:solidFill>
                        <a:srgbClr val="DCD4E8"/>
                      </a:solidFill>
                      <a:prstDash val="solid"/>
                      <a:round/>
                      <a:headEnd type="none" w="med" len="med"/>
                      <a:tailEnd type="none" w="med" len="med"/>
                    </a:lnT>
                    <a:lnB w="9525" cap="flat" cmpd="sng" algn="ctr">
                      <a:solidFill>
                        <a:srgbClr val="DCD4E8"/>
                      </a:solidFill>
                      <a:prstDash val="solid"/>
                      <a:round/>
                      <a:headEnd type="none" w="med" len="med"/>
                      <a:tailEnd type="none" w="med" len="med"/>
                    </a:lnB>
                    <a:solidFill>
                      <a:srgbClr val="FBF8FE"/>
                    </a:solidFill>
                  </a:tcPr>
                </a:tc>
              </a:tr>
              <a:tr h="228600">
                <a:tc>
                  <a:txBody>
                    <a:bodyPr/>
                    <a:lstStyle/>
                    <a:p>
                      <a:pPr algn="l" indent="0" marL="0">
                        <a:buNone/>
                      </a:pPr>
                      <a:r>
                        <a:rPr lang="en-US" sz="1200" dirty="0">
                          <a:solidFill>
                            <a:srgbClr val="3A3838"/>
                          </a:solidFill>
                          <a:latin typeface="Calibri" pitchFamily="34" charset="0"/>
                          <a:ea typeface="Calibri" pitchFamily="34" charset="-122"/>
                          <a:cs typeface="Calibri" pitchFamily="34" charset="-120"/>
                        </a:rPr>
                        <a:t>Dealer co-investment</a:t>
                      </a:r>
                      <a:endParaRPr lang="en-US" sz="1200" dirty="0">
                        <a:latin typeface="Calibri" charset="0"/>
                        <a:ea typeface="Calibri" charset="0"/>
                        <a:cs typeface="Calibri" charset="0"/>
                      </a:endParaRPr>
                    </a:p>
                  </a:txBody>
                  <a:tcPr marL="36576" marR="36576" marT="36576" marB="36576" anchor="ctr">
                    <a:lnL w="9525" cap="flat" cmpd="sng" algn="ctr">
                      <a:solidFill>
                        <a:srgbClr val="DCD4E8"/>
                      </a:solidFill>
                      <a:prstDash val="solid"/>
                      <a:round/>
                      <a:headEnd type="none" w="med" len="med"/>
                      <a:tailEnd type="none" w="med" len="med"/>
                    </a:lnL>
                    <a:lnR w="9525" cap="flat" cmpd="sng" algn="ctr">
                      <a:solidFill>
                        <a:srgbClr val="DCD4E8"/>
                      </a:solidFill>
                      <a:prstDash val="solid"/>
                      <a:round/>
                      <a:headEnd type="none" w="med" len="med"/>
                      <a:tailEnd type="none" w="med" len="med"/>
                    </a:lnR>
                    <a:lnT w="9525" cap="flat" cmpd="sng" algn="ctr">
                      <a:solidFill>
                        <a:srgbClr val="DCD4E8"/>
                      </a:solidFill>
                      <a:prstDash val="solid"/>
                      <a:round/>
                      <a:headEnd type="none" w="med" len="med"/>
                      <a:tailEnd type="none" w="med" len="med"/>
                    </a:lnT>
                    <a:lnB w="9525" cap="flat" cmpd="sng" algn="ctr">
                      <a:solidFill>
                        <a:srgbClr val="DCD4E8"/>
                      </a:solidFill>
                      <a:prstDash val="solid"/>
                      <a:round/>
                      <a:headEnd type="none" w="med" len="med"/>
                      <a:tailEnd type="none" w="med" len="med"/>
                    </a:lnB>
                    <a:solidFill>
                      <a:srgbClr val="FFFFFF"/>
                    </a:solidFill>
                  </a:tcPr>
                </a:tc>
                <a:tc>
                  <a:txBody>
                    <a:bodyPr/>
                    <a:lstStyle/>
                    <a:p>
                      <a:pPr algn="r" indent="0" marL="0">
                        <a:buNone/>
                      </a:pPr>
                      <a:r>
                        <a:rPr lang="en-US" sz="1200" dirty="0">
                          <a:solidFill>
                            <a:srgbClr val="3A3838"/>
                          </a:solidFill>
                          <a:latin typeface="Calibri" pitchFamily="34" charset="0"/>
                          <a:ea typeface="Calibri" pitchFamily="34" charset="-122"/>
                          <a:cs typeface="Calibri" pitchFamily="34" charset="-120"/>
                        </a:rPr>
                        <a:t>30</a:t>
                      </a:r>
                      <a:endParaRPr lang="en-US" sz="1200" dirty="0">
                        <a:latin typeface="Calibri" charset="0"/>
                        <a:ea typeface="Calibri" charset="0"/>
                        <a:cs typeface="Calibri" charset="0"/>
                      </a:endParaRPr>
                    </a:p>
                  </a:txBody>
                  <a:tcPr marL="36576" marR="36576" marT="36576" marB="36576" anchor="ctr">
                    <a:lnL w="9525" cap="flat" cmpd="sng" algn="ctr">
                      <a:solidFill>
                        <a:srgbClr val="DCD4E8"/>
                      </a:solidFill>
                      <a:prstDash val="solid"/>
                      <a:round/>
                      <a:headEnd type="none" w="med" len="med"/>
                      <a:tailEnd type="none" w="med" len="med"/>
                    </a:lnL>
                    <a:lnR w="9525" cap="flat" cmpd="sng" algn="ctr">
                      <a:solidFill>
                        <a:srgbClr val="DCD4E8"/>
                      </a:solidFill>
                      <a:prstDash val="solid"/>
                      <a:round/>
                      <a:headEnd type="none" w="med" len="med"/>
                      <a:tailEnd type="none" w="med" len="med"/>
                    </a:lnR>
                    <a:lnT w="9525" cap="flat" cmpd="sng" algn="ctr">
                      <a:solidFill>
                        <a:srgbClr val="DCD4E8"/>
                      </a:solidFill>
                      <a:prstDash val="solid"/>
                      <a:round/>
                      <a:headEnd type="none" w="med" len="med"/>
                      <a:tailEnd type="none" w="med" len="med"/>
                    </a:lnT>
                    <a:lnB w="9525" cap="flat" cmpd="sng" algn="ctr">
                      <a:solidFill>
                        <a:srgbClr val="DCD4E8"/>
                      </a:solidFill>
                      <a:prstDash val="solid"/>
                      <a:round/>
                      <a:headEnd type="none" w="med" len="med"/>
                      <a:tailEnd type="none" w="med" len="med"/>
                    </a:lnB>
                    <a:solidFill>
                      <a:srgbClr val="FFFFFF"/>
                    </a:solidFill>
                  </a:tcPr>
                </a:tc>
                <a:tc>
                  <a:txBody>
                    <a:bodyPr/>
                    <a:lstStyle/>
                    <a:p>
                      <a:pPr algn="r" indent="0" marL="0">
                        <a:buNone/>
                      </a:pPr>
                      <a:r>
                        <a:rPr lang="en-US" sz="1200" dirty="0">
                          <a:solidFill>
                            <a:srgbClr val="3A3838"/>
                          </a:solidFill>
                          <a:latin typeface="Calibri" pitchFamily="34" charset="0"/>
                          <a:ea typeface="Calibri" pitchFamily="34" charset="-122"/>
                          <a:cs typeface="Calibri" pitchFamily="34" charset="-120"/>
                        </a:rPr>
                        <a:t>50</a:t>
                      </a:r>
                      <a:endParaRPr lang="en-US" sz="1200" dirty="0">
                        <a:latin typeface="Calibri" charset="0"/>
                        <a:ea typeface="Calibri" charset="0"/>
                        <a:cs typeface="Calibri" charset="0"/>
                      </a:endParaRPr>
                    </a:p>
                  </a:txBody>
                  <a:tcPr marL="36576" marR="36576" marT="36576" marB="36576" anchor="ctr">
                    <a:lnL w="9525" cap="flat" cmpd="sng" algn="ctr">
                      <a:solidFill>
                        <a:srgbClr val="DCD4E8"/>
                      </a:solidFill>
                      <a:prstDash val="solid"/>
                      <a:round/>
                      <a:headEnd type="none" w="med" len="med"/>
                      <a:tailEnd type="none" w="med" len="med"/>
                    </a:lnL>
                    <a:lnR w="9525" cap="flat" cmpd="sng" algn="ctr">
                      <a:solidFill>
                        <a:srgbClr val="DCD4E8"/>
                      </a:solidFill>
                      <a:prstDash val="solid"/>
                      <a:round/>
                      <a:headEnd type="none" w="med" len="med"/>
                      <a:tailEnd type="none" w="med" len="med"/>
                    </a:lnR>
                    <a:lnT w="9525" cap="flat" cmpd="sng" algn="ctr">
                      <a:solidFill>
                        <a:srgbClr val="DCD4E8"/>
                      </a:solidFill>
                      <a:prstDash val="solid"/>
                      <a:round/>
                      <a:headEnd type="none" w="med" len="med"/>
                      <a:tailEnd type="none" w="med" len="med"/>
                    </a:lnT>
                    <a:lnB w="9525" cap="flat" cmpd="sng" algn="ctr">
                      <a:solidFill>
                        <a:srgbClr val="DCD4E8"/>
                      </a:solidFill>
                      <a:prstDash val="solid"/>
                      <a:round/>
                      <a:headEnd type="none" w="med" len="med"/>
                      <a:tailEnd type="none" w="med" len="med"/>
                    </a:lnB>
                    <a:solidFill>
                      <a:srgbClr val="FFFFFF"/>
                    </a:solidFill>
                  </a:tcPr>
                </a:tc>
                <a:tc>
                  <a:txBody>
                    <a:bodyPr/>
                    <a:lstStyle/>
                    <a:p>
                      <a:pPr algn="r" indent="0" marL="0">
                        <a:buNone/>
                      </a:pPr>
                      <a:r>
                        <a:rPr lang="en-US" sz="1200" dirty="0">
                          <a:solidFill>
                            <a:srgbClr val="3A3838"/>
                          </a:solidFill>
                          <a:latin typeface="Calibri" pitchFamily="34" charset="0"/>
                          <a:ea typeface="Calibri" pitchFamily="34" charset="-122"/>
                          <a:cs typeface="Calibri" pitchFamily="34" charset="-120"/>
                        </a:rPr>
                        <a:t>50</a:t>
                      </a:r>
                      <a:endParaRPr lang="en-US" sz="1200" dirty="0">
                        <a:latin typeface="Calibri" charset="0"/>
                        <a:ea typeface="Calibri" charset="0"/>
                        <a:cs typeface="Calibri" charset="0"/>
                      </a:endParaRPr>
                    </a:p>
                  </a:txBody>
                  <a:tcPr marL="36576" marR="36576" marT="36576" marB="36576" anchor="ctr">
                    <a:lnL w="9525" cap="flat" cmpd="sng" algn="ctr">
                      <a:solidFill>
                        <a:srgbClr val="DCD4E8"/>
                      </a:solidFill>
                      <a:prstDash val="solid"/>
                      <a:round/>
                      <a:headEnd type="none" w="med" len="med"/>
                      <a:tailEnd type="none" w="med" len="med"/>
                    </a:lnL>
                    <a:lnR w="9525" cap="flat" cmpd="sng" algn="ctr">
                      <a:solidFill>
                        <a:srgbClr val="DCD4E8"/>
                      </a:solidFill>
                      <a:prstDash val="solid"/>
                      <a:round/>
                      <a:headEnd type="none" w="med" len="med"/>
                      <a:tailEnd type="none" w="med" len="med"/>
                    </a:lnR>
                    <a:lnT w="9525" cap="flat" cmpd="sng" algn="ctr">
                      <a:solidFill>
                        <a:srgbClr val="DCD4E8"/>
                      </a:solidFill>
                      <a:prstDash val="solid"/>
                      <a:round/>
                      <a:headEnd type="none" w="med" len="med"/>
                      <a:tailEnd type="none" w="med" len="med"/>
                    </a:lnT>
                    <a:lnB w="9525" cap="flat" cmpd="sng" algn="ctr">
                      <a:solidFill>
                        <a:srgbClr val="DCD4E8"/>
                      </a:solidFill>
                      <a:prstDash val="solid"/>
                      <a:round/>
                      <a:headEnd type="none" w="med" len="med"/>
                      <a:tailEnd type="none" w="med" len="med"/>
                    </a:lnB>
                    <a:solidFill>
                      <a:srgbClr val="FFFFFF"/>
                    </a:solidFill>
                  </a:tcPr>
                </a:tc>
              </a:tr>
              <a:tr h="228600">
                <a:tc>
                  <a:txBody>
                    <a:bodyPr/>
                    <a:lstStyle/>
                    <a:p>
                      <a:pPr algn="l" indent="0" marL="0">
                        <a:buNone/>
                      </a:pPr>
                      <a:r>
                        <a:rPr lang="en-US" sz="1200" dirty="0">
                          <a:solidFill>
                            <a:srgbClr val="3A3838"/>
                          </a:solidFill>
                          <a:latin typeface="Calibri" pitchFamily="34" charset="0"/>
                          <a:ea typeface="Calibri" pitchFamily="34" charset="-122"/>
                          <a:cs typeface="Calibri" pitchFamily="34" charset="-120"/>
                        </a:rPr>
                        <a:t>Care, vendors, value office, loyalty</a:t>
                      </a:r>
                      <a:endParaRPr lang="en-US" sz="1200" dirty="0">
                        <a:latin typeface="Calibri" charset="0"/>
                        <a:ea typeface="Calibri" charset="0"/>
                        <a:cs typeface="Calibri" charset="0"/>
                      </a:endParaRPr>
                    </a:p>
                  </a:txBody>
                  <a:tcPr marL="36576" marR="36576" marT="36576" marB="36576" anchor="ctr">
                    <a:lnL w="9525" cap="flat" cmpd="sng" algn="ctr">
                      <a:solidFill>
                        <a:srgbClr val="DCD4E8"/>
                      </a:solidFill>
                      <a:prstDash val="solid"/>
                      <a:round/>
                      <a:headEnd type="none" w="med" len="med"/>
                      <a:tailEnd type="none" w="med" len="med"/>
                    </a:lnL>
                    <a:lnR w="9525" cap="flat" cmpd="sng" algn="ctr">
                      <a:solidFill>
                        <a:srgbClr val="DCD4E8"/>
                      </a:solidFill>
                      <a:prstDash val="solid"/>
                      <a:round/>
                      <a:headEnd type="none" w="med" len="med"/>
                      <a:tailEnd type="none" w="med" len="med"/>
                    </a:lnR>
                    <a:lnT w="9525" cap="flat" cmpd="sng" algn="ctr">
                      <a:solidFill>
                        <a:srgbClr val="DCD4E8"/>
                      </a:solidFill>
                      <a:prstDash val="solid"/>
                      <a:round/>
                      <a:headEnd type="none" w="med" len="med"/>
                      <a:tailEnd type="none" w="med" len="med"/>
                    </a:lnT>
                    <a:lnB w="9525" cap="flat" cmpd="sng" algn="ctr">
                      <a:solidFill>
                        <a:srgbClr val="DCD4E8"/>
                      </a:solidFill>
                      <a:prstDash val="solid"/>
                      <a:round/>
                      <a:headEnd type="none" w="med" len="med"/>
                      <a:tailEnd type="none" w="med" len="med"/>
                    </a:lnB>
                    <a:solidFill>
                      <a:srgbClr val="FBF8FE"/>
                    </a:solidFill>
                  </a:tcPr>
                </a:tc>
                <a:tc>
                  <a:txBody>
                    <a:bodyPr/>
                    <a:lstStyle/>
                    <a:p>
                      <a:pPr algn="r" indent="0" marL="0">
                        <a:buNone/>
                      </a:pPr>
                      <a:r>
                        <a:rPr lang="en-US" sz="1200" dirty="0">
                          <a:solidFill>
                            <a:srgbClr val="3A3838"/>
                          </a:solidFill>
                          <a:latin typeface="Calibri" pitchFamily="34" charset="0"/>
                          <a:ea typeface="Calibri" pitchFamily="34" charset="-122"/>
                          <a:cs typeface="Calibri" pitchFamily="34" charset="-120"/>
                        </a:rPr>
                        <a:t>50</a:t>
                      </a:r>
                      <a:endParaRPr lang="en-US" sz="1200" dirty="0">
                        <a:latin typeface="Calibri" charset="0"/>
                        <a:ea typeface="Calibri" charset="0"/>
                        <a:cs typeface="Calibri" charset="0"/>
                      </a:endParaRPr>
                    </a:p>
                  </a:txBody>
                  <a:tcPr marL="36576" marR="36576" marT="36576" marB="36576" anchor="ctr">
                    <a:lnL w="9525" cap="flat" cmpd="sng" algn="ctr">
                      <a:solidFill>
                        <a:srgbClr val="DCD4E8"/>
                      </a:solidFill>
                      <a:prstDash val="solid"/>
                      <a:round/>
                      <a:headEnd type="none" w="med" len="med"/>
                      <a:tailEnd type="none" w="med" len="med"/>
                    </a:lnL>
                    <a:lnR w="9525" cap="flat" cmpd="sng" algn="ctr">
                      <a:solidFill>
                        <a:srgbClr val="DCD4E8"/>
                      </a:solidFill>
                      <a:prstDash val="solid"/>
                      <a:round/>
                      <a:headEnd type="none" w="med" len="med"/>
                      <a:tailEnd type="none" w="med" len="med"/>
                    </a:lnR>
                    <a:lnT w="9525" cap="flat" cmpd="sng" algn="ctr">
                      <a:solidFill>
                        <a:srgbClr val="DCD4E8"/>
                      </a:solidFill>
                      <a:prstDash val="solid"/>
                      <a:round/>
                      <a:headEnd type="none" w="med" len="med"/>
                      <a:tailEnd type="none" w="med" len="med"/>
                    </a:lnT>
                    <a:lnB w="9525" cap="flat" cmpd="sng" algn="ctr">
                      <a:solidFill>
                        <a:srgbClr val="DCD4E8"/>
                      </a:solidFill>
                      <a:prstDash val="solid"/>
                      <a:round/>
                      <a:headEnd type="none" w="med" len="med"/>
                      <a:tailEnd type="none" w="med" len="med"/>
                    </a:lnB>
                    <a:solidFill>
                      <a:srgbClr val="FBF8FE"/>
                    </a:solidFill>
                  </a:tcPr>
                </a:tc>
                <a:tc>
                  <a:txBody>
                    <a:bodyPr/>
                    <a:lstStyle/>
                    <a:p>
                      <a:pPr algn="r" indent="0" marL="0">
                        <a:buNone/>
                      </a:pPr>
                      <a:r>
                        <a:rPr lang="en-US" sz="1200" dirty="0">
                          <a:solidFill>
                            <a:srgbClr val="3A3838"/>
                          </a:solidFill>
                          <a:latin typeface="Calibri" pitchFamily="34" charset="0"/>
                          <a:ea typeface="Calibri" pitchFamily="34" charset="-122"/>
                          <a:cs typeface="Calibri" pitchFamily="34" charset="-120"/>
                        </a:rPr>
                        <a:t>35</a:t>
                      </a:r>
                      <a:endParaRPr lang="en-US" sz="1200" dirty="0">
                        <a:latin typeface="Calibri" charset="0"/>
                        <a:ea typeface="Calibri" charset="0"/>
                        <a:cs typeface="Calibri" charset="0"/>
                      </a:endParaRPr>
                    </a:p>
                  </a:txBody>
                  <a:tcPr marL="36576" marR="36576" marT="36576" marB="36576" anchor="ctr">
                    <a:lnL w="9525" cap="flat" cmpd="sng" algn="ctr">
                      <a:solidFill>
                        <a:srgbClr val="DCD4E8"/>
                      </a:solidFill>
                      <a:prstDash val="solid"/>
                      <a:round/>
                      <a:headEnd type="none" w="med" len="med"/>
                      <a:tailEnd type="none" w="med" len="med"/>
                    </a:lnL>
                    <a:lnR w="9525" cap="flat" cmpd="sng" algn="ctr">
                      <a:solidFill>
                        <a:srgbClr val="DCD4E8"/>
                      </a:solidFill>
                      <a:prstDash val="solid"/>
                      <a:round/>
                      <a:headEnd type="none" w="med" len="med"/>
                      <a:tailEnd type="none" w="med" len="med"/>
                    </a:lnR>
                    <a:lnT w="9525" cap="flat" cmpd="sng" algn="ctr">
                      <a:solidFill>
                        <a:srgbClr val="DCD4E8"/>
                      </a:solidFill>
                      <a:prstDash val="solid"/>
                      <a:round/>
                      <a:headEnd type="none" w="med" len="med"/>
                      <a:tailEnd type="none" w="med" len="med"/>
                    </a:lnT>
                    <a:lnB w="9525" cap="flat" cmpd="sng" algn="ctr">
                      <a:solidFill>
                        <a:srgbClr val="DCD4E8"/>
                      </a:solidFill>
                      <a:prstDash val="solid"/>
                      <a:round/>
                      <a:headEnd type="none" w="med" len="med"/>
                      <a:tailEnd type="none" w="med" len="med"/>
                    </a:lnB>
                    <a:solidFill>
                      <a:srgbClr val="FBF8FE"/>
                    </a:solidFill>
                  </a:tcPr>
                </a:tc>
                <a:tc>
                  <a:txBody>
                    <a:bodyPr/>
                    <a:lstStyle/>
                    <a:p>
                      <a:pPr algn="r" indent="0" marL="0">
                        <a:buNone/>
                      </a:pPr>
                      <a:r>
                        <a:rPr lang="en-US" sz="1200" dirty="0">
                          <a:solidFill>
                            <a:srgbClr val="3A3838"/>
                          </a:solidFill>
                          <a:latin typeface="Calibri" pitchFamily="34" charset="0"/>
                          <a:ea typeface="Calibri" pitchFamily="34" charset="-122"/>
                          <a:cs typeface="Calibri" pitchFamily="34" charset="-120"/>
                        </a:rPr>
                        <a:t>70</a:t>
                      </a:r>
                      <a:endParaRPr lang="en-US" sz="1200" dirty="0">
                        <a:latin typeface="Calibri" charset="0"/>
                        <a:ea typeface="Calibri" charset="0"/>
                        <a:cs typeface="Calibri" charset="0"/>
                      </a:endParaRPr>
                    </a:p>
                  </a:txBody>
                  <a:tcPr marL="36576" marR="36576" marT="36576" marB="36576" anchor="ctr">
                    <a:lnL w="9525" cap="flat" cmpd="sng" algn="ctr">
                      <a:solidFill>
                        <a:srgbClr val="DCD4E8"/>
                      </a:solidFill>
                      <a:prstDash val="solid"/>
                      <a:round/>
                      <a:headEnd type="none" w="med" len="med"/>
                      <a:tailEnd type="none" w="med" len="med"/>
                    </a:lnL>
                    <a:lnR w="9525" cap="flat" cmpd="sng" algn="ctr">
                      <a:solidFill>
                        <a:srgbClr val="DCD4E8"/>
                      </a:solidFill>
                      <a:prstDash val="solid"/>
                      <a:round/>
                      <a:headEnd type="none" w="med" len="med"/>
                      <a:tailEnd type="none" w="med" len="med"/>
                    </a:lnR>
                    <a:lnT w="9525" cap="flat" cmpd="sng" algn="ctr">
                      <a:solidFill>
                        <a:srgbClr val="DCD4E8"/>
                      </a:solidFill>
                      <a:prstDash val="solid"/>
                      <a:round/>
                      <a:headEnd type="none" w="med" len="med"/>
                      <a:tailEnd type="none" w="med" len="med"/>
                    </a:lnT>
                    <a:lnB w="9525" cap="flat" cmpd="sng" algn="ctr">
                      <a:solidFill>
                        <a:srgbClr val="DCD4E8"/>
                      </a:solidFill>
                      <a:prstDash val="solid"/>
                      <a:round/>
                      <a:headEnd type="none" w="med" len="med"/>
                      <a:tailEnd type="none" w="med" len="med"/>
                    </a:lnB>
                    <a:solidFill>
                      <a:srgbClr val="FBF8FE"/>
                    </a:solidFill>
                  </a:tcPr>
                </a:tc>
              </a:tr>
              <a:tr h="228600">
                <a:tc>
                  <a:txBody>
                    <a:bodyPr/>
                    <a:lstStyle/>
                    <a:p>
                      <a:pPr algn="l" indent="0" marL="0">
                        <a:buNone/>
                      </a:pPr>
                      <a:r>
                        <a:rPr lang="en-US" sz="1200" dirty="0">
                          <a:solidFill>
                            <a:srgbClr val="3A3838"/>
                          </a:solidFill>
                          <a:latin typeface="Calibri" pitchFamily="34" charset="0"/>
                          <a:ea typeface="Calibri" pitchFamily="34" charset="-122"/>
                          <a:cs typeface="Calibri" pitchFamily="34" charset="-120"/>
                        </a:rPr>
                        <a:t>Total</a:t>
                      </a:r>
                      <a:endParaRPr lang="en-US" sz="1200" dirty="0">
                        <a:latin typeface="Calibri" charset="0"/>
                        <a:ea typeface="Calibri" charset="0"/>
                        <a:cs typeface="Calibri" charset="0"/>
                      </a:endParaRPr>
                    </a:p>
                  </a:txBody>
                  <a:tcPr marL="36576" marR="36576" marT="36576" marB="36576" anchor="ctr">
                    <a:lnL w="9525" cap="flat" cmpd="sng" algn="ctr">
                      <a:solidFill>
                        <a:srgbClr val="DCD4E8"/>
                      </a:solidFill>
                      <a:prstDash val="solid"/>
                      <a:round/>
                      <a:headEnd type="none" w="med" len="med"/>
                      <a:tailEnd type="none" w="med" len="med"/>
                    </a:lnL>
                    <a:lnR w="9525" cap="flat" cmpd="sng" algn="ctr">
                      <a:solidFill>
                        <a:srgbClr val="DCD4E8"/>
                      </a:solidFill>
                      <a:prstDash val="solid"/>
                      <a:round/>
                      <a:headEnd type="none" w="med" len="med"/>
                      <a:tailEnd type="none" w="med" len="med"/>
                    </a:lnR>
                    <a:lnT w="9525" cap="flat" cmpd="sng" algn="ctr">
                      <a:solidFill>
                        <a:srgbClr val="DCD4E8"/>
                      </a:solidFill>
                      <a:prstDash val="solid"/>
                      <a:round/>
                      <a:headEnd type="none" w="med" len="med"/>
                      <a:tailEnd type="none" w="med" len="med"/>
                    </a:lnT>
                    <a:lnB w="9525" cap="flat" cmpd="sng" algn="ctr">
                      <a:solidFill>
                        <a:srgbClr val="DCD4E8"/>
                      </a:solidFill>
                      <a:prstDash val="solid"/>
                      <a:round/>
                      <a:headEnd type="none" w="med" len="med"/>
                      <a:tailEnd type="none" w="med" len="med"/>
                    </a:lnB>
                    <a:solidFill>
                      <a:srgbClr val="FFFFFF"/>
                    </a:solidFill>
                  </a:tcPr>
                </a:tc>
                <a:tc>
                  <a:txBody>
                    <a:bodyPr/>
                    <a:lstStyle/>
                    <a:p>
                      <a:pPr algn="r" indent="0" marL="0">
                        <a:buNone/>
                      </a:pPr>
                      <a:r>
                        <a:rPr lang="en-US" sz="1200" dirty="0">
                          <a:solidFill>
                            <a:srgbClr val="3A3838"/>
                          </a:solidFill>
                          <a:latin typeface="Calibri" pitchFamily="34" charset="0"/>
                          <a:ea typeface="Calibri" pitchFamily="34" charset="-122"/>
                          <a:cs typeface="Calibri" pitchFamily="34" charset="-120"/>
                        </a:rPr>
                        <a:t>250</a:t>
                      </a:r>
                      <a:endParaRPr lang="en-US" sz="1200" dirty="0">
                        <a:latin typeface="Calibri" charset="0"/>
                        <a:ea typeface="Calibri" charset="0"/>
                        <a:cs typeface="Calibri" charset="0"/>
                      </a:endParaRPr>
                    </a:p>
                  </a:txBody>
                  <a:tcPr marL="36576" marR="36576" marT="36576" marB="36576" anchor="ctr">
                    <a:lnL w="9525" cap="flat" cmpd="sng" algn="ctr">
                      <a:solidFill>
                        <a:srgbClr val="DCD4E8"/>
                      </a:solidFill>
                      <a:prstDash val="solid"/>
                      <a:round/>
                      <a:headEnd type="none" w="med" len="med"/>
                      <a:tailEnd type="none" w="med" len="med"/>
                    </a:lnL>
                    <a:lnR w="9525" cap="flat" cmpd="sng" algn="ctr">
                      <a:solidFill>
                        <a:srgbClr val="DCD4E8"/>
                      </a:solidFill>
                      <a:prstDash val="solid"/>
                      <a:round/>
                      <a:headEnd type="none" w="med" len="med"/>
                      <a:tailEnd type="none" w="med" len="med"/>
                    </a:lnR>
                    <a:lnT w="9525" cap="flat" cmpd="sng" algn="ctr">
                      <a:solidFill>
                        <a:srgbClr val="DCD4E8"/>
                      </a:solidFill>
                      <a:prstDash val="solid"/>
                      <a:round/>
                      <a:headEnd type="none" w="med" len="med"/>
                      <a:tailEnd type="none" w="med" len="med"/>
                    </a:lnT>
                    <a:lnB w="9525" cap="flat" cmpd="sng" algn="ctr">
                      <a:solidFill>
                        <a:srgbClr val="DCD4E8"/>
                      </a:solidFill>
                      <a:prstDash val="solid"/>
                      <a:round/>
                      <a:headEnd type="none" w="med" len="med"/>
                      <a:tailEnd type="none" w="med" len="med"/>
                    </a:lnB>
                    <a:solidFill>
                      <a:srgbClr val="FFFFFF"/>
                    </a:solidFill>
                  </a:tcPr>
                </a:tc>
                <a:tc>
                  <a:txBody>
                    <a:bodyPr/>
                    <a:lstStyle/>
                    <a:p>
                      <a:pPr algn="r" indent="0" marL="0">
                        <a:buNone/>
                      </a:pPr>
                      <a:r>
                        <a:rPr lang="en-US" sz="1200" dirty="0">
                          <a:solidFill>
                            <a:srgbClr val="3A3838"/>
                          </a:solidFill>
                          <a:latin typeface="Calibri" pitchFamily="34" charset="0"/>
                          <a:ea typeface="Calibri" pitchFamily="34" charset="-122"/>
                          <a:cs typeface="Calibri" pitchFamily="34" charset="-120"/>
                        </a:rPr>
                        <a:t>250</a:t>
                      </a:r>
                      <a:endParaRPr lang="en-US" sz="1200" dirty="0">
                        <a:latin typeface="Calibri" charset="0"/>
                        <a:ea typeface="Calibri" charset="0"/>
                        <a:cs typeface="Calibri" charset="0"/>
                      </a:endParaRPr>
                    </a:p>
                  </a:txBody>
                  <a:tcPr marL="36576" marR="36576" marT="36576" marB="36576" anchor="ctr">
                    <a:lnL w="9525" cap="flat" cmpd="sng" algn="ctr">
                      <a:solidFill>
                        <a:srgbClr val="DCD4E8"/>
                      </a:solidFill>
                      <a:prstDash val="solid"/>
                      <a:round/>
                      <a:headEnd type="none" w="med" len="med"/>
                      <a:tailEnd type="none" w="med" len="med"/>
                    </a:lnL>
                    <a:lnR w="9525" cap="flat" cmpd="sng" algn="ctr">
                      <a:solidFill>
                        <a:srgbClr val="DCD4E8"/>
                      </a:solidFill>
                      <a:prstDash val="solid"/>
                      <a:round/>
                      <a:headEnd type="none" w="med" len="med"/>
                      <a:tailEnd type="none" w="med" len="med"/>
                    </a:lnR>
                    <a:lnT w="9525" cap="flat" cmpd="sng" algn="ctr">
                      <a:solidFill>
                        <a:srgbClr val="DCD4E8"/>
                      </a:solidFill>
                      <a:prstDash val="solid"/>
                      <a:round/>
                      <a:headEnd type="none" w="med" len="med"/>
                      <a:tailEnd type="none" w="med" len="med"/>
                    </a:lnT>
                    <a:lnB w="9525" cap="flat" cmpd="sng" algn="ctr">
                      <a:solidFill>
                        <a:srgbClr val="DCD4E8"/>
                      </a:solidFill>
                      <a:prstDash val="solid"/>
                      <a:round/>
                      <a:headEnd type="none" w="med" len="med"/>
                      <a:tailEnd type="none" w="med" len="med"/>
                    </a:lnB>
                    <a:solidFill>
                      <a:srgbClr val="FFFFFF"/>
                    </a:solidFill>
                  </a:tcPr>
                </a:tc>
                <a:tc>
                  <a:txBody>
                    <a:bodyPr/>
                    <a:lstStyle/>
                    <a:p>
                      <a:pPr algn="r" indent="0" marL="0">
                        <a:buNone/>
                      </a:pPr>
                      <a:r>
                        <a:rPr lang="en-US" sz="1200" dirty="0">
                          <a:solidFill>
                            <a:srgbClr val="3A3838"/>
                          </a:solidFill>
                          <a:latin typeface="Calibri" pitchFamily="34" charset="0"/>
                          <a:ea typeface="Calibri" pitchFamily="34" charset="-122"/>
                          <a:cs typeface="Calibri" pitchFamily="34" charset="-120"/>
                        </a:rPr>
                        <a:t>250</a:t>
                      </a:r>
                      <a:endParaRPr lang="en-US" sz="1200" dirty="0">
                        <a:latin typeface="Calibri" charset="0"/>
                        <a:ea typeface="Calibri" charset="0"/>
                        <a:cs typeface="Calibri" charset="0"/>
                      </a:endParaRPr>
                    </a:p>
                  </a:txBody>
                  <a:tcPr marL="36576" marR="36576" marT="36576" marB="36576" anchor="ctr">
                    <a:lnL w="9525" cap="flat" cmpd="sng" algn="ctr">
                      <a:solidFill>
                        <a:srgbClr val="DCD4E8"/>
                      </a:solidFill>
                      <a:prstDash val="solid"/>
                      <a:round/>
                      <a:headEnd type="none" w="med" len="med"/>
                      <a:tailEnd type="none" w="med" len="med"/>
                    </a:lnL>
                    <a:lnR w="9525" cap="flat" cmpd="sng" algn="ctr">
                      <a:solidFill>
                        <a:srgbClr val="DCD4E8"/>
                      </a:solidFill>
                      <a:prstDash val="solid"/>
                      <a:round/>
                      <a:headEnd type="none" w="med" len="med"/>
                      <a:tailEnd type="none" w="med" len="med"/>
                    </a:lnR>
                    <a:lnT w="9525" cap="flat" cmpd="sng" algn="ctr">
                      <a:solidFill>
                        <a:srgbClr val="DCD4E8"/>
                      </a:solidFill>
                      <a:prstDash val="solid"/>
                      <a:round/>
                      <a:headEnd type="none" w="med" len="med"/>
                      <a:tailEnd type="none" w="med" len="med"/>
                    </a:lnT>
                    <a:lnB w="9525" cap="flat" cmpd="sng" algn="ctr">
                      <a:solidFill>
                        <a:srgbClr val="DCD4E8"/>
                      </a:solidFill>
                      <a:prstDash val="solid"/>
                      <a:round/>
                      <a:headEnd type="none" w="med" len="med"/>
                      <a:tailEnd type="none" w="med" len="med"/>
                    </a:lnB>
                    <a:solidFill>
                      <a:srgbClr val="FFFFFF"/>
                    </a:solidFill>
                  </a:tcPr>
                </a:tc>
              </a:tr>
            </a:tbl>
          </a:graphicData>
        </a:graphic>
      </p:graphicFrame>
      <p:sp>
        <p:nvSpPr>
          <p:cNvPr id="50" name="Text 45"/>
          <p:cNvSpPr/>
          <p:nvPr/>
        </p:nvSpPr>
        <p:spPr>
          <a:xfrm>
            <a:off x="4224528" y="4626864"/>
            <a:ext cx="3867912" cy="548640"/>
          </a:xfrm>
          <a:prstGeom prst="rect">
            <a:avLst/>
          </a:prstGeom>
          <a:noFill/>
          <a:ln/>
        </p:spPr>
        <p:txBody>
          <a:bodyPr wrap="square" lIns="0" tIns="0" rIns="0" bIns="0" rtlCol="0" anchor="ctr"/>
          <a:lstStyle/>
          <a:p>
            <a:pPr indent="0" marL="0">
              <a:lnSpc>
                <a:spcPct val="98000"/>
              </a:lnSpc>
              <a:buNone/>
            </a:pPr>
            <a:r>
              <a:rPr lang="en-US" sz="1200" dirty="0">
                <a:solidFill>
                  <a:srgbClr val="3A3838"/>
                </a:solidFill>
                <a:latin typeface="Calibri" pitchFamily="34" charset="0"/>
                <a:ea typeface="Calibri" pitchFamily="34" charset="-122"/>
                <a:cs typeface="Calibri" pitchFamily="34" charset="-120"/>
              </a:rPr>
              <a:t>Reallocated from the </a:t>
            </a:r>
            <a:pPr indent="0" marL="0">
              <a:lnSpc>
                <a:spcPct val="98000"/>
              </a:lnSpc>
              <a:buNone/>
            </a:pPr>
            <a:r>
              <a:rPr lang="en-US" sz="1200" b="1" dirty="0">
                <a:solidFill>
                  <a:srgbClr val="3A3838"/>
                </a:solidFill>
                <a:latin typeface="Calibri" pitchFamily="34" charset="0"/>
                <a:ea typeface="Calibri" pitchFamily="34" charset="-122"/>
                <a:cs typeface="Calibri" pitchFamily="34" charset="-120"/>
              </a:rPr>
              <a:t>existing digital budget</a:t>
            </a:r>
            <a:pPr indent="0" marL="0">
              <a:lnSpc>
                <a:spcPct val="98000"/>
              </a:lnSpc>
              <a:buNone/>
            </a:pPr>
            <a:r>
              <a:rPr lang="en-US" sz="1200" dirty="0">
                <a:solidFill>
                  <a:srgbClr val="3A3838"/>
                </a:solidFill>
                <a:latin typeface="Calibri" pitchFamily="34" charset="0"/>
                <a:ea typeface="Calibri" pitchFamily="34" charset="-122"/>
                <a:cs typeface="Calibri" pitchFamily="34" charset="-120"/>
              </a:rPr>
              <a:t> — stopping 25 failed pilots frees capacity inside the envelope; this is not new money.</a:t>
            </a:r>
            <a:endParaRPr lang="en-US" sz="1200" dirty="0"/>
          </a:p>
        </p:txBody>
      </p:sp>
      <p:sp>
        <p:nvSpPr>
          <p:cNvPr id="51" name="Text 46"/>
          <p:cNvSpPr/>
          <p:nvPr/>
        </p:nvSpPr>
        <p:spPr>
          <a:xfrm>
            <a:off x="4224528" y="5193792"/>
            <a:ext cx="3867912" cy="822960"/>
          </a:xfrm>
          <a:prstGeom prst="rect">
            <a:avLst/>
          </a:prstGeom>
          <a:noFill/>
          <a:ln/>
        </p:spPr>
        <p:txBody>
          <a:bodyPr wrap="square" lIns="0" tIns="0" rIns="0" bIns="0" rtlCol="0" anchor="ctr"/>
          <a:lstStyle/>
          <a:p>
            <a:pPr indent="0" marL="0">
              <a:lnSpc>
                <a:spcPct val="98000"/>
              </a:lnSpc>
              <a:buNone/>
            </a:pPr>
            <a:r>
              <a:rPr lang="en-US" sz="1200" dirty="0">
                <a:solidFill>
                  <a:srgbClr val="3A3838"/>
                </a:solidFill>
                <a:latin typeface="Calibri" pitchFamily="34" charset="0"/>
                <a:ea typeface="Calibri" pitchFamily="34" charset="-122"/>
                <a:cs typeface="Calibri" pitchFamily="34" charset="-120"/>
              </a:rPr>
              <a:t>Shape of the shift: </a:t>
            </a:r>
            <a:pPr indent="0" marL="0">
              <a:lnSpc>
                <a:spcPct val="98000"/>
              </a:lnSpc>
              <a:buNone/>
            </a:pPr>
            <a:r>
              <a:rPr lang="en-US" sz="1200" b="1" dirty="0">
                <a:solidFill>
                  <a:srgbClr val="3A3838"/>
                </a:solidFill>
                <a:latin typeface="Calibri" pitchFamily="34" charset="0"/>
                <a:ea typeface="Calibri" pitchFamily="34" charset="-122"/>
                <a:cs typeface="Calibri" pitchFamily="34" charset="-120"/>
              </a:rPr>
              <a:t>foundations spend falls 80→20 while loyalty/EV-aftersales spend rises 50→70</a:t>
            </a:r>
            <a:pPr indent="0" marL="0">
              <a:lnSpc>
                <a:spcPct val="98000"/>
              </a:lnSpc>
              <a:buNone/>
            </a:pPr>
            <a:r>
              <a:rPr lang="en-US" sz="1200" dirty="0">
                <a:solidFill>
                  <a:srgbClr val="3A3838"/>
                </a:solidFill>
                <a:latin typeface="Calibri" pitchFamily="34" charset="0"/>
                <a:ea typeface="Calibri" pitchFamily="34" charset="-122"/>
                <a:cs typeface="Calibri" pitchFamily="34" charset="-120"/>
              </a:rPr>
              <a:t> as the programme moves from building to compounding.</a:t>
            </a:r>
            <a:endParaRPr lang="en-US" sz="1200" dirty="0"/>
          </a:p>
        </p:txBody>
      </p:sp>
      <p:sp>
        <p:nvSpPr>
          <p:cNvPr id="52" name="Shape 47"/>
          <p:cNvSpPr/>
          <p:nvPr/>
        </p:nvSpPr>
        <p:spPr>
          <a:xfrm>
            <a:off x="8275320" y="1920240"/>
            <a:ext cx="292608" cy="292608"/>
          </a:xfrm>
          <a:prstGeom prst="ellipse">
            <a:avLst/>
          </a:prstGeom>
          <a:solidFill>
            <a:srgbClr val="A100FF"/>
          </a:solidFill>
          <a:ln w="12700">
            <a:solidFill>
              <a:srgbClr val="333333"/>
            </a:solidFill>
            <a:prstDash val="solid"/>
          </a:ln>
        </p:spPr>
      </p:sp>
      <p:sp>
        <p:nvSpPr>
          <p:cNvPr id="53" name="Text 48"/>
          <p:cNvSpPr/>
          <p:nvPr/>
        </p:nvSpPr>
        <p:spPr>
          <a:xfrm>
            <a:off x="8275320" y="1920240"/>
            <a:ext cx="292608" cy="29260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54" name="Text 49"/>
          <p:cNvSpPr/>
          <p:nvPr/>
        </p:nvSpPr>
        <p:spPr>
          <a:xfrm>
            <a:off x="8659368" y="1929384"/>
            <a:ext cx="3474720" cy="292608"/>
          </a:xfrm>
          <a:prstGeom prst="rect">
            <a:avLst/>
          </a:prstGeom>
          <a:noFill/>
          <a:ln/>
        </p:spPr>
        <p:txBody>
          <a:bodyPr wrap="square" lIns="0" tIns="0" rIns="0" bIns="0" rtlCol="0" anchor="ctr"/>
          <a:lstStyle/>
          <a:p>
            <a:pPr indent="0" marL="0">
              <a:buNone/>
            </a:pPr>
            <a:r>
              <a:rPr lang="en-US" sz="1350" b="1" dirty="0">
                <a:solidFill>
                  <a:srgbClr val="2A0A45"/>
                </a:solidFill>
                <a:latin typeface="Calibri" pitchFamily="34" charset="0"/>
                <a:ea typeface="Calibri" pitchFamily="34" charset="-122"/>
                <a:cs typeface="Calibri" pitchFamily="34" charset="-120"/>
              </a:rPr>
              <a:t>How value is proved, not claimed</a:t>
            </a:r>
            <a:endParaRPr lang="en-US" sz="1350" dirty="0"/>
          </a:p>
        </p:txBody>
      </p:sp>
      <p:sp>
        <p:nvSpPr>
          <p:cNvPr id="55" name="Text 50"/>
          <p:cNvSpPr/>
          <p:nvPr/>
        </p:nvSpPr>
        <p:spPr>
          <a:xfrm>
            <a:off x="8275320" y="2304288"/>
            <a:ext cx="3776472" cy="1133856"/>
          </a:xfrm>
          <a:prstGeom prst="rect">
            <a:avLst/>
          </a:prstGeom>
          <a:solidFill>
            <a:srgbClr val="F6F1FC"/>
          </a:solidFill>
          <a:ln w="19050">
            <a:solidFill>
              <a:srgbClr val="A100FF"/>
            </a:solidFill>
          </a:ln>
        </p:spPr>
        <p:txBody>
          <a:bodyPr wrap="square" lIns="1270" tIns="1270" rIns="1270" bIns="1270" rtlCol="0" anchor="ctr"/>
          <a:lstStyle/>
          <a:p>
            <a:pPr indent="0" marL="0">
              <a:lnSpc>
                <a:spcPct val="98000"/>
              </a:lnSpc>
              <a:buNone/>
            </a:pPr>
            <a:r>
              <a:rPr lang="en-US" sz="1200" b="1" dirty="0">
                <a:solidFill>
                  <a:srgbClr val="A100FF"/>
                </a:solidFill>
                <a:latin typeface="Calibri" pitchFamily="34" charset="0"/>
                <a:ea typeface="Calibri" pitchFamily="34" charset="-122"/>
                <a:cs typeface="Calibri" pitchFamily="34" charset="-120"/>
              </a:rPr>
              <a:t>Matched control groups. </a:t>
            </a:r>
            <a:pPr indent="0" marL="0">
              <a:lnSpc>
                <a:spcPct val="98000"/>
              </a:lnSpc>
              <a:buNone/>
            </a:pPr>
            <a:r>
              <a:rPr lang="en-US" sz="1200" dirty="0">
                <a:solidFill>
                  <a:srgbClr val="000000"/>
                </a:solidFill>
                <a:latin typeface="Calibri" pitchFamily="34" charset="0"/>
                <a:ea typeface="Calibri" pitchFamily="34" charset="-122"/>
                <a:cs typeface="Calibri" pitchFamily="34" charset="-120"/>
              </a:rPr>
              <a:t>Every wave runs against comparable outlets — same city tier, model mix, base conversion. </a:t>
            </a:r>
            <a:pPr indent="0" marL="0">
              <a:lnSpc>
                <a:spcPct val="98000"/>
              </a:lnSpc>
              <a:buNone/>
            </a:pPr>
            <a:r>
              <a:rPr lang="en-US" sz="1200" b="1" dirty="0">
                <a:solidFill>
                  <a:srgbClr val="3A3838"/>
                </a:solidFill>
                <a:latin typeface="Calibri" pitchFamily="34" charset="0"/>
                <a:ea typeface="Calibri" pitchFamily="34" charset="-122"/>
                <a:cs typeface="Calibri" pitchFamily="34" charset="-120"/>
              </a:rPr>
              <a:t>Benefit is the difference between them</a:t>
            </a:r>
            <a:pPr indent="0" marL="0">
              <a:lnSpc>
                <a:spcPct val="98000"/>
              </a:lnSpc>
              <a:buNone/>
            </a:pPr>
            <a:r>
              <a:rPr lang="en-US" sz="1200" dirty="0">
                <a:solidFill>
                  <a:srgbClr val="000000"/>
                </a:solidFill>
                <a:latin typeface="Calibri" pitchFamily="34" charset="0"/>
                <a:ea typeface="Calibri" pitchFamily="34" charset="-122"/>
                <a:cs typeface="Calibri" pitchFamily="34" charset="-120"/>
              </a:rPr>
              <a:t> — before-and-after cannot separate us from the market.</a:t>
            </a:r>
            <a:endParaRPr lang="en-US" sz="1200" dirty="0"/>
          </a:p>
        </p:txBody>
      </p:sp>
      <p:sp>
        <p:nvSpPr>
          <p:cNvPr id="56" name="Text 51"/>
          <p:cNvSpPr/>
          <p:nvPr/>
        </p:nvSpPr>
        <p:spPr>
          <a:xfrm>
            <a:off x="8275320" y="3566160"/>
            <a:ext cx="3776472" cy="1517904"/>
          </a:xfrm>
          <a:prstGeom prst="rect">
            <a:avLst/>
          </a:prstGeom>
          <a:noFill/>
          <a:ln/>
        </p:spPr>
        <p:txBody>
          <a:bodyPr wrap="square" lIns="0" tIns="0" rIns="0" bIns="0" rtlCol="0" anchor="ctr"/>
          <a:lstStyle/>
          <a:p>
            <a:pPr marL="342900" indent="-342900">
              <a:lnSpc>
                <a:spcPct val="98000"/>
              </a:lnSpc>
              <a:spcAft>
                <a:spcPts val="600"/>
              </a:spcAft>
              <a:buSzPct val="100000"/>
              <a:buChar char="•"/>
            </a:pPr>
            <a:r>
              <a:rPr lang="en-US" sz="1200" dirty="0">
                <a:solidFill>
                  <a:srgbClr val="3A3838"/>
                </a:solidFill>
                <a:latin typeface="Calibri" pitchFamily="34" charset="0"/>
                <a:ea typeface="Calibri" pitchFamily="34" charset="-122"/>
                <a:cs typeface="Calibri" pitchFamily="34" charset="-120"/>
              </a:rPr>
              <a:t>One claim per unit — funnel, loyalty, Vega cannot each bank the same car</a:t>
            </a:r>
            <a:endParaRPr lang="en-US" sz="1200" dirty="0"/>
          </a:p>
          <a:p>
            <a:pPr marL="342900" indent="-342900">
              <a:lnSpc>
                <a:spcPct val="98000"/>
              </a:lnSpc>
              <a:spcAft>
                <a:spcPts val="600"/>
              </a:spcAft>
              <a:buSzPct val="100000"/>
              <a:buChar char="•"/>
            </a:pPr>
            <a:r>
              <a:rPr lang="en-US" sz="1200" dirty="0">
                <a:solidFill>
                  <a:srgbClr val="3A3838"/>
                </a:solidFill>
                <a:latin typeface="Calibri" pitchFamily="34" charset="0"/>
                <a:ea typeface="Calibri" pitchFamily="34" charset="-122"/>
                <a:cs typeface="Calibri" pitchFamily="34" charset="-120"/>
              </a:rPr>
              <a:t>Verified by 3 controllers reporting to the CFO, not the sponsor</a:t>
            </a:r>
            <a:endParaRPr lang="en-US" sz="1200" dirty="0"/>
          </a:p>
          <a:p>
            <a:pPr marL="342900" indent="-342900">
              <a:lnSpc>
                <a:spcPct val="98000"/>
              </a:lnSpc>
              <a:spcAft>
                <a:spcPts val="600"/>
              </a:spcAft>
              <a:buSzPct val="100000"/>
              <a:buChar char="•"/>
            </a:pPr>
            <a:r>
              <a:rPr lang="en-US" sz="1200" dirty="0">
                <a:solidFill>
                  <a:srgbClr val="3A3838"/>
                </a:solidFill>
                <a:latin typeface="Calibri" pitchFamily="34" charset="0"/>
                <a:ea typeface="Calibri" pitchFamily="34" charset="-122"/>
                <a:cs typeface="Calibri" pitchFamily="34" charset="-120"/>
              </a:rPr>
              <a:t>Frontline observations enter the product backlog, not a suggestion box</a:t>
            </a:r>
            <a:endParaRPr lang="en-US" sz="1200" dirty="0"/>
          </a:p>
          <a:p>
            <a:pPr marL="342900" indent="-342900">
              <a:lnSpc>
                <a:spcPct val="98000"/>
              </a:lnSpc>
              <a:spcAft>
                <a:spcPts val="600"/>
              </a:spcAft>
              <a:buSzPct val="100000"/>
              <a:buChar char="•"/>
            </a:pPr>
            <a:r>
              <a:rPr lang="en-US" sz="1200" dirty="0">
                <a:solidFill>
                  <a:srgbClr val="3A3838"/>
                </a:solidFill>
                <a:latin typeface="Calibri" pitchFamily="34" charset="0"/>
                <a:ea typeface="Calibri" pitchFamily="34" charset="-122"/>
                <a:cs typeface="Calibri" pitchFamily="34" charset="-120"/>
              </a:rPr>
              <a:t>Failed gate → budget recycled inside the year, not rolled over</a:t>
            </a:r>
            <a:endParaRPr lang="en-US" sz="1200" dirty="0"/>
          </a:p>
        </p:txBody>
      </p:sp>
      <p:sp>
        <p:nvSpPr>
          <p:cNvPr id="57" name="Text 52"/>
          <p:cNvSpPr/>
          <p:nvPr/>
        </p:nvSpPr>
        <p:spPr>
          <a:xfrm>
            <a:off x="8275320" y="5193792"/>
            <a:ext cx="3776472" cy="932688"/>
          </a:xfrm>
          <a:prstGeom prst="rect">
            <a:avLst/>
          </a:prstGeom>
          <a:solidFill>
            <a:srgbClr val="2A0A45"/>
          </a:solidFill>
          <a:ln/>
        </p:spPr>
        <p:txBody>
          <a:bodyPr wrap="square" lIns="762" tIns="762" rIns="762" bIns="762" rtlCol="0" anchor="ctr"/>
          <a:lstStyle/>
          <a:p>
            <a:pPr indent="0" marL="0">
              <a:lnSpc>
                <a:spcPct val="98000"/>
              </a:lnSpc>
              <a:buNone/>
            </a:pPr>
            <a:r>
              <a:rPr lang="en-US" sz="1200" dirty="0">
                <a:solidFill>
                  <a:srgbClr val="FFFFFF"/>
                </a:solidFill>
                <a:latin typeface="Calibri" pitchFamily="34" charset="0"/>
                <a:ea typeface="Calibri" pitchFamily="34" charset="-122"/>
                <a:cs typeface="Calibri" pitchFamily="34" charset="-120"/>
              </a:rPr>
              <a:t>Gate compliance can be 100% — it is a rule. Verified value cannot: we target </a:t>
            </a:r>
            <a:pPr indent="0" marL="0">
              <a:lnSpc>
                <a:spcPct val="98000"/>
              </a:lnSpc>
              <a:buNone/>
            </a:pPr>
            <a:r>
              <a:rPr lang="en-US" sz="1200" b="1" dirty="0">
                <a:solidFill>
                  <a:srgbClr val="C98CFF"/>
                </a:solidFill>
                <a:latin typeface="Calibri" pitchFamily="34" charset="0"/>
                <a:ea typeface="Calibri" pitchFamily="34" charset="-122"/>
                <a:cs typeface="Calibri" pitchFamily="34" charset="-120"/>
              </a:rPr>
              <a:t>60% by Year 3 vs 12.5% today</a:t>
            </a:r>
            <a:pPr indent="0" marL="0">
              <a:lnSpc>
                <a:spcPct val="98000"/>
              </a:lnSpc>
              <a:buNone/>
            </a:pPr>
            <a:r>
              <a:rPr lang="en-US" sz="1200" dirty="0">
                <a:solidFill>
                  <a:srgbClr val="FFFFFF"/>
                </a:solidFill>
                <a:latin typeface="Calibri" pitchFamily="34" charset="0"/>
                <a:ea typeface="Calibri" pitchFamily="34" charset="-122"/>
                <a:cs typeface="Calibri" pitchFamily="34" charset="-120"/>
              </a:rPr>
              <a:t>. No honest portfolio claims a perfect hit rate.</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137160" y="155448"/>
            <a:ext cx="1874520" cy="41148"/>
          </a:xfrm>
          <a:prstGeom prst="rect">
            <a:avLst/>
          </a:prstGeom>
          <a:solidFill>
            <a:srgbClr val="2A0A45"/>
          </a:solidFill>
          <a:ln w="12700">
            <a:solidFill>
              <a:srgbClr val="333333"/>
            </a:solidFill>
            <a:prstDash val="solid"/>
          </a:ln>
        </p:spPr>
      </p:sp>
      <p:sp>
        <p:nvSpPr>
          <p:cNvPr id="3" name="Shape 1"/>
          <p:cNvSpPr/>
          <p:nvPr/>
        </p:nvSpPr>
        <p:spPr>
          <a:xfrm>
            <a:off x="137160" y="246888"/>
            <a:ext cx="1453896" cy="41148"/>
          </a:xfrm>
          <a:prstGeom prst="rect">
            <a:avLst/>
          </a:prstGeom>
          <a:solidFill>
            <a:srgbClr val="2A0A45"/>
          </a:solidFill>
          <a:ln w="12700">
            <a:solidFill>
              <a:srgbClr val="333333"/>
            </a:solidFill>
            <a:prstDash val="solid"/>
          </a:ln>
        </p:spPr>
      </p:sp>
      <p:sp>
        <p:nvSpPr>
          <p:cNvPr id="4" name="Shape 2"/>
          <p:cNvSpPr/>
          <p:nvPr/>
        </p:nvSpPr>
        <p:spPr>
          <a:xfrm>
            <a:off x="137160" y="338328"/>
            <a:ext cx="1874520" cy="41148"/>
          </a:xfrm>
          <a:prstGeom prst="rect">
            <a:avLst/>
          </a:prstGeom>
          <a:solidFill>
            <a:srgbClr val="2A0A45"/>
          </a:solidFill>
          <a:ln w="12700">
            <a:solidFill>
              <a:srgbClr val="333333"/>
            </a:solidFill>
            <a:prstDash val="solid"/>
          </a:ln>
        </p:spPr>
      </p:sp>
      <p:sp>
        <p:nvSpPr>
          <p:cNvPr id="5" name="Shape 3"/>
          <p:cNvSpPr/>
          <p:nvPr/>
        </p:nvSpPr>
        <p:spPr>
          <a:xfrm>
            <a:off x="10177272" y="155448"/>
            <a:ext cx="1874520" cy="41148"/>
          </a:xfrm>
          <a:prstGeom prst="rect">
            <a:avLst/>
          </a:prstGeom>
          <a:solidFill>
            <a:srgbClr val="2A0A45"/>
          </a:solidFill>
          <a:ln w="12700">
            <a:solidFill>
              <a:srgbClr val="333333"/>
            </a:solidFill>
            <a:prstDash val="solid"/>
          </a:ln>
        </p:spPr>
      </p:sp>
      <p:sp>
        <p:nvSpPr>
          <p:cNvPr id="6" name="Shape 4"/>
          <p:cNvSpPr/>
          <p:nvPr/>
        </p:nvSpPr>
        <p:spPr>
          <a:xfrm>
            <a:off x="10597896" y="246888"/>
            <a:ext cx="1453896" cy="41148"/>
          </a:xfrm>
          <a:prstGeom prst="rect">
            <a:avLst/>
          </a:prstGeom>
          <a:solidFill>
            <a:srgbClr val="2A0A45"/>
          </a:solidFill>
          <a:ln w="12700">
            <a:solidFill>
              <a:srgbClr val="333333"/>
            </a:solidFill>
            <a:prstDash val="solid"/>
          </a:ln>
        </p:spPr>
      </p:sp>
      <p:sp>
        <p:nvSpPr>
          <p:cNvPr id="7" name="Shape 5"/>
          <p:cNvSpPr/>
          <p:nvPr/>
        </p:nvSpPr>
        <p:spPr>
          <a:xfrm>
            <a:off x="10177272" y="338328"/>
            <a:ext cx="1874520" cy="41148"/>
          </a:xfrm>
          <a:prstGeom prst="rect">
            <a:avLst/>
          </a:prstGeom>
          <a:solidFill>
            <a:srgbClr val="2A0A45"/>
          </a:solidFill>
          <a:ln w="12700">
            <a:solidFill>
              <a:srgbClr val="333333"/>
            </a:solidFill>
            <a:prstDash val="solid"/>
          </a:ln>
        </p:spPr>
      </p:sp>
      <p:sp>
        <p:nvSpPr>
          <p:cNvPr id="8" name="Text 6"/>
          <p:cNvSpPr/>
          <p:nvPr/>
        </p:nvSpPr>
        <p:spPr>
          <a:xfrm>
            <a:off x="2057400" y="0"/>
            <a:ext cx="8092440" cy="530352"/>
          </a:xfrm>
          <a:prstGeom prst="rect">
            <a:avLst/>
          </a:prstGeom>
          <a:noFill/>
          <a:ln/>
        </p:spPr>
        <p:txBody>
          <a:bodyPr wrap="square" lIns="0" tIns="0" rIns="0" bIns="0" rtlCol="0" anchor="ctr"/>
          <a:lstStyle/>
          <a:p>
            <a:pPr algn="ctr" indent="0" marL="0">
              <a:buNone/>
            </a:pPr>
            <a:r>
              <a:rPr lang="en-US" sz="2600" b="1" dirty="0">
                <a:solidFill>
                  <a:srgbClr val="000000"/>
                </a:solidFill>
                <a:latin typeface="Calibri" pitchFamily="34" charset="0"/>
                <a:ea typeface="Calibri" pitchFamily="34" charset="-122"/>
                <a:cs typeface="Calibri" pitchFamily="34" charset="-120"/>
              </a:rPr>
              <a:t>TARGETS, THE BRIDGE, AND WHAT COULD GO WRONG</a:t>
            </a:r>
            <a:endParaRPr lang="en-US" sz="2600" dirty="0"/>
          </a:p>
        </p:txBody>
      </p:sp>
      <p:sp>
        <p:nvSpPr>
          <p:cNvPr id="9" name="Text 7"/>
          <p:cNvSpPr/>
          <p:nvPr/>
        </p:nvSpPr>
        <p:spPr>
          <a:xfrm>
            <a:off x="0" y="548640"/>
            <a:ext cx="12191695" cy="310896"/>
          </a:xfrm>
          <a:prstGeom prst="rect">
            <a:avLst/>
          </a:prstGeom>
          <a:solidFill>
            <a:srgbClr val="A100FF"/>
          </a:solid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SHARE IS THE GOAL · DEALER MARGIN &gt;2.5% IS A HARD CONSTRAINT · THE PLAN CLEARS ITS COST EVEN AT 80% ADOPTION</a:t>
            </a:r>
            <a:endParaRPr lang="en-US" sz="1300" dirty="0"/>
          </a:p>
        </p:txBody>
      </p:sp>
      <p:sp>
        <p:nvSpPr>
          <p:cNvPr id="10" name="Shape 8"/>
          <p:cNvSpPr/>
          <p:nvPr/>
        </p:nvSpPr>
        <p:spPr>
          <a:xfrm>
            <a:off x="0" y="859536"/>
            <a:ext cx="12191695" cy="27432"/>
          </a:xfrm>
          <a:prstGeom prst="rect">
            <a:avLst/>
          </a:prstGeom>
          <a:solidFill>
            <a:srgbClr val="2A0A45"/>
          </a:solidFill>
          <a:ln w="12700">
            <a:solidFill>
              <a:srgbClr val="333333"/>
            </a:solidFill>
            <a:prstDash val="solid"/>
          </a:ln>
        </p:spPr>
      </p:sp>
      <p:sp>
        <p:nvSpPr>
          <p:cNvPr id="11" name="Shape 9"/>
          <p:cNvSpPr/>
          <p:nvPr/>
        </p:nvSpPr>
        <p:spPr>
          <a:xfrm>
            <a:off x="0" y="1783080"/>
            <a:ext cx="12191695" cy="27432"/>
          </a:xfrm>
          <a:prstGeom prst="rect">
            <a:avLst/>
          </a:prstGeom>
          <a:solidFill>
            <a:srgbClr val="2A0A45"/>
          </a:solidFill>
          <a:ln w="12700">
            <a:solidFill>
              <a:srgbClr val="333333"/>
            </a:solidFill>
            <a:prstDash val="solid"/>
          </a:ln>
        </p:spPr>
      </p:sp>
      <p:sp>
        <p:nvSpPr>
          <p:cNvPr id="12" name="Shape 10"/>
          <p:cNvSpPr/>
          <p:nvPr/>
        </p:nvSpPr>
        <p:spPr>
          <a:xfrm>
            <a:off x="0" y="6528816"/>
            <a:ext cx="12191695" cy="329184"/>
          </a:xfrm>
          <a:prstGeom prst="rect">
            <a:avLst/>
          </a:prstGeom>
          <a:solidFill>
            <a:srgbClr val="2A0A45"/>
          </a:solidFill>
          <a:ln w="12700">
            <a:solidFill>
              <a:srgbClr val="333333"/>
            </a:solidFill>
            <a:prstDash val="solid"/>
          </a:ln>
        </p:spPr>
      </p:sp>
      <p:sp>
        <p:nvSpPr>
          <p:cNvPr id="13" name="Text 11"/>
          <p:cNvSpPr/>
          <p:nvPr/>
        </p:nvSpPr>
        <p:spPr>
          <a:xfrm>
            <a:off x="137160" y="6528816"/>
            <a:ext cx="9601200" cy="329184"/>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Contribution ₹1.04 lakh / unit (9% of ₹11.56 lakh realisation) · sources: case exhibits 1b–1c, team analysis</a:t>
            </a:r>
            <a:endParaRPr lang="en-US" sz="1200" dirty="0"/>
          </a:p>
        </p:txBody>
      </p:sp>
      <p:sp>
        <p:nvSpPr>
          <p:cNvPr id="14" name="Text 12"/>
          <p:cNvSpPr/>
          <p:nvPr/>
        </p:nvSpPr>
        <p:spPr>
          <a:xfrm>
            <a:off x="10789920" y="6528816"/>
            <a:ext cx="1280160" cy="329184"/>
          </a:xfrm>
          <a:prstGeom prst="rect">
            <a:avLst/>
          </a:prstGeom>
          <a:noFill/>
          <a:ln/>
        </p:spPr>
        <p:txBody>
          <a:bodyPr wrap="square" lIns="0" tIns="0" rIns="0" bIns="0" rtlCol="0" anchor="ctr"/>
          <a:lstStyle/>
          <a:p>
            <a:pPr algn="r" indent="0" marL="0">
              <a:buNone/>
            </a:pPr>
            <a:r>
              <a:rPr lang="en-US" sz="1200" dirty="0">
                <a:solidFill>
                  <a:srgbClr val="FFFFFF"/>
                </a:solidFill>
                <a:latin typeface="Calibri" pitchFamily="34" charset="0"/>
                <a:ea typeface="Calibri" pitchFamily="34" charset="-122"/>
                <a:cs typeface="Calibri" pitchFamily="34" charset="-120"/>
              </a:rPr>
              <a:t>7 / 7</a:t>
            </a:r>
            <a:endParaRPr lang="en-US" sz="1200" dirty="0"/>
          </a:p>
        </p:txBody>
      </p:sp>
      <p:sp>
        <p:nvSpPr>
          <p:cNvPr id="15" name="Shape 13"/>
          <p:cNvSpPr/>
          <p:nvPr/>
        </p:nvSpPr>
        <p:spPr>
          <a:xfrm>
            <a:off x="0" y="886968"/>
            <a:ext cx="1938528" cy="896112"/>
          </a:xfrm>
          <a:prstGeom prst="homePlate">
            <a:avLst/>
          </a:prstGeom>
          <a:solidFill>
            <a:srgbClr val="2A0A45"/>
          </a:solidFill>
          <a:ln w="12700">
            <a:solidFill>
              <a:srgbClr val="333333"/>
            </a:solidFill>
            <a:prstDash val="solid"/>
          </a:ln>
        </p:spPr>
      </p:sp>
      <p:pic>
        <p:nvPicPr>
          <p:cNvPr id="16" name="Image 0" descr="preencoded.png">    </p:cNvPr>
          <p:cNvPicPr>
            <a:picLocks noChangeAspect="1"/>
          </p:cNvPicPr>
          <p:nvPr/>
        </p:nvPicPr>
        <p:blipFill>
          <a:blip r:embed="rId1"/>
          <a:stretch>
            <a:fillRect/>
          </a:stretch>
        </p:blipFill>
        <p:spPr>
          <a:xfrm>
            <a:off x="128016" y="1005840"/>
            <a:ext cx="274320" cy="274320"/>
          </a:xfrm>
          <a:prstGeom prst="rect">
            <a:avLst/>
          </a:prstGeom>
        </p:spPr>
      </p:pic>
      <p:sp>
        <p:nvSpPr>
          <p:cNvPr id="17" name="Text 14"/>
          <p:cNvSpPr/>
          <p:nvPr/>
        </p:nvSpPr>
        <p:spPr>
          <a:xfrm>
            <a:off x="457200" y="905256"/>
            <a:ext cx="1325880" cy="859536"/>
          </a:xfrm>
          <a:prstGeom prst="rect">
            <a:avLst/>
          </a:prstGeom>
          <a:noFill/>
          <a:ln/>
        </p:spPr>
        <p:txBody>
          <a:bodyPr wrap="square" lIns="0" tIns="0" rIns="0" bIns="0" rtlCol="0" anchor="ctr"/>
          <a:lstStyle/>
          <a:p>
            <a:pPr indent="0" marL="0">
              <a:lnSpc>
                <a:spcPct val="100000"/>
              </a:lnSpc>
              <a:buNone/>
            </a:pPr>
            <a:r>
              <a:rPr lang="en-US" sz="1200" b="1" dirty="0">
                <a:solidFill>
                  <a:srgbClr val="FFFFFF"/>
                </a:solidFill>
                <a:latin typeface="Calibri" pitchFamily="34" charset="0"/>
                <a:ea typeface="Calibri" pitchFamily="34" charset="-122"/>
                <a:cs typeface="Calibri" pitchFamily="34" charset="-120"/>
              </a:rPr>
              <a:t>SHARE-TO-UNIT</a:t>
            </a:r>
            <a:pPr indent="0" marL="0">
              <a:lnSpc>
                <a:spcPct val="100000"/>
              </a:lnSpc>
              <a:buNone/>
            </a:pPr>
            <a:endParaRPr lang="en-US" sz="1200" dirty="0"/>
          </a:p>
          <a:p>
            <a:pPr indent="0" marL="0">
              <a:lnSpc>
                <a:spcPct val="100000"/>
              </a:lnSpc>
              <a:buNone/>
            </a:pPr>
            <a:r>
              <a:rPr lang="en-US" sz="1200" b="1" dirty="0">
                <a:solidFill>
                  <a:srgbClr val="FFFFFF"/>
                </a:solidFill>
                <a:latin typeface="Calibri" pitchFamily="34" charset="0"/>
                <a:ea typeface="Calibri" pitchFamily="34" charset="-122"/>
                <a:cs typeface="Calibri" pitchFamily="34" charset="-120"/>
              </a:rPr>
              <a:t>BRIDGE · YR 3</a:t>
            </a:r>
            <a:endParaRPr lang="en-US" sz="1200" dirty="0"/>
          </a:p>
        </p:txBody>
      </p:sp>
      <p:sp>
        <p:nvSpPr>
          <p:cNvPr id="18" name="Text 15"/>
          <p:cNvSpPr/>
          <p:nvPr/>
        </p:nvSpPr>
        <p:spPr>
          <a:xfrm>
            <a:off x="2011680" y="932688"/>
            <a:ext cx="2011680" cy="384048"/>
          </a:xfrm>
          <a:prstGeom prst="rect">
            <a:avLst/>
          </a:prstGeom>
          <a:noFill/>
          <a:ln/>
        </p:spPr>
        <p:txBody>
          <a:bodyPr wrap="square" lIns="0" tIns="0" rIns="0" bIns="0" rtlCol="0" anchor="ctr"/>
          <a:lstStyle/>
          <a:p>
            <a:pPr algn="ctr" indent="0" marL="0">
              <a:buNone/>
            </a:pPr>
            <a:r>
              <a:rPr lang="en-US" sz="2200" b="1" dirty="0">
                <a:solidFill>
                  <a:srgbClr val="A100FF"/>
                </a:solidFill>
                <a:latin typeface="Calibri" pitchFamily="34" charset="0"/>
                <a:ea typeface="Calibri" pitchFamily="34" charset="-122"/>
                <a:cs typeface="Calibri" pitchFamily="34" charset="-120"/>
              </a:rPr>
              <a:t>+0.9pp</a:t>
            </a:r>
            <a:endParaRPr lang="en-US" sz="2200" dirty="0"/>
          </a:p>
        </p:txBody>
      </p:sp>
      <p:sp>
        <p:nvSpPr>
          <p:cNvPr id="19" name="Text 16"/>
          <p:cNvSpPr/>
          <p:nvPr/>
        </p:nvSpPr>
        <p:spPr>
          <a:xfrm>
            <a:off x="2011680" y="1316736"/>
            <a:ext cx="2011680" cy="457200"/>
          </a:xfrm>
          <a:prstGeom prst="rect">
            <a:avLst/>
          </a:prstGeom>
          <a:noFill/>
          <a:ln/>
        </p:spPr>
        <p:txBody>
          <a:bodyPr wrap="square" lIns="0" tIns="0" rIns="0" bIns="0" rtlCol="0" anchor="ctr"/>
          <a:lstStyle/>
          <a:p>
            <a:pPr algn="ctr" indent="0" marL="0">
              <a:lnSpc>
                <a:spcPct val="96000"/>
              </a:lnSpc>
              <a:buNone/>
            </a:pPr>
            <a:r>
              <a:rPr lang="en-US" sz="1200" dirty="0">
                <a:solidFill>
                  <a:srgbClr val="3A3838"/>
                </a:solidFill>
                <a:latin typeface="Calibri" pitchFamily="34" charset="0"/>
                <a:ea typeface="Calibri" pitchFamily="34" charset="-122"/>
                <a:cs typeface="Calibri" pitchFamily="34" charset="-120"/>
              </a:rPr>
              <a:t>Funnel conversion · 45,000 units</a:t>
            </a:r>
            <a:endParaRPr lang="en-US" sz="1200" dirty="0"/>
          </a:p>
        </p:txBody>
      </p:sp>
      <p:sp>
        <p:nvSpPr>
          <p:cNvPr id="20" name="Text 17"/>
          <p:cNvSpPr/>
          <p:nvPr/>
        </p:nvSpPr>
        <p:spPr>
          <a:xfrm>
            <a:off x="4041648" y="932688"/>
            <a:ext cx="2011680" cy="384048"/>
          </a:xfrm>
          <a:prstGeom prst="rect">
            <a:avLst/>
          </a:prstGeom>
          <a:noFill/>
          <a:ln/>
        </p:spPr>
        <p:txBody>
          <a:bodyPr wrap="square" lIns="0" tIns="0" rIns="0" bIns="0" rtlCol="0" anchor="ctr"/>
          <a:lstStyle/>
          <a:p>
            <a:pPr algn="ctr" indent="0" marL="0">
              <a:buNone/>
            </a:pPr>
            <a:r>
              <a:rPr lang="en-US" sz="2200" b="1" dirty="0">
                <a:solidFill>
                  <a:srgbClr val="A100FF"/>
                </a:solidFill>
                <a:latin typeface="Calibri" pitchFamily="34" charset="0"/>
                <a:ea typeface="Calibri" pitchFamily="34" charset="-122"/>
                <a:cs typeface="Calibri" pitchFamily="34" charset="-120"/>
              </a:rPr>
              <a:t>+0.6pp</a:t>
            </a:r>
            <a:endParaRPr lang="en-US" sz="2200" dirty="0"/>
          </a:p>
        </p:txBody>
      </p:sp>
      <p:sp>
        <p:nvSpPr>
          <p:cNvPr id="21" name="Text 18"/>
          <p:cNvSpPr/>
          <p:nvPr/>
        </p:nvSpPr>
        <p:spPr>
          <a:xfrm>
            <a:off x="4041648" y="1316736"/>
            <a:ext cx="2011680" cy="457200"/>
          </a:xfrm>
          <a:prstGeom prst="rect">
            <a:avLst/>
          </a:prstGeom>
          <a:noFill/>
          <a:ln/>
        </p:spPr>
        <p:txBody>
          <a:bodyPr wrap="square" lIns="0" tIns="0" rIns="0" bIns="0" rtlCol="0" anchor="ctr"/>
          <a:lstStyle/>
          <a:p>
            <a:pPr algn="ctr" indent="0" marL="0">
              <a:lnSpc>
                <a:spcPct val="96000"/>
              </a:lnSpc>
              <a:buNone/>
            </a:pPr>
            <a:r>
              <a:rPr lang="en-US" sz="1200" dirty="0">
                <a:solidFill>
                  <a:srgbClr val="3A3838"/>
                </a:solidFill>
                <a:latin typeface="Calibri" pitchFamily="34" charset="0"/>
                <a:ea typeface="Calibri" pitchFamily="34" charset="-122"/>
                <a:cs typeface="Calibri" pitchFamily="34" charset="-120"/>
              </a:rPr>
              <a:t>Loyalty, care, referral · 30,000</a:t>
            </a:r>
            <a:endParaRPr lang="en-US" sz="1200" dirty="0"/>
          </a:p>
        </p:txBody>
      </p:sp>
      <p:sp>
        <p:nvSpPr>
          <p:cNvPr id="22" name="Text 19"/>
          <p:cNvSpPr/>
          <p:nvPr/>
        </p:nvSpPr>
        <p:spPr>
          <a:xfrm>
            <a:off x="6071616" y="932688"/>
            <a:ext cx="2011680" cy="384048"/>
          </a:xfrm>
          <a:prstGeom prst="rect">
            <a:avLst/>
          </a:prstGeom>
          <a:noFill/>
          <a:ln/>
        </p:spPr>
        <p:txBody>
          <a:bodyPr wrap="square" lIns="0" tIns="0" rIns="0" bIns="0" rtlCol="0" anchor="ctr"/>
          <a:lstStyle/>
          <a:p>
            <a:pPr algn="ctr" indent="0" marL="0">
              <a:buNone/>
            </a:pPr>
            <a:r>
              <a:rPr lang="en-US" sz="2200" b="1" dirty="0">
                <a:solidFill>
                  <a:srgbClr val="A100FF"/>
                </a:solidFill>
                <a:latin typeface="Calibri" pitchFamily="34" charset="0"/>
                <a:ea typeface="Calibri" pitchFamily="34" charset="-122"/>
                <a:cs typeface="Calibri" pitchFamily="34" charset="-120"/>
              </a:rPr>
              <a:t>+0.3pp</a:t>
            </a:r>
            <a:endParaRPr lang="en-US" sz="2200" dirty="0"/>
          </a:p>
        </p:txBody>
      </p:sp>
      <p:sp>
        <p:nvSpPr>
          <p:cNvPr id="23" name="Text 20"/>
          <p:cNvSpPr/>
          <p:nvPr/>
        </p:nvSpPr>
        <p:spPr>
          <a:xfrm>
            <a:off x="6071616" y="1316736"/>
            <a:ext cx="2011680" cy="457200"/>
          </a:xfrm>
          <a:prstGeom prst="rect">
            <a:avLst/>
          </a:prstGeom>
          <a:noFill/>
          <a:ln/>
        </p:spPr>
        <p:txBody>
          <a:bodyPr wrap="square" lIns="0" tIns="0" rIns="0" bIns="0" rtlCol="0" anchor="ctr"/>
          <a:lstStyle/>
          <a:p>
            <a:pPr algn="ctr" indent="0" marL="0">
              <a:lnSpc>
                <a:spcPct val="96000"/>
              </a:lnSpc>
              <a:buNone/>
            </a:pPr>
            <a:r>
              <a:rPr lang="en-US" sz="1200" dirty="0">
                <a:solidFill>
                  <a:srgbClr val="3A3838"/>
                </a:solidFill>
                <a:latin typeface="Calibri" pitchFamily="34" charset="0"/>
                <a:ea typeface="Calibri" pitchFamily="34" charset="-122"/>
                <a:cs typeface="Calibri" pitchFamily="34" charset="-120"/>
              </a:rPr>
              <a:t>Vega-enabled EV volume · 15,720</a:t>
            </a:r>
            <a:endParaRPr lang="en-US" sz="1200" dirty="0"/>
          </a:p>
        </p:txBody>
      </p:sp>
      <p:sp>
        <p:nvSpPr>
          <p:cNvPr id="24" name="Text 21"/>
          <p:cNvSpPr/>
          <p:nvPr/>
        </p:nvSpPr>
        <p:spPr>
          <a:xfrm>
            <a:off x="8101584" y="932688"/>
            <a:ext cx="2011680" cy="384048"/>
          </a:xfrm>
          <a:prstGeom prst="rect">
            <a:avLst/>
          </a:prstGeom>
          <a:noFill/>
          <a:ln/>
        </p:spPr>
        <p:txBody>
          <a:bodyPr wrap="square" lIns="0" tIns="0" rIns="0" bIns="0" rtlCol="0" anchor="ctr"/>
          <a:lstStyle/>
          <a:p>
            <a:pPr algn="ctr" indent="0" marL="0">
              <a:buNone/>
            </a:pPr>
            <a:r>
              <a:rPr lang="en-US" sz="2200" b="1" dirty="0">
                <a:solidFill>
                  <a:srgbClr val="A100FF"/>
                </a:solidFill>
                <a:latin typeface="Calibri" pitchFamily="34" charset="0"/>
                <a:ea typeface="Calibri" pitchFamily="34" charset="-122"/>
                <a:cs typeface="Calibri" pitchFamily="34" charset="-120"/>
              </a:rPr>
              <a:t>+1.8pp</a:t>
            </a:r>
            <a:endParaRPr lang="en-US" sz="2200" dirty="0"/>
          </a:p>
        </p:txBody>
      </p:sp>
      <p:sp>
        <p:nvSpPr>
          <p:cNvPr id="25" name="Text 22"/>
          <p:cNvSpPr/>
          <p:nvPr/>
        </p:nvSpPr>
        <p:spPr>
          <a:xfrm>
            <a:off x="8101584" y="1316736"/>
            <a:ext cx="2011680" cy="457200"/>
          </a:xfrm>
          <a:prstGeom prst="rect">
            <a:avLst/>
          </a:prstGeom>
          <a:noFill/>
          <a:ln/>
        </p:spPr>
        <p:txBody>
          <a:bodyPr wrap="square" lIns="0" tIns="0" rIns="0" bIns="0" rtlCol="0" anchor="ctr"/>
          <a:lstStyle/>
          <a:p>
            <a:pPr algn="ctr" indent="0" marL="0">
              <a:lnSpc>
                <a:spcPct val="96000"/>
              </a:lnSpc>
              <a:buNone/>
            </a:pPr>
            <a:r>
              <a:rPr lang="en-US" sz="1200" dirty="0">
                <a:solidFill>
                  <a:srgbClr val="3A3838"/>
                </a:solidFill>
                <a:latin typeface="Calibri" pitchFamily="34" charset="0"/>
                <a:ea typeface="Calibri" pitchFamily="34" charset="-122"/>
                <a:cs typeface="Calibri" pitchFamily="34" charset="-120"/>
              </a:rPr>
              <a:t>Year-3 run-rate · 90,720 units</a:t>
            </a:r>
            <a:endParaRPr lang="en-US" sz="1200" dirty="0"/>
          </a:p>
        </p:txBody>
      </p:sp>
      <p:sp>
        <p:nvSpPr>
          <p:cNvPr id="26" name="Text 23"/>
          <p:cNvSpPr/>
          <p:nvPr/>
        </p:nvSpPr>
        <p:spPr>
          <a:xfrm>
            <a:off x="10131552" y="932688"/>
            <a:ext cx="1965960" cy="384048"/>
          </a:xfrm>
          <a:prstGeom prst="rect">
            <a:avLst/>
          </a:prstGeom>
          <a:noFill/>
          <a:ln/>
        </p:spPr>
        <p:txBody>
          <a:bodyPr wrap="square" lIns="0" tIns="0" rIns="0" bIns="0" rtlCol="0" anchor="ctr"/>
          <a:lstStyle/>
          <a:p>
            <a:pPr algn="ctr" indent="0" marL="0">
              <a:buNone/>
            </a:pPr>
            <a:r>
              <a:rPr lang="en-US" sz="2200" b="1" dirty="0">
                <a:solidFill>
                  <a:srgbClr val="2A0A45"/>
                </a:solidFill>
                <a:latin typeface="Calibri" pitchFamily="34" charset="0"/>
                <a:ea typeface="Calibri" pitchFamily="34" charset="-122"/>
                <a:cs typeface="Calibri" pitchFamily="34" charset="-120"/>
              </a:rPr>
              <a:t>50,400</a:t>
            </a:r>
            <a:endParaRPr lang="en-US" sz="2200" dirty="0"/>
          </a:p>
        </p:txBody>
      </p:sp>
      <p:sp>
        <p:nvSpPr>
          <p:cNvPr id="27" name="Text 24"/>
          <p:cNvSpPr/>
          <p:nvPr/>
        </p:nvSpPr>
        <p:spPr>
          <a:xfrm>
            <a:off x="10131552" y="1316736"/>
            <a:ext cx="1965960" cy="457200"/>
          </a:xfrm>
          <a:prstGeom prst="rect">
            <a:avLst/>
          </a:prstGeom>
          <a:noFill/>
          <a:ln/>
        </p:spPr>
        <p:txBody>
          <a:bodyPr wrap="square" lIns="0" tIns="0" rIns="0" bIns="0" rtlCol="0" anchor="ctr"/>
          <a:lstStyle/>
          <a:p>
            <a:pPr algn="ctr" indent="0" marL="0">
              <a:lnSpc>
                <a:spcPct val="96000"/>
              </a:lnSpc>
              <a:buNone/>
            </a:pPr>
            <a:r>
              <a:rPr lang="en-US" sz="1200" dirty="0">
                <a:solidFill>
                  <a:srgbClr val="3A3838"/>
                </a:solidFill>
                <a:latin typeface="Calibri" pitchFamily="34" charset="0"/>
                <a:ea typeface="Calibri" pitchFamily="34" charset="-122"/>
                <a:cs typeface="Calibri" pitchFamily="34" charset="-120"/>
              </a:rPr>
              <a:t>Units in one point of share</a:t>
            </a:r>
            <a:endParaRPr lang="en-US" sz="1200" dirty="0"/>
          </a:p>
        </p:txBody>
      </p:sp>
      <p:sp>
        <p:nvSpPr>
          <p:cNvPr id="28" name="Shape 25"/>
          <p:cNvSpPr/>
          <p:nvPr/>
        </p:nvSpPr>
        <p:spPr>
          <a:xfrm>
            <a:off x="4123944" y="1874520"/>
            <a:ext cx="13716" cy="4526280"/>
          </a:xfrm>
          <a:prstGeom prst="rect">
            <a:avLst/>
          </a:prstGeom>
          <a:solidFill>
            <a:srgbClr val="DCD4E8"/>
          </a:solidFill>
          <a:ln w="12700">
            <a:solidFill>
              <a:srgbClr val="333333"/>
            </a:solidFill>
            <a:prstDash val="solid"/>
          </a:ln>
        </p:spPr>
      </p:sp>
      <p:sp>
        <p:nvSpPr>
          <p:cNvPr id="29" name="Shape 26"/>
          <p:cNvSpPr/>
          <p:nvPr/>
        </p:nvSpPr>
        <p:spPr>
          <a:xfrm>
            <a:off x="8174736" y="1874520"/>
            <a:ext cx="13716" cy="4526280"/>
          </a:xfrm>
          <a:prstGeom prst="rect">
            <a:avLst/>
          </a:prstGeom>
          <a:solidFill>
            <a:srgbClr val="DCD4E8"/>
          </a:solidFill>
          <a:ln w="12700">
            <a:solidFill>
              <a:srgbClr val="333333"/>
            </a:solidFill>
            <a:prstDash val="solid"/>
          </a:ln>
        </p:spPr>
      </p:sp>
      <p:sp>
        <p:nvSpPr>
          <p:cNvPr id="30" name="Shape 27"/>
          <p:cNvSpPr/>
          <p:nvPr/>
        </p:nvSpPr>
        <p:spPr>
          <a:xfrm>
            <a:off x="137160" y="1920240"/>
            <a:ext cx="292608" cy="292608"/>
          </a:xfrm>
          <a:prstGeom prst="ellipse">
            <a:avLst/>
          </a:prstGeom>
          <a:solidFill>
            <a:srgbClr val="A100FF"/>
          </a:solidFill>
          <a:ln w="12700">
            <a:solidFill>
              <a:srgbClr val="333333"/>
            </a:solidFill>
            <a:prstDash val="solid"/>
          </a:ln>
        </p:spPr>
      </p:sp>
      <p:sp>
        <p:nvSpPr>
          <p:cNvPr id="31" name="Text 28"/>
          <p:cNvSpPr/>
          <p:nvPr/>
        </p:nvSpPr>
        <p:spPr>
          <a:xfrm>
            <a:off x="137160" y="1920240"/>
            <a:ext cx="292608" cy="29260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32" name="Text 29"/>
          <p:cNvSpPr/>
          <p:nvPr/>
        </p:nvSpPr>
        <p:spPr>
          <a:xfrm>
            <a:off x="521208" y="1929384"/>
            <a:ext cx="3474720" cy="292608"/>
          </a:xfrm>
          <a:prstGeom prst="rect">
            <a:avLst/>
          </a:prstGeom>
          <a:noFill/>
          <a:ln/>
        </p:spPr>
        <p:txBody>
          <a:bodyPr wrap="square" lIns="0" tIns="0" rIns="0" bIns="0" rtlCol="0" anchor="ctr"/>
          <a:lstStyle/>
          <a:p>
            <a:pPr indent="0" marL="0">
              <a:buNone/>
            </a:pPr>
            <a:r>
              <a:rPr lang="en-US" sz="1350" b="1" dirty="0">
                <a:solidFill>
                  <a:srgbClr val="2A0A45"/>
                </a:solidFill>
                <a:latin typeface="Calibri" pitchFamily="34" charset="0"/>
                <a:ea typeface="Calibri" pitchFamily="34" charset="-122"/>
                <a:cs typeface="Calibri" pitchFamily="34" charset="-120"/>
              </a:rPr>
              <a:t>Yearly targets on the six case outcomes</a:t>
            </a:r>
            <a:endParaRPr lang="en-US" sz="135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137160" y="2286000"/>
          <a:ext cx="3904488" cy="914400"/>
        </p:xfrm>
        <a:graphic>
          <a:graphicData uri="http://schemas.openxmlformats.org/drawingml/2006/table">
            <a:tbl>
              <a:tblPr/>
              <a:tblGrid>
                <a:gridCol w="1417320"/>
                <a:gridCol w="640080"/>
                <a:gridCol w="585216"/>
                <a:gridCol w="585216"/>
                <a:gridCol w="676656"/>
              </a:tblGrid>
              <a:tr h="228600">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Outcome</a:t>
                      </a:r>
                      <a:endParaRPr lang="en-US" sz="1200" dirty="0">
                        <a:latin typeface="Calibri" charset="0"/>
                        <a:ea typeface="Calibri" charset="0"/>
                        <a:cs typeface="Calibri" charset="0"/>
                      </a:endParaRPr>
                    </a:p>
                  </a:txBody>
                  <a:tcPr marL="36576" marR="36576" marT="36576" marB="36576" anchor="ctr">
                    <a:lnL w="9525" cap="flat" cmpd="sng" algn="ctr">
                      <a:solidFill>
                        <a:srgbClr val="DCD4E8"/>
                      </a:solidFill>
                      <a:prstDash val="solid"/>
                      <a:round/>
                      <a:headEnd type="none" w="med" len="med"/>
                      <a:tailEnd type="none" w="med" len="med"/>
                    </a:lnL>
                    <a:lnR w="9525" cap="flat" cmpd="sng" algn="ctr">
                      <a:solidFill>
                        <a:srgbClr val="DCD4E8"/>
                      </a:solidFill>
                      <a:prstDash val="solid"/>
                      <a:round/>
                      <a:headEnd type="none" w="med" len="med"/>
                      <a:tailEnd type="none" w="med" len="med"/>
                    </a:lnR>
                    <a:lnT w="9525" cap="flat" cmpd="sng" algn="ctr">
                      <a:solidFill>
                        <a:srgbClr val="DCD4E8"/>
                      </a:solidFill>
                      <a:prstDash val="solid"/>
                      <a:round/>
                      <a:headEnd type="none" w="med" len="med"/>
                      <a:tailEnd type="none" w="med" len="med"/>
                    </a:lnT>
                    <a:lnB w="9525" cap="flat" cmpd="sng" algn="ctr">
                      <a:solidFill>
                        <a:srgbClr val="DCD4E8"/>
                      </a:solidFill>
                      <a:prstDash val="solid"/>
                      <a:round/>
                      <a:headEnd type="none" w="med" len="med"/>
                      <a:tailEnd type="none" w="med" len="med"/>
                    </a:lnB>
                    <a:solidFill>
                      <a:srgbClr val="2A0A45"/>
                    </a:solidFill>
                  </a:tcPr>
                </a:tc>
                <a:tc>
                  <a:txBody>
                    <a:bodyPr/>
                    <a:lstStyle/>
                    <a:p>
                      <a:pPr algn="r" indent="0" marL="0">
                        <a:buNone/>
                      </a:pPr>
                      <a:r>
                        <a:rPr lang="en-US" sz="1200" b="1" dirty="0">
                          <a:solidFill>
                            <a:srgbClr val="FFFFFF"/>
                          </a:solidFill>
                          <a:latin typeface="Calibri" pitchFamily="34" charset="0"/>
                          <a:ea typeface="Calibri" pitchFamily="34" charset="-122"/>
                          <a:cs typeface="Calibri" pitchFamily="34" charset="-120"/>
                        </a:rPr>
                        <a:t>Base</a:t>
                      </a:r>
                      <a:endParaRPr lang="en-US" sz="1200" dirty="0">
                        <a:latin typeface="Calibri" charset="0"/>
                        <a:ea typeface="Calibri" charset="0"/>
                        <a:cs typeface="Calibri" charset="0"/>
                      </a:endParaRPr>
                    </a:p>
                  </a:txBody>
                  <a:tcPr marL="36576" marR="36576" marT="36576" marB="36576" anchor="ctr">
                    <a:lnL w="9525" cap="flat" cmpd="sng" algn="ctr">
                      <a:solidFill>
                        <a:srgbClr val="DCD4E8"/>
                      </a:solidFill>
                      <a:prstDash val="solid"/>
                      <a:round/>
                      <a:headEnd type="none" w="med" len="med"/>
                      <a:tailEnd type="none" w="med" len="med"/>
                    </a:lnL>
                    <a:lnR w="9525" cap="flat" cmpd="sng" algn="ctr">
                      <a:solidFill>
                        <a:srgbClr val="DCD4E8"/>
                      </a:solidFill>
                      <a:prstDash val="solid"/>
                      <a:round/>
                      <a:headEnd type="none" w="med" len="med"/>
                      <a:tailEnd type="none" w="med" len="med"/>
                    </a:lnR>
                    <a:lnT w="9525" cap="flat" cmpd="sng" algn="ctr">
                      <a:solidFill>
                        <a:srgbClr val="DCD4E8"/>
                      </a:solidFill>
                      <a:prstDash val="solid"/>
                      <a:round/>
                      <a:headEnd type="none" w="med" len="med"/>
                      <a:tailEnd type="none" w="med" len="med"/>
                    </a:lnT>
                    <a:lnB w="9525" cap="flat" cmpd="sng" algn="ctr">
                      <a:solidFill>
                        <a:srgbClr val="DCD4E8"/>
                      </a:solidFill>
                      <a:prstDash val="solid"/>
                      <a:round/>
                      <a:headEnd type="none" w="med" len="med"/>
                      <a:tailEnd type="none" w="med" len="med"/>
                    </a:lnB>
                    <a:solidFill>
                      <a:srgbClr val="2A0A45"/>
                    </a:solidFill>
                  </a:tcPr>
                </a:tc>
                <a:tc>
                  <a:txBody>
                    <a:bodyPr/>
                    <a:lstStyle/>
                    <a:p>
                      <a:pPr algn="r" indent="0" marL="0">
                        <a:buNone/>
                      </a:pPr>
                      <a:r>
                        <a:rPr lang="en-US" sz="1200" b="1" dirty="0">
                          <a:solidFill>
                            <a:srgbClr val="FFFFFF"/>
                          </a:solidFill>
                          <a:latin typeface="Calibri" pitchFamily="34" charset="0"/>
                          <a:ea typeface="Calibri" pitchFamily="34" charset="-122"/>
                          <a:cs typeface="Calibri" pitchFamily="34" charset="-120"/>
                        </a:rPr>
                        <a:t>Y1</a:t>
                      </a:r>
                      <a:endParaRPr lang="en-US" sz="1200" dirty="0">
                        <a:latin typeface="Calibri" charset="0"/>
                        <a:ea typeface="Calibri" charset="0"/>
                        <a:cs typeface="Calibri" charset="0"/>
                      </a:endParaRPr>
                    </a:p>
                  </a:txBody>
                  <a:tcPr marL="36576" marR="36576" marT="36576" marB="36576" anchor="ctr">
                    <a:lnL w="9525" cap="flat" cmpd="sng" algn="ctr">
                      <a:solidFill>
                        <a:srgbClr val="DCD4E8"/>
                      </a:solidFill>
                      <a:prstDash val="solid"/>
                      <a:round/>
                      <a:headEnd type="none" w="med" len="med"/>
                      <a:tailEnd type="none" w="med" len="med"/>
                    </a:lnL>
                    <a:lnR w="9525" cap="flat" cmpd="sng" algn="ctr">
                      <a:solidFill>
                        <a:srgbClr val="DCD4E8"/>
                      </a:solidFill>
                      <a:prstDash val="solid"/>
                      <a:round/>
                      <a:headEnd type="none" w="med" len="med"/>
                      <a:tailEnd type="none" w="med" len="med"/>
                    </a:lnR>
                    <a:lnT w="9525" cap="flat" cmpd="sng" algn="ctr">
                      <a:solidFill>
                        <a:srgbClr val="DCD4E8"/>
                      </a:solidFill>
                      <a:prstDash val="solid"/>
                      <a:round/>
                      <a:headEnd type="none" w="med" len="med"/>
                      <a:tailEnd type="none" w="med" len="med"/>
                    </a:lnT>
                    <a:lnB w="9525" cap="flat" cmpd="sng" algn="ctr">
                      <a:solidFill>
                        <a:srgbClr val="DCD4E8"/>
                      </a:solidFill>
                      <a:prstDash val="solid"/>
                      <a:round/>
                      <a:headEnd type="none" w="med" len="med"/>
                      <a:tailEnd type="none" w="med" len="med"/>
                    </a:lnB>
                    <a:solidFill>
                      <a:srgbClr val="2A0A45"/>
                    </a:solidFill>
                  </a:tcPr>
                </a:tc>
                <a:tc>
                  <a:txBody>
                    <a:bodyPr/>
                    <a:lstStyle/>
                    <a:p>
                      <a:pPr algn="r" indent="0" marL="0">
                        <a:buNone/>
                      </a:pPr>
                      <a:r>
                        <a:rPr lang="en-US" sz="1200" b="1" dirty="0">
                          <a:solidFill>
                            <a:srgbClr val="FFFFFF"/>
                          </a:solidFill>
                          <a:latin typeface="Calibri" pitchFamily="34" charset="0"/>
                          <a:ea typeface="Calibri" pitchFamily="34" charset="-122"/>
                          <a:cs typeface="Calibri" pitchFamily="34" charset="-120"/>
                        </a:rPr>
                        <a:t>Y2</a:t>
                      </a:r>
                      <a:endParaRPr lang="en-US" sz="1200" dirty="0">
                        <a:latin typeface="Calibri" charset="0"/>
                        <a:ea typeface="Calibri" charset="0"/>
                        <a:cs typeface="Calibri" charset="0"/>
                      </a:endParaRPr>
                    </a:p>
                  </a:txBody>
                  <a:tcPr marL="36576" marR="36576" marT="36576" marB="36576" anchor="ctr">
                    <a:lnL w="9525" cap="flat" cmpd="sng" algn="ctr">
                      <a:solidFill>
                        <a:srgbClr val="DCD4E8"/>
                      </a:solidFill>
                      <a:prstDash val="solid"/>
                      <a:round/>
                      <a:headEnd type="none" w="med" len="med"/>
                      <a:tailEnd type="none" w="med" len="med"/>
                    </a:lnL>
                    <a:lnR w="9525" cap="flat" cmpd="sng" algn="ctr">
                      <a:solidFill>
                        <a:srgbClr val="DCD4E8"/>
                      </a:solidFill>
                      <a:prstDash val="solid"/>
                      <a:round/>
                      <a:headEnd type="none" w="med" len="med"/>
                      <a:tailEnd type="none" w="med" len="med"/>
                    </a:lnR>
                    <a:lnT w="9525" cap="flat" cmpd="sng" algn="ctr">
                      <a:solidFill>
                        <a:srgbClr val="DCD4E8"/>
                      </a:solidFill>
                      <a:prstDash val="solid"/>
                      <a:round/>
                      <a:headEnd type="none" w="med" len="med"/>
                      <a:tailEnd type="none" w="med" len="med"/>
                    </a:lnT>
                    <a:lnB w="9525" cap="flat" cmpd="sng" algn="ctr">
                      <a:solidFill>
                        <a:srgbClr val="DCD4E8"/>
                      </a:solidFill>
                      <a:prstDash val="solid"/>
                      <a:round/>
                      <a:headEnd type="none" w="med" len="med"/>
                      <a:tailEnd type="none" w="med" len="med"/>
                    </a:lnB>
                    <a:solidFill>
                      <a:srgbClr val="2A0A45"/>
                    </a:solidFill>
                  </a:tcPr>
                </a:tc>
                <a:tc>
                  <a:txBody>
                    <a:bodyPr/>
                    <a:lstStyle/>
                    <a:p>
                      <a:pPr algn="r" indent="0" marL="0">
                        <a:buNone/>
                      </a:pPr>
                      <a:r>
                        <a:rPr lang="en-US" sz="1200" b="1" dirty="0">
                          <a:solidFill>
                            <a:srgbClr val="FFFFFF"/>
                          </a:solidFill>
                          <a:latin typeface="Calibri" pitchFamily="34" charset="0"/>
                          <a:ea typeface="Calibri" pitchFamily="34" charset="-122"/>
                          <a:cs typeface="Calibri" pitchFamily="34" charset="-120"/>
                        </a:rPr>
                        <a:t>Y3</a:t>
                      </a:r>
                      <a:endParaRPr lang="en-US" sz="1200" dirty="0">
                        <a:latin typeface="Calibri" charset="0"/>
                        <a:ea typeface="Calibri" charset="0"/>
                        <a:cs typeface="Calibri" charset="0"/>
                      </a:endParaRPr>
                    </a:p>
                  </a:txBody>
                  <a:tcPr marL="36576" marR="36576" marT="36576" marB="36576" anchor="ctr">
                    <a:lnL w="9525" cap="flat" cmpd="sng" algn="ctr">
                      <a:solidFill>
                        <a:srgbClr val="DCD4E8"/>
                      </a:solidFill>
                      <a:prstDash val="solid"/>
                      <a:round/>
                      <a:headEnd type="none" w="med" len="med"/>
                      <a:tailEnd type="none" w="med" len="med"/>
                    </a:lnL>
                    <a:lnR w="9525" cap="flat" cmpd="sng" algn="ctr">
                      <a:solidFill>
                        <a:srgbClr val="DCD4E8"/>
                      </a:solidFill>
                      <a:prstDash val="solid"/>
                      <a:round/>
                      <a:headEnd type="none" w="med" len="med"/>
                      <a:tailEnd type="none" w="med" len="med"/>
                    </a:lnR>
                    <a:lnT w="9525" cap="flat" cmpd="sng" algn="ctr">
                      <a:solidFill>
                        <a:srgbClr val="DCD4E8"/>
                      </a:solidFill>
                      <a:prstDash val="solid"/>
                      <a:round/>
                      <a:headEnd type="none" w="med" len="med"/>
                      <a:tailEnd type="none" w="med" len="med"/>
                    </a:lnT>
                    <a:lnB w="9525" cap="flat" cmpd="sng" algn="ctr">
                      <a:solidFill>
                        <a:srgbClr val="DCD4E8"/>
                      </a:solidFill>
                      <a:prstDash val="solid"/>
                      <a:round/>
                      <a:headEnd type="none" w="med" len="med"/>
                      <a:tailEnd type="none" w="med" len="med"/>
                    </a:lnB>
                    <a:solidFill>
                      <a:srgbClr val="2A0A45"/>
                    </a:solidFill>
                  </a:tcPr>
                </a:tc>
              </a:tr>
              <a:tr h="228600">
                <a:tc>
                  <a:txBody>
                    <a:bodyPr/>
                    <a:lstStyle/>
                    <a:p>
                      <a:pPr algn="l" indent="0" marL="0">
                        <a:buNone/>
                      </a:pPr>
                      <a:r>
                        <a:rPr lang="en-US" sz="1200" dirty="0">
                          <a:solidFill>
                            <a:srgbClr val="3A3838"/>
                          </a:solidFill>
                          <a:latin typeface="Calibri" pitchFamily="34" charset="0"/>
                          <a:ea typeface="Calibri" pitchFamily="34" charset="-122"/>
                          <a:cs typeface="Calibri" pitchFamily="34" charset="-120"/>
                        </a:rPr>
                        <a:t>Share</a:t>
                      </a:r>
                      <a:endParaRPr lang="en-US" sz="1200" dirty="0">
                        <a:latin typeface="Calibri" charset="0"/>
                        <a:ea typeface="Calibri" charset="0"/>
                        <a:cs typeface="Calibri" charset="0"/>
                      </a:endParaRPr>
                    </a:p>
                  </a:txBody>
                  <a:tcPr marL="36576" marR="36576" marT="36576" marB="36576" anchor="ctr">
                    <a:lnL w="9525" cap="flat" cmpd="sng" algn="ctr">
                      <a:solidFill>
                        <a:srgbClr val="DCD4E8"/>
                      </a:solidFill>
                      <a:prstDash val="solid"/>
                      <a:round/>
                      <a:headEnd type="none" w="med" len="med"/>
                      <a:tailEnd type="none" w="med" len="med"/>
                    </a:lnL>
                    <a:lnR w="9525" cap="flat" cmpd="sng" algn="ctr">
                      <a:solidFill>
                        <a:srgbClr val="DCD4E8"/>
                      </a:solidFill>
                      <a:prstDash val="solid"/>
                      <a:round/>
                      <a:headEnd type="none" w="med" len="med"/>
                      <a:tailEnd type="none" w="med" len="med"/>
                    </a:lnR>
                    <a:lnT w="9525" cap="flat" cmpd="sng" algn="ctr">
                      <a:solidFill>
                        <a:srgbClr val="DCD4E8"/>
                      </a:solidFill>
                      <a:prstDash val="solid"/>
                      <a:round/>
                      <a:headEnd type="none" w="med" len="med"/>
                      <a:tailEnd type="none" w="med" len="med"/>
                    </a:lnT>
                    <a:lnB w="9525" cap="flat" cmpd="sng" algn="ctr">
                      <a:solidFill>
                        <a:srgbClr val="DCD4E8"/>
                      </a:solidFill>
                      <a:prstDash val="solid"/>
                      <a:round/>
                      <a:headEnd type="none" w="med" len="med"/>
                      <a:tailEnd type="none" w="med" len="med"/>
                    </a:lnB>
                    <a:solidFill>
                      <a:srgbClr val="FBF8FE"/>
                    </a:solidFill>
                  </a:tcPr>
                </a:tc>
                <a:tc>
                  <a:txBody>
                    <a:bodyPr/>
                    <a:lstStyle/>
                    <a:p>
                      <a:pPr algn="r" indent="0" marL="0">
                        <a:buNone/>
                      </a:pPr>
                      <a:r>
                        <a:rPr lang="en-US" sz="1200" dirty="0">
                          <a:solidFill>
                            <a:srgbClr val="3A3838"/>
                          </a:solidFill>
                          <a:latin typeface="Calibri" pitchFamily="34" charset="0"/>
                          <a:ea typeface="Calibri" pitchFamily="34" charset="-122"/>
                          <a:cs typeface="Calibri" pitchFamily="34" charset="-120"/>
                        </a:rPr>
                        <a:t>11.2%</a:t>
                      </a:r>
                      <a:endParaRPr lang="en-US" sz="1200" dirty="0">
                        <a:latin typeface="Calibri" charset="0"/>
                        <a:ea typeface="Calibri" charset="0"/>
                        <a:cs typeface="Calibri" charset="0"/>
                      </a:endParaRPr>
                    </a:p>
                  </a:txBody>
                  <a:tcPr marL="36576" marR="36576" marT="36576" marB="36576" anchor="ctr">
                    <a:lnL w="9525" cap="flat" cmpd="sng" algn="ctr">
                      <a:solidFill>
                        <a:srgbClr val="DCD4E8"/>
                      </a:solidFill>
                      <a:prstDash val="solid"/>
                      <a:round/>
                      <a:headEnd type="none" w="med" len="med"/>
                      <a:tailEnd type="none" w="med" len="med"/>
                    </a:lnL>
                    <a:lnR w="9525" cap="flat" cmpd="sng" algn="ctr">
                      <a:solidFill>
                        <a:srgbClr val="DCD4E8"/>
                      </a:solidFill>
                      <a:prstDash val="solid"/>
                      <a:round/>
                      <a:headEnd type="none" w="med" len="med"/>
                      <a:tailEnd type="none" w="med" len="med"/>
                    </a:lnR>
                    <a:lnT w="9525" cap="flat" cmpd="sng" algn="ctr">
                      <a:solidFill>
                        <a:srgbClr val="DCD4E8"/>
                      </a:solidFill>
                      <a:prstDash val="solid"/>
                      <a:round/>
                      <a:headEnd type="none" w="med" len="med"/>
                      <a:tailEnd type="none" w="med" len="med"/>
                    </a:lnT>
                    <a:lnB w="9525" cap="flat" cmpd="sng" algn="ctr">
                      <a:solidFill>
                        <a:srgbClr val="DCD4E8"/>
                      </a:solidFill>
                      <a:prstDash val="solid"/>
                      <a:round/>
                      <a:headEnd type="none" w="med" len="med"/>
                      <a:tailEnd type="none" w="med" len="med"/>
                    </a:lnB>
                    <a:solidFill>
                      <a:srgbClr val="FBF8FE"/>
                    </a:solidFill>
                  </a:tcPr>
                </a:tc>
                <a:tc>
                  <a:txBody>
                    <a:bodyPr/>
                    <a:lstStyle/>
                    <a:p>
                      <a:pPr algn="r" indent="0" marL="0">
                        <a:buNone/>
                      </a:pPr>
                      <a:r>
                        <a:rPr lang="en-US" sz="1200" dirty="0">
                          <a:solidFill>
                            <a:srgbClr val="3A3838"/>
                          </a:solidFill>
                          <a:latin typeface="Calibri" pitchFamily="34" charset="0"/>
                          <a:ea typeface="Calibri" pitchFamily="34" charset="-122"/>
                          <a:cs typeface="Calibri" pitchFamily="34" charset="-120"/>
                        </a:rPr>
                        <a:t>11.6%</a:t>
                      </a:r>
                      <a:endParaRPr lang="en-US" sz="1200" dirty="0">
                        <a:latin typeface="Calibri" charset="0"/>
                        <a:ea typeface="Calibri" charset="0"/>
                        <a:cs typeface="Calibri" charset="0"/>
                      </a:endParaRPr>
                    </a:p>
                  </a:txBody>
                  <a:tcPr marL="36576" marR="36576" marT="36576" marB="36576" anchor="ctr">
                    <a:lnL w="9525" cap="flat" cmpd="sng" algn="ctr">
                      <a:solidFill>
                        <a:srgbClr val="DCD4E8"/>
                      </a:solidFill>
                      <a:prstDash val="solid"/>
                      <a:round/>
                      <a:headEnd type="none" w="med" len="med"/>
                      <a:tailEnd type="none" w="med" len="med"/>
                    </a:lnL>
                    <a:lnR w="9525" cap="flat" cmpd="sng" algn="ctr">
                      <a:solidFill>
                        <a:srgbClr val="DCD4E8"/>
                      </a:solidFill>
                      <a:prstDash val="solid"/>
                      <a:round/>
                      <a:headEnd type="none" w="med" len="med"/>
                      <a:tailEnd type="none" w="med" len="med"/>
                    </a:lnR>
                    <a:lnT w="9525" cap="flat" cmpd="sng" algn="ctr">
                      <a:solidFill>
                        <a:srgbClr val="DCD4E8"/>
                      </a:solidFill>
                      <a:prstDash val="solid"/>
                      <a:round/>
                      <a:headEnd type="none" w="med" len="med"/>
                      <a:tailEnd type="none" w="med" len="med"/>
                    </a:lnT>
                    <a:lnB w="9525" cap="flat" cmpd="sng" algn="ctr">
                      <a:solidFill>
                        <a:srgbClr val="DCD4E8"/>
                      </a:solidFill>
                      <a:prstDash val="solid"/>
                      <a:round/>
                      <a:headEnd type="none" w="med" len="med"/>
                      <a:tailEnd type="none" w="med" len="med"/>
                    </a:lnB>
                    <a:solidFill>
                      <a:srgbClr val="FBF8FE"/>
                    </a:solidFill>
                  </a:tcPr>
                </a:tc>
                <a:tc>
                  <a:txBody>
                    <a:bodyPr/>
                    <a:lstStyle/>
                    <a:p>
                      <a:pPr algn="r" indent="0" marL="0">
                        <a:buNone/>
                      </a:pPr>
                      <a:r>
                        <a:rPr lang="en-US" sz="1200" dirty="0">
                          <a:solidFill>
                            <a:srgbClr val="3A3838"/>
                          </a:solidFill>
                          <a:latin typeface="Calibri" pitchFamily="34" charset="0"/>
                          <a:ea typeface="Calibri" pitchFamily="34" charset="-122"/>
                          <a:cs typeface="Calibri" pitchFamily="34" charset="-120"/>
                        </a:rPr>
                        <a:t>12.2%</a:t>
                      </a:r>
                      <a:endParaRPr lang="en-US" sz="1200" dirty="0">
                        <a:latin typeface="Calibri" charset="0"/>
                        <a:ea typeface="Calibri" charset="0"/>
                        <a:cs typeface="Calibri" charset="0"/>
                      </a:endParaRPr>
                    </a:p>
                  </a:txBody>
                  <a:tcPr marL="36576" marR="36576" marT="36576" marB="36576" anchor="ctr">
                    <a:lnL w="9525" cap="flat" cmpd="sng" algn="ctr">
                      <a:solidFill>
                        <a:srgbClr val="DCD4E8"/>
                      </a:solidFill>
                      <a:prstDash val="solid"/>
                      <a:round/>
                      <a:headEnd type="none" w="med" len="med"/>
                      <a:tailEnd type="none" w="med" len="med"/>
                    </a:lnL>
                    <a:lnR w="9525" cap="flat" cmpd="sng" algn="ctr">
                      <a:solidFill>
                        <a:srgbClr val="DCD4E8"/>
                      </a:solidFill>
                      <a:prstDash val="solid"/>
                      <a:round/>
                      <a:headEnd type="none" w="med" len="med"/>
                      <a:tailEnd type="none" w="med" len="med"/>
                    </a:lnR>
                    <a:lnT w="9525" cap="flat" cmpd="sng" algn="ctr">
                      <a:solidFill>
                        <a:srgbClr val="DCD4E8"/>
                      </a:solidFill>
                      <a:prstDash val="solid"/>
                      <a:round/>
                      <a:headEnd type="none" w="med" len="med"/>
                      <a:tailEnd type="none" w="med" len="med"/>
                    </a:lnT>
                    <a:lnB w="9525" cap="flat" cmpd="sng" algn="ctr">
                      <a:solidFill>
                        <a:srgbClr val="DCD4E8"/>
                      </a:solidFill>
                      <a:prstDash val="solid"/>
                      <a:round/>
                      <a:headEnd type="none" w="med" len="med"/>
                      <a:tailEnd type="none" w="med" len="med"/>
                    </a:lnB>
                    <a:solidFill>
                      <a:srgbClr val="FBF8FE"/>
                    </a:solidFill>
                  </a:tcPr>
                </a:tc>
                <a:tc>
                  <a:txBody>
                    <a:bodyPr/>
                    <a:lstStyle/>
                    <a:p>
                      <a:pPr algn="r" indent="0" marL="0">
                        <a:buNone/>
                      </a:pPr>
                      <a:r>
                        <a:rPr lang="en-US" sz="1200" dirty="0">
                          <a:solidFill>
                            <a:srgbClr val="3A3838"/>
                          </a:solidFill>
                          <a:latin typeface="Calibri" pitchFamily="34" charset="0"/>
                          <a:ea typeface="Calibri" pitchFamily="34" charset="-122"/>
                          <a:cs typeface="Calibri" pitchFamily="34" charset="-120"/>
                        </a:rPr>
                        <a:t>13.0%</a:t>
                      </a:r>
                      <a:endParaRPr lang="en-US" sz="1200" dirty="0">
                        <a:latin typeface="Calibri" charset="0"/>
                        <a:ea typeface="Calibri" charset="0"/>
                        <a:cs typeface="Calibri" charset="0"/>
                      </a:endParaRPr>
                    </a:p>
                  </a:txBody>
                  <a:tcPr marL="36576" marR="36576" marT="36576" marB="36576" anchor="ctr">
                    <a:lnL w="9525" cap="flat" cmpd="sng" algn="ctr">
                      <a:solidFill>
                        <a:srgbClr val="DCD4E8"/>
                      </a:solidFill>
                      <a:prstDash val="solid"/>
                      <a:round/>
                      <a:headEnd type="none" w="med" len="med"/>
                      <a:tailEnd type="none" w="med" len="med"/>
                    </a:lnL>
                    <a:lnR w="9525" cap="flat" cmpd="sng" algn="ctr">
                      <a:solidFill>
                        <a:srgbClr val="DCD4E8"/>
                      </a:solidFill>
                      <a:prstDash val="solid"/>
                      <a:round/>
                      <a:headEnd type="none" w="med" len="med"/>
                      <a:tailEnd type="none" w="med" len="med"/>
                    </a:lnR>
                    <a:lnT w="9525" cap="flat" cmpd="sng" algn="ctr">
                      <a:solidFill>
                        <a:srgbClr val="DCD4E8"/>
                      </a:solidFill>
                      <a:prstDash val="solid"/>
                      <a:round/>
                      <a:headEnd type="none" w="med" len="med"/>
                      <a:tailEnd type="none" w="med" len="med"/>
                    </a:lnT>
                    <a:lnB w="9525" cap="flat" cmpd="sng" algn="ctr">
                      <a:solidFill>
                        <a:srgbClr val="DCD4E8"/>
                      </a:solidFill>
                      <a:prstDash val="solid"/>
                      <a:round/>
                      <a:headEnd type="none" w="med" len="med"/>
                      <a:tailEnd type="none" w="med" len="med"/>
                    </a:lnB>
                    <a:solidFill>
                      <a:srgbClr val="FBF8FE"/>
                    </a:solidFill>
                  </a:tcPr>
                </a:tc>
              </a:tr>
              <a:tr h="228600">
                <a:tc>
                  <a:txBody>
                    <a:bodyPr/>
                    <a:lstStyle/>
                    <a:p>
                      <a:pPr algn="l" indent="0" marL="0">
                        <a:buNone/>
                      </a:pPr>
                      <a:r>
                        <a:rPr lang="en-US" sz="1200" dirty="0">
                          <a:solidFill>
                            <a:srgbClr val="3A3838"/>
                          </a:solidFill>
                          <a:latin typeface="Calibri" pitchFamily="34" charset="0"/>
                          <a:ea typeface="Calibri" pitchFamily="34" charset="-122"/>
                          <a:cs typeface="Calibri" pitchFamily="34" charset="-120"/>
                        </a:rPr>
                        <a:t>Dealer margin</a:t>
                      </a:r>
                      <a:endParaRPr lang="en-US" sz="1200" dirty="0">
                        <a:latin typeface="Calibri" charset="0"/>
                        <a:ea typeface="Calibri" charset="0"/>
                        <a:cs typeface="Calibri" charset="0"/>
                      </a:endParaRPr>
                    </a:p>
                  </a:txBody>
                  <a:tcPr marL="36576" marR="36576" marT="36576" marB="36576" anchor="ctr">
                    <a:lnL w="9525" cap="flat" cmpd="sng" algn="ctr">
                      <a:solidFill>
                        <a:srgbClr val="DCD4E8"/>
                      </a:solidFill>
                      <a:prstDash val="solid"/>
                      <a:round/>
                      <a:headEnd type="none" w="med" len="med"/>
                      <a:tailEnd type="none" w="med" len="med"/>
                    </a:lnL>
                    <a:lnR w="9525" cap="flat" cmpd="sng" algn="ctr">
                      <a:solidFill>
                        <a:srgbClr val="DCD4E8"/>
                      </a:solidFill>
                      <a:prstDash val="solid"/>
                      <a:round/>
                      <a:headEnd type="none" w="med" len="med"/>
                      <a:tailEnd type="none" w="med" len="med"/>
                    </a:lnR>
                    <a:lnT w="9525" cap="flat" cmpd="sng" algn="ctr">
                      <a:solidFill>
                        <a:srgbClr val="DCD4E8"/>
                      </a:solidFill>
                      <a:prstDash val="solid"/>
                      <a:round/>
                      <a:headEnd type="none" w="med" len="med"/>
                      <a:tailEnd type="none" w="med" len="med"/>
                    </a:lnT>
                    <a:lnB w="9525" cap="flat" cmpd="sng" algn="ctr">
                      <a:solidFill>
                        <a:srgbClr val="DCD4E8"/>
                      </a:solidFill>
                      <a:prstDash val="solid"/>
                      <a:round/>
                      <a:headEnd type="none" w="med" len="med"/>
                      <a:tailEnd type="none" w="med" len="med"/>
                    </a:lnB>
                    <a:solidFill>
                      <a:srgbClr val="FFFFFF"/>
                    </a:solidFill>
                  </a:tcPr>
                </a:tc>
                <a:tc>
                  <a:txBody>
                    <a:bodyPr/>
                    <a:lstStyle/>
                    <a:p>
                      <a:pPr algn="r" indent="0" marL="0">
                        <a:buNone/>
                      </a:pPr>
                      <a:r>
                        <a:rPr lang="en-US" sz="1200" dirty="0">
                          <a:solidFill>
                            <a:srgbClr val="3A3838"/>
                          </a:solidFill>
                          <a:latin typeface="Calibri" pitchFamily="34" charset="0"/>
                          <a:ea typeface="Calibri" pitchFamily="34" charset="-122"/>
                          <a:cs typeface="Calibri" pitchFamily="34" charset="-120"/>
                        </a:rPr>
                        <a:t>1.6%</a:t>
                      </a:r>
                      <a:endParaRPr lang="en-US" sz="1200" dirty="0">
                        <a:latin typeface="Calibri" charset="0"/>
                        <a:ea typeface="Calibri" charset="0"/>
                        <a:cs typeface="Calibri" charset="0"/>
                      </a:endParaRPr>
                    </a:p>
                  </a:txBody>
                  <a:tcPr marL="36576" marR="36576" marT="36576" marB="36576" anchor="ctr">
                    <a:lnL w="9525" cap="flat" cmpd="sng" algn="ctr">
                      <a:solidFill>
                        <a:srgbClr val="DCD4E8"/>
                      </a:solidFill>
                      <a:prstDash val="solid"/>
                      <a:round/>
                      <a:headEnd type="none" w="med" len="med"/>
                      <a:tailEnd type="none" w="med" len="med"/>
                    </a:lnL>
                    <a:lnR w="9525" cap="flat" cmpd="sng" algn="ctr">
                      <a:solidFill>
                        <a:srgbClr val="DCD4E8"/>
                      </a:solidFill>
                      <a:prstDash val="solid"/>
                      <a:round/>
                      <a:headEnd type="none" w="med" len="med"/>
                      <a:tailEnd type="none" w="med" len="med"/>
                    </a:lnR>
                    <a:lnT w="9525" cap="flat" cmpd="sng" algn="ctr">
                      <a:solidFill>
                        <a:srgbClr val="DCD4E8"/>
                      </a:solidFill>
                      <a:prstDash val="solid"/>
                      <a:round/>
                      <a:headEnd type="none" w="med" len="med"/>
                      <a:tailEnd type="none" w="med" len="med"/>
                    </a:lnT>
                    <a:lnB w="9525" cap="flat" cmpd="sng" algn="ctr">
                      <a:solidFill>
                        <a:srgbClr val="DCD4E8"/>
                      </a:solidFill>
                      <a:prstDash val="solid"/>
                      <a:round/>
                      <a:headEnd type="none" w="med" len="med"/>
                      <a:tailEnd type="none" w="med" len="med"/>
                    </a:lnB>
                    <a:solidFill>
                      <a:srgbClr val="FFFFFF"/>
                    </a:solidFill>
                  </a:tcPr>
                </a:tc>
                <a:tc>
                  <a:txBody>
                    <a:bodyPr/>
                    <a:lstStyle/>
                    <a:p>
                      <a:pPr algn="r" indent="0" marL="0">
                        <a:buNone/>
                      </a:pPr>
                      <a:r>
                        <a:rPr lang="en-US" sz="1200" dirty="0">
                          <a:solidFill>
                            <a:srgbClr val="3A3838"/>
                          </a:solidFill>
                          <a:latin typeface="Calibri" pitchFamily="34" charset="0"/>
                          <a:ea typeface="Calibri" pitchFamily="34" charset="-122"/>
                          <a:cs typeface="Calibri" pitchFamily="34" charset="-120"/>
                        </a:rPr>
                        <a:t>2.0%</a:t>
                      </a:r>
                      <a:endParaRPr lang="en-US" sz="1200" dirty="0">
                        <a:latin typeface="Calibri" charset="0"/>
                        <a:ea typeface="Calibri" charset="0"/>
                        <a:cs typeface="Calibri" charset="0"/>
                      </a:endParaRPr>
                    </a:p>
                  </a:txBody>
                  <a:tcPr marL="36576" marR="36576" marT="36576" marB="36576" anchor="ctr">
                    <a:lnL w="9525" cap="flat" cmpd="sng" algn="ctr">
                      <a:solidFill>
                        <a:srgbClr val="DCD4E8"/>
                      </a:solidFill>
                      <a:prstDash val="solid"/>
                      <a:round/>
                      <a:headEnd type="none" w="med" len="med"/>
                      <a:tailEnd type="none" w="med" len="med"/>
                    </a:lnL>
                    <a:lnR w="9525" cap="flat" cmpd="sng" algn="ctr">
                      <a:solidFill>
                        <a:srgbClr val="DCD4E8"/>
                      </a:solidFill>
                      <a:prstDash val="solid"/>
                      <a:round/>
                      <a:headEnd type="none" w="med" len="med"/>
                      <a:tailEnd type="none" w="med" len="med"/>
                    </a:lnR>
                    <a:lnT w="9525" cap="flat" cmpd="sng" algn="ctr">
                      <a:solidFill>
                        <a:srgbClr val="DCD4E8"/>
                      </a:solidFill>
                      <a:prstDash val="solid"/>
                      <a:round/>
                      <a:headEnd type="none" w="med" len="med"/>
                      <a:tailEnd type="none" w="med" len="med"/>
                    </a:lnT>
                    <a:lnB w="9525" cap="flat" cmpd="sng" algn="ctr">
                      <a:solidFill>
                        <a:srgbClr val="DCD4E8"/>
                      </a:solidFill>
                      <a:prstDash val="solid"/>
                      <a:round/>
                      <a:headEnd type="none" w="med" len="med"/>
                      <a:tailEnd type="none" w="med" len="med"/>
                    </a:lnB>
                    <a:solidFill>
                      <a:srgbClr val="FFFFFF"/>
                    </a:solidFill>
                  </a:tcPr>
                </a:tc>
                <a:tc>
                  <a:txBody>
                    <a:bodyPr/>
                    <a:lstStyle/>
                    <a:p>
                      <a:pPr algn="r" indent="0" marL="0">
                        <a:buNone/>
                      </a:pPr>
                      <a:r>
                        <a:rPr lang="en-US" sz="1200" dirty="0">
                          <a:solidFill>
                            <a:srgbClr val="3A3838"/>
                          </a:solidFill>
                          <a:latin typeface="Calibri" pitchFamily="34" charset="0"/>
                          <a:ea typeface="Calibri" pitchFamily="34" charset="-122"/>
                          <a:cs typeface="Calibri" pitchFamily="34" charset="-120"/>
                        </a:rPr>
                        <a:t>2.4%</a:t>
                      </a:r>
                      <a:endParaRPr lang="en-US" sz="1200" dirty="0">
                        <a:latin typeface="Calibri" charset="0"/>
                        <a:ea typeface="Calibri" charset="0"/>
                        <a:cs typeface="Calibri" charset="0"/>
                      </a:endParaRPr>
                    </a:p>
                  </a:txBody>
                  <a:tcPr marL="36576" marR="36576" marT="36576" marB="36576" anchor="ctr">
                    <a:lnL w="9525" cap="flat" cmpd="sng" algn="ctr">
                      <a:solidFill>
                        <a:srgbClr val="DCD4E8"/>
                      </a:solidFill>
                      <a:prstDash val="solid"/>
                      <a:round/>
                      <a:headEnd type="none" w="med" len="med"/>
                      <a:tailEnd type="none" w="med" len="med"/>
                    </a:lnL>
                    <a:lnR w="9525" cap="flat" cmpd="sng" algn="ctr">
                      <a:solidFill>
                        <a:srgbClr val="DCD4E8"/>
                      </a:solidFill>
                      <a:prstDash val="solid"/>
                      <a:round/>
                      <a:headEnd type="none" w="med" len="med"/>
                      <a:tailEnd type="none" w="med" len="med"/>
                    </a:lnR>
                    <a:lnT w="9525" cap="flat" cmpd="sng" algn="ctr">
                      <a:solidFill>
                        <a:srgbClr val="DCD4E8"/>
                      </a:solidFill>
                      <a:prstDash val="solid"/>
                      <a:round/>
                      <a:headEnd type="none" w="med" len="med"/>
                      <a:tailEnd type="none" w="med" len="med"/>
                    </a:lnT>
                    <a:lnB w="9525" cap="flat" cmpd="sng" algn="ctr">
                      <a:solidFill>
                        <a:srgbClr val="DCD4E8"/>
                      </a:solidFill>
                      <a:prstDash val="solid"/>
                      <a:round/>
                      <a:headEnd type="none" w="med" len="med"/>
                      <a:tailEnd type="none" w="med" len="med"/>
                    </a:lnB>
                    <a:solidFill>
                      <a:srgbClr val="FFFFFF"/>
                    </a:solidFill>
                  </a:tcPr>
                </a:tc>
                <a:tc>
                  <a:txBody>
                    <a:bodyPr/>
                    <a:lstStyle/>
                    <a:p>
                      <a:pPr algn="r" indent="0" marL="0">
                        <a:buNone/>
                      </a:pPr>
                      <a:r>
                        <a:rPr lang="en-US" sz="1200" dirty="0">
                          <a:solidFill>
                            <a:srgbClr val="3A3838"/>
                          </a:solidFill>
                          <a:latin typeface="Calibri" pitchFamily="34" charset="0"/>
                          <a:ea typeface="Calibri" pitchFamily="34" charset="-122"/>
                          <a:cs typeface="Calibri" pitchFamily="34" charset="-120"/>
                        </a:rPr>
                        <a:t>&gt;2.5%</a:t>
                      </a:r>
                      <a:endParaRPr lang="en-US" sz="1200" dirty="0">
                        <a:latin typeface="Calibri" charset="0"/>
                        <a:ea typeface="Calibri" charset="0"/>
                        <a:cs typeface="Calibri" charset="0"/>
                      </a:endParaRPr>
                    </a:p>
                  </a:txBody>
                  <a:tcPr marL="36576" marR="36576" marT="36576" marB="36576" anchor="ctr">
                    <a:lnL w="9525" cap="flat" cmpd="sng" algn="ctr">
                      <a:solidFill>
                        <a:srgbClr val="DCD4E8"/>
                      </a:solidFill>
                      <a:prstDash val="solid"/>
                      <a:round/>
                      <a:headEnd type="none" w="med" len="med"/>
                      <a:tailEnd type="none" w="med" len="med"/>
                    </a:lnL>
                    <a:lnR w="9525" cap="flat" cmpd="sng" algn="ctr">
                      <a:solidFill>
                        <a:srgbClr val="DCD4E8"/>
                      </a:solidFill>
                      <a:prstDash val="solid"/>
                      <a:round/>
                      <a:headEnd type="none" w="med" len="med"/>
                      <a:tailEnd type="none" w="med" len="med"/>
                    </a:lnR>
                    <a:lnT w="9525" cap="flat" cmpd="sng" algn="ctr">
                      <a:solidFill>
                        <a:srgbClr val="DCD4E8"/>
                      </a:solidFill>
                      <a:prstDash val="solid"/>
                      <a:round/>
                      <a:headEnd type="none" w="med" len="med"/>
                      <a:tailEnd type="none" w="med" len="med"/>
                    </a:lnT>
                    <a:lnB w="9525" cap="flat" cmpd="sng" algn="ctr">
                      <a:solidFill>
                        <a:srgbClr val="DCD4E8"/>
                      </a:solidFill>
                      <a:prstDash val="solid"/>
                      <a:round/>
                      <a:headEnd type="none" w="med" len="med"/>
                      <a:tailEnd type="none" w="med" len="med"/>
                    </a:lnB>
                    <a:solidFill>
                      <a:srgbClr val="FFFFFF"/>
                    </a:solidFill>
                  </a:tcPr>
                </a:tc>
              </a:tr>
              <a:tr h="228600">
                <a:tc>
                  <a:txBody>
                    <a:bodyPr/>
                    <a:lstStyle/>
                    <a:p>
                      <a:pPr algn="l" indent="0" marL="0">
                        <a:buNone/>
                      </a:pPr>
                      <a:r>
                        <a:rPr lang="en-US" sz="1200" dirty="0">
                          <a:solidFill>
                            <a:srgbClr val="3A3838"/>
                          </a:solidFill>
                          <a:latin typeface="Calibri" pitchFamily="34" charset="0"/>
                          <a:ea typeface="Calibri" pitchFamily="34" charset="-122"/>
                          <a:cs typeface="Calibri" pitchFamily="34" charset="-120"/>
                        </a:rPr>
                        <a:t>Outlets onboarded</a:t>
                      </a:r>
                      <a:endParaRPr lang="en-US" sz="1200" dirty="0">
                        <a:latin typeface="Calibri" charset="0"/>
                        <a:ea typeface="Calibri" charset="0"/>
                        <a:cs typeface="Calibri" charset="0"/>
                      </a:endParaRPr>
                    </a:p>
                  </a:txBody>
                  <a:tcPr marL="36576" marR="36576" marT="36576" marB="36576" anchor="ctr">
                    <a:lnL w="9525" cap="flat" cmpd="sng" algn="ctr">
                      <a:solidFill>
                        <a:srgbClr val="DCD4E8"/>
                      </a:solidFill>
                      <a:prstDash val="solid"/>
                      <a:round/>
                      <a:headEnd type="none" w="med" len="med"/>
                      <a:tailEnd type="none" w="med" len="med"/>
                    </a:lnL>
                    <a:lnR w="9525" cap="flat" cmpd="sng" algn="ctr">
                      <a:solidFill>
                        <a:srgbClr val="DCD4E8"/>
                      </a:solidFill>
                      <a:prstDash val="solid"/>
                      <a:round/>
                      <a:headEnd type="none" w="med" len="med"/>
                      <a:tailEnd type="none" w="med" len="med"/>
                    </a:lnR>
                    <a:lnT w="9525" cap="flat" cmpd="sng" algn="ctr">
                      <a:solidFill>
                        <a:srgbClr val="DCD4E8"/>
                      </a:solidFill>
                      <a:prstDash val="solid"/>
                      <a:round/>
                      <a:headEnd type="none" w="med" len="med"/>
                      <a:tailEnd type="none" w="med" len="med"/>
                    </a:lnT>
                    <a:lnB w="9525" cap="flat" cmpd="sng" algn="ctr">
                      <a:solidFill>
                        <a:srgbClr val="DCD4E8"/>
                      </a:solidFill>
                      <a:prstDash val="solid"/>
                      <a:round/>
                      <a:headEnd type="none" w="med" len="med"/>
                      <a:tailEnd type="none" w="med" len="med"/>
                    </a:lnB>
                    <a:solidFill>
                      <a:srgbClr val="FBF8FE"/>
                    </a:solidFill>
                  </a:tcPr>
                </a:tc>
                <a:tc>
                  <a:txBody>
                    <a:bodyPr/>
                    <a:lstStyle/>
                    <a:p>
                      <a:pPr algn="r" indent="0" marL="0">
                        <a:buNone/>
                      </a:pPr>
                      <a:r>
                        <a:rPr lang="en-US" sz="1200" dirty="0">
                          <a:solidFill>
                            <a:srgbClr val="3A3838"/>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36576" marR="36576" marT="36576" marB="36576" anchor="ctr">
                    <a:lnL w="9525" cap="flat" cmpd="sng" algn="ctr">
                      <a:solidFill>
                        <a:srgbClr val="DCD4E8"/>
                      </a:solidFill>
                      <a:prstDash val="solid"/>
                      <a:round/>
                      <a:headEnd type="none" w="med" len="med"/>
                      <a:tailEnd type="none" w="med" len="med"/>
                    </a:lnL>
                    <a:lnR w="9525" cap="flat" cmpd="sng" algn="ctr">
                      <a:solidFill>
                        <a:srgbClr val="DCD4E8"/>
                      </a:solidFill>
                      <a:prstDash val="solid"/>
                      <a:round/>
                      <a:headEnd type="none" w="med" len="med"/>
                      <a:tailEnd type="none" w="med" len="med"/>
                    </a:lnR>
                    <a:lnT w="9525" cap="flat" cmpd="sng" algn="ctr">
                      <a:solidFill>
                        <a:srgbClr val="DCD4E8"/>
                      </a:solidFill>
                      <a:prstDash val="solid"/>
                      <a:round/>
                      <a:headEnd type="none" w="med" len="med"/>
                      <a:tailEnd type="none" w="med" len="med"/>
                    </a:lnT>
                    <a:lnB w="9525" cap="flat" cmpd="sng" algn="ctr">
                      <a:solidFill>
                        <a:srgbClr val="DCD4E8"/>
                      </a:solidFill>
                      <a:prstDash val="solid"/>
                      <a:round/>
                      <a:headEnd type="none" w="med" len="med"/>
                      <a:tailEnd type="none" w="med" len="med"/>
                    </a:lnB>
                    <a:solidFill>
                      <a:srgbClr val="FBF8FE"/>
                    </a:solidFill>
                  </a:tcPr>
                </a:tc>
                <a:tc>
                  <a:txBody>
                    <a:bodyPr/>
                    <a:lstStyle/>
                    <a:p>
                      <a:pPr algn="r" indent="0" marL="0">
                        <a:buNone/>
                      </a:pPr>
                      <a:r>
                        <a:rPr lang="en-US" sz="1200" dirty="0">
                          <a:solidFill>
                            <a:srgbClr val="3A3838"/>
                          </a:solidFill>
                          <a:latin typeface="Calibri" pitchFamily="34" charset="0"/>
                          <a:ea typeface="Calibri" pitchFamily="34" charset="-122"/>
                          <a:cs typeface="Calibri" pitchFamily="34" charset="-120"/>
                        </a:rPr>
                        <a:t>19%</a:t>
                      </a:r>
                      <a:endParaRPr lang="en-US" sz="1200" dirty="0">
                        <a:latin typeface="Calibri" charset="0"/>
                        <a:ea typeface="Calibri" charset="0"/>
                        <a:cs typeface="Calibri" charset="0"/>
                      </a:endParaRPr>
                    </a:p>
                  </a:txBody>
                  <a:tcPr marL="36576" marR="36576" marT="36576" marB="36576" anchor="ctr">
                    <a:lnL w="9525" cap="flat" cmpd="sng" algn="ctr">
                      <a:solidFill>
                        <a:srgbClr val="DCD4E8"/>
                      </a:solidFill>
                      <a:prstDash val="solid"/>
                      <a:round/>
                      <a:headEnd type="none" w="med" len="med"/>
                      <a:tailEnd type="none" w="med" len="med"/>
                    </a:lnL>
                    <a:lnR w="9525" cap="flat" cmpd="sng" algn="ctr">
                      <a:solidFill>
                        <a:srgbClr val="DCD4E8"/>
                      </a:solidFill>
                      <a:prstDash val="solid"/>
                      <a:round/>
                      <a:headEnd type="none" w="med" len="med"/>
                      <a:tailEnd type="none" w="med" len="med"/>
                    </a:lnR>
                    <a:lnT w="9525" cap="flat" cmpd="sng" algn="ctr">
                      <a:solidFill>
                        <a:srgbClr val="DCD4E8"/>
                      </a:solidFill>
                      <a:prstDash val="solid"/>
                      <a:round/>
                      <a:headEnd type="none" w="med" len="med"/>
                      <a:tailEnd type="none" w="med" len="med"/>
                    </a:lnT>
                    <a:lnB w="9525" cap="flat" cmpd="sng" algn="ctr">
                      <a:solidFill>
                        <a:srgbClr val="DCD4E8"/>
                      </a:solidFill>
                      <a:prstDash val="solid"/>
                      <a:round/>
                      <a:headEnd type="none" w="med" len="med"/>
                      <a:tailEnd type="none" w="med" len="med"/>
                    </a:lnB>
                    <a:solidFill>
                      <a:srgbClr val="FBF8FE"/>
                    </a:solidFill>
                  </a:tcPr>
                </a:tc>
                <a:tc>
                  <a:txBody>
                    <a:bodyPr/>
                    <a:lstStyle/>
                    <a:p>
                      <a:pPr algn="r" indent="0" marL="0">
                        <a:buNone/>
                      </a:pPr>
                      <a:r>
                        <a:rPr lang="en-US" sz="1200" dirty="0">
                          <a:solidFill>
                            <a:srgbClr val="3A3838"/>
                          </a:solidFill>
                          <a:latin typeface="Calibri" pitchFamily="34" charset="0"/>
                          <a:ea typeface="Calibri" pitchFamily="34" charset="-122"/>
                          <a:cs typeface="Calibri" pitchFamily="34" charset="-120"/>
                        </a:rPr>
                        <a:t>57%</a:t>
                      </a:r>
                      <a:endParaRPr lang="en-US" sz="1200" dirty="0">
                        <a:latin typeface="Calibri" charset="0"/>
                        <a:ea typeface="Calibri" charset="0"/>
                        <a:cs typeface="Calibri" charset="0"/>
                      </a:endParaRPr>
                    </a:p>
                  </a:txBody>
                  <a:tcPr marL="36576" marR="36576" marT="36576" marB="36576" anchor="ctr">
                    <a:lnL w="9525" cap="flat" cmpd="sng" algn="ctr">
                      <a:solidFill>
                        <a:srgbClr val="DCD4E8"/>
                      </a:solidFill>
                      <a:prstDash val="solid"/>
                      <a:round/>
                      <a:headEnd type="none" w="med" len="med"/>
                      <a:tailEnd type="none" w="med" len="med"/>
                    </a:lnL>
                    <a:lnR w="9525" cap="flat" cmpd="sng" algn="ctr">
                      <a:solidFill>
                        <a:srgbClr val="DCD4E8"/>
                      </a:solidFill>
                      <a:prstDash val="solid"/>
                      <a:round/>
                      <a:headEnd type="none" w="med" len="med"/>
                      <a:tailEnd type="none" w="med" len="med"/>
                    </a:lnR>
                    <a:lnT w="9525" cap="flat" cmpd="sng" algn="ctr">
                      <a:solidFill>
                        <a:srgbClr val="DCD4E8"/>
                      </a:solidFill>
                      <a:prstDash val="solid"/>
                      <a:round/>
                      <a:headEnd type="none" w="med" len="med"/>
                      <a:tailEnd type="none" w="med" len="med"/>
                    </a:lnT>
                    <a:lnB w="9525" cap="flat" cmpd="sng" algn="ctr">
                      <a:solidFill>
                        <a:srgbClr val="DCD4E8"/>
                      </a:solidFill>
                      <a:prstDash val="solid"/>
                      <a:round/>
                      <a:headEnd type="none" w="med" len="med"/>
                      <a:tailEnd type="none" w="med" len="med"/>
                    </a:lnB>
                    <a:solidFill>
                      <a:srgbClr val="FBF8FE"/>
                    </a:solidFill>
                  </a:tcPr>
                </a:tc>
                <a:tc>
                  <a:txBody>
                    <a:bodyPr/>
                    <a:lstStyle/>
                    <a:p>
                      <a:pPr algn="r" indent="0" marL="0">
                        <a:buNone/>
                      </a:pPr>
                      <a:r>
                        <a:rPr lang="en-US" sz="1200" dirty="0">
                          <a:solidFill>
                            <a:srgbClr val="3A3838"/>
                          </a:solidFill>
                          <a:latin typeface="Calibri" pitchFamily="34" charset="0"/>
                          <a:ea typeface="Calibri" pitchFamily="34" charset="-122"/>
                          <a:cs typeface="Calibri" pitchFamily="34" charset="-120"/>
                        </a:rPr>
                        <a:t>100%</a:t>
                      </a:r>
                      <a:endParaRPr lang="en-US" sz="1200" dirty="0">
                        <a:latin typeface="Calibri" charset="0"/>
                        <a:ea typeface="Calibri" charset="0"/>
                        <a:cs typeface="Calibri" charset="0"/>
                      </a:endParaRPr>
                    </a:p>
                  </a:txBody>
                  <a:tcPr marL="36576" marR="36576" marT="36576" marB="36576" anchor="ctr">
                    <a:lnL w="9525" cap="flat" cmpd="sng" algn="ctr">
                      <a:solidFill>
                        <a:srgbClr val="DCD4E8"/>
                      </a:solidFill>
                      <a:prstDash val="solid"/>
                      <a:round/>
                      <a:headEnd type="none" w="med" len="med"/>
                      <a:tailEnd type="none" w="med" len="med"/>
                    </a:lnL>
                    <a:lnR w="9525" cap="flat" cmpd="sng" algn="ctr">
                      <a:solidFill>
                        <a:srgbClr val="DCD4E8"/>
                      </a:solidFill>
                      <a:prstDash val="solid"/>
                      <a:round/>
                      <a:headEnd type="none" w="med" len="med"/>
                      <a:tailEnd type="none" w="med" len="med"/>
                    </a:lnR>
                    <a:lnT w="9525" cap="flat" cmpd="sng" algn="ctr">
                      <a:solidFill>
                        <a:srgbClr val="DCD4E8"/>
                      </a:solidFill>
                      <a:prstDash val="solid"/>
                      <a:round/>
                      <a:headEnd type="none" w="med" len="med"/>
                      <a:tailEnd type="none" w="med" len="med"/>
                    </a:lnT>
                    <a:lnB w="9525" cap="flat" cmpd="sng" algn="ctr">
                      <a:solidFill>
                        <a:srgbClr val="DCD4E8"/>
                      </a:solidFill>
                      <a:prstDash val="solid"/>
                      <a:round/>
                      <a:headEnd type="none" w="med" len="med"/>
                      <a:tailEnd type="none" w="med" len="med"/>
                    </a:lnB>
                    <a:solidFill>
                      <a:srgbClr val="FBF8FE"/>
                    </a:solidFill>
                  </a:tcPr>
                </a:tc>
              </a:tr>
              <a:tr h="228600">
                <a:tc>
                  <a:txBody>
                    <a:bodyPr/>
                    <a:lstStyle/>
                    <a:p>
                      <a:pPr algn="l" indent="0" marL="0">
                        <a:buNone/>
                      </a:pPr>
                      <a:r>
                        <a:rPr lang="en-US" sz="1200" dirty="0">
                          <a:solidFill>
                            <a:srgbClr val="3A3838"/>
                          </a:solidFill>
                          <a:latin typeface="Calibri" pitchFamily="34" charset="0"/>
                          <a:ea typeface="Calibri" pitchFamily="34" charset="-122"/>
                          <a:cs typeface="Calibri" pitchFamily="34" charset="-120"/>
                        </a:rPr>
                        <a:t>Active, of onboarded</a:t>
                      </a:r>
                      <a:endParaRPr lang="en-US" sz="1200" dirty="0">
                        <a:latin typeface="Calibri" charset="0"/>
                        <a:ea typeface="Calibri" charset="0"/>
                        <a:cs typeface="Calibri" charset="0"/>
                      </a:endParaRPr>
                    </a:p>
                  </a:txBody>
                  <a:tcPr marL="36576" marR="36576" marT="36576" marB="36576" anchor="ctr">
                    <a:lnL w="9525" cap="flat" cmpd="sng" algn="ctr">
                      <a:solidFill>
                        <a:srgbClr val="DCD4E8"/>
                      </a:solidFill>
                      <a:prstDash val="solid"/>
                      <a:round/>
                      <a:headEnd type="none" w="med" len="med"/>
                      <a:tailEnd type="none" w="med" len="med"/>
                    </a:lnL>
                    <a:lnR w="9525" cap="flat" cmpd="sng" algn="ctr">
                      <a:solidFill>
                        <a:srgbClr val="DCD4E8"/>
                      </a:solidFill>
                      <a:prstDash val="solid"/>
                      <a:round/>
                      <a:headEnd type="none" w="med" len="med"/>
                      <a:tailEnd type="none" w="med" len="med"/>
                    </a:lnR>
                    <a:lnT w="9525" cap="flat" cmpd="sng" algn="ctr">
                      <a:solidFill>
                        <a:srgbClr val="DCD4E8"/>
                      </a:solidFill>
                      <a:prstDash val="solid"/>
                      <a:round/>
                      <a:headEnd type="none" w="med" len="med"/>
                      <a:tailEnd type="none" w="med" len="med"/>
                    </a:lnT>
                    <a:lnB w="9525" cap="flat" cmpd="sng" algn="ctr">
                      <a:solidFill>
                        <a:srgbClr val="DCD4E8"/>
                      </a:solidFill>
                      <a:prstDash val="solid"/>
                      <a:round/>
                      <a:headEnd type="none" w="med" len="med"/>
                      <a:tailEnd type="none" w="med" len="med"/>
                    </a:lnB>
                    <a:solidFill>
                      <a:srgbClr val="FFFFFF"/>
                    </a:solidFill>
                  </a:tcPr>
                </a:tc>
                <a:tc>
                  <a:txBody>
                    <a:bodyPr/>
                    <a:lstStyle/>
                    <a:p>
                      <a:pPr algn="r" indent="0" marL="0">
                        <a:buNone/>
                      </a:pPr>
                      <a:r>
                        <a:rPr lang="en-US" sz="1200" dirty="0">
                          <a:solidFill>
                            <a:srgbClr val="3A3838"/>
                          </a:solidFill>
                          <a:latin typeface="Calibri" pitchFamily="34" charset="0"/>
                          <a:ea typeface="Calibri" pitchFamily="34" charset="-122"/>
                          <a:cs typeface="Calibri" pitchFamily="34" charset="-120"/>
                        </a:rPr>
                        <a:t>34%*</a:t>
                      </a:r>
                      <a:endParaRPr lang="en-US" sz="1200" dirty="0">
                        <a:latin typeface="Calibri" charset="0"/>
                        <a:ea typeface="Calibri" charset="0"/>
                        <a:cs typeface="Calibri" charset="0"/>
                      </a:endParaRPr>
                    </a:p>
                  </a:txBody>
                  <a:tcPr marL="36576" marR="36576" marT="36576" marB="36576" anchor="ctr">
                    <a:lnL w="9525" cap="flat" cmpd="sng" algn="ctr">
                      <a:solidFill>
                        <a:srgbClr val="DCD4E8"/>
                      </a:solidFill>
                      <a:prstDash val="solid"/>
                      <a:round/>
                      <a:headEnd type="none" w="med" len="med"/>
                      <a:tailEnd type="none" w="med" len="med"/>
                    </a:lnL>
                    <a:lnR w="9525" cap="flat" cmpd="sng" algn="ctr">
                      <a:solidFill>
                        <a:srgbClr val="DCD4E8"/>
                      </a:solidFill>
                      <a:prstDash val="solid"/>
                      <a:round/>
                      <a:headEnd type="none" w="med" len="med"/>
                      <a:tailEnd type="none" w="med" len="med"/>
                    </a:lnR>
                    <a:lnT w="9525" cap="flat" cmpd="sng" algn="ctr">
                      <a:solidFill>
                        <a:srgbClr val="DCD4E8"/>
                      </a:solidFill>
                      <a:prstDash val="solid"/>
                      <a:round/>
                      <a:headEnd type="none" w="med" len="med"/>
                      <a:tailEnd type="none" w="med" len="med"/>
                    </a:lnT>
                    <a:lnB w="9525" cap="flat" cmpd="sng" algn="ctr">
                      <a:solidFill>
                        <a:srgbClr val="DCD4E8"/>
                      </a:solidFill>
                      <a:prstDash val="solid"/>
                      <a:round/>
                      <a:headEnd type="none" w="med" len="med"/>
                      <a:tailEnd type="none" w="med" len="med"/>
                    </a:lnB>
                    <a:solidFill>
                      <a:srgbClr val="FFFFFF"/>
                    </a:solidFill>
                  </a:tcPr>
                </a:tc>
                <a:tc>
                  <a:txBody>
                    <a:bodyPr/>
                    <a:lstStyle/>
                    <a:p>
                      <a:pPr algn="r" indent="0" marL="0">
                        <a:buNone/>
                      </a:pPr>
                      <a:r>
                        <a:rPr lang="en-US" sz="1200" dirty="0">
                          <a:solidFill>
                            <a:srgbClr val="3A3838"/>
                          </a:solidFill>
                          <a:latin typeface="Calibri" pitchFamily="34" charset="0"/>
                          <a:ea typeface="Calibri" pitchFamily="34" charset="-122"/>
                          <a:cs typeface="Calibri" pitchFamily="34" charset="-120"/>
                        </a:rPr>
                        <a:t>65%</a:t>
                      </a:r>
                      <a:endParaRPr lang="en-US" sz="1200" dirty="0">
                        <a:latin typeface="Calibri" charset="0"/>
                        <a:ea typeface="Calibri" charset="0"/>
                        <a:cs typeface="Calibri" charset="0"/>
                      </a:endParaRPr>
                    </a:p>
                  </a:txBody>
                  <a:tcPr marL="36576" marR="36576" marT="36576" marB="36576" anchor="ctr">
                    <a:lnL w="9525" cap="flat" cmpd="sng" algn="ctr">
                      <a:solidFill>
                        <a:srgbClr val="DCD4E8"/>
                      </a:solidFill>
                      <a:prstDash val="solid"/>
                      <a:round/>
                      <a:headEnd type="none" w="med" len="med"/>
                      <a:tailEnd type="none" w="med" len="med"/>
                    </a:lnL>
                    <a:lnR w="9525" cap="flat" cmpd="sng" algn="ctr">
                      <a:solidFill>
                        <a:srgbClr val="DCD4E8"/>
                      </a:solidFill>
                      <a:prstDash val="solid"/>
                      <a:round/>
                      <a:headEnd type="none" w="med" len="med"/>
                      <a:tailEnd type="none" w="med" len="med"/>
                    </a:lnR>
                    <a:lnT w="9525" cap="flat" cmpd="sng" algn="ctr">
                      <a:solidFill>
                        <a:srgbClr val="DCD4E8"/>
                      </a:solidFill>
                      <a:prstDash val="solid"/>
                      <a:round/>
                      <a:headEnd type="none" w="med" len="med"/>
                      <a:tailEnd type="none" w="med" len="med"/>
                    </a:lnT>
                    <a:lnB w="9525" cap="flat" cmpd="sng" algn="ctr">
                      <a:solidFill>
                        <a:srgbClr val="DCD4E8"/>
                      </a:solidFill>
                      <a:prstDash val="solid"/>
                      <a:round/>
                      <a:headEnd type="none" w="med" len="med"/>
                      <a:tailEnd type="none" w="med" len="med"/>
                    </a:lnB>
                    <a:solidFill>
                      <a:srgbClr val="FFFFFF"/>
                    </a:solidFill>
                  </a:tcPr>
                </a:tc>
                <a:tc>
                  <a:txBody>
                    <a:bodyPr/>
                    <a:lstStyle/>
                    <a:p>
                      <a:pPr algn="r" indent="0" marL="0">
                        <a:buNone/>
                      </a:pPr>
                      <a:r>
                        <a:rPr lang="en-US" sz="1200" dirty="0">
                          <a:solidFill>
                            <a:srgbClr val="3A3838"/>
                          </a:solidFill>
                          <a:latin typeface="Calibri" pitchFamily="34" charset="0"/>
                          <a:ea typeface="Calibri" pitchFamily="34" charset="-122"/>
                          <a:cs typeface="Calibri" pitchFamily="34" charset="-120"/>
                        </a:rPr>
                        <a:t>80%</a:t>
                      </a:r>
                      <a:endParaRPr lang="en-US" sz="1200" dirty="0">
                        <a:latin typeface="Calibri" charset="0"/>
                        <a:ea typeface="Calibri" charset="0"/>
                        <a:cs typeface="Calibri" charset="0"/>
                      </a:endParaRPr>
                    </a:p>
                  </a:txBody>
                  <a:tcPr marL="36576" marR="36576" marT="36576" marB="36576" anchor="ctr">
                    <a:lnL w="9525" cap="flat" cmpd="sng" algn="ctr">
                      <a:solidFill>
                        <a:srgbClr val="DCD4E8"/>
                      </a:solidFill>
                      <a:prstDash val="solid"/>
                      <a:round/>
                      <a:headEnd type="none" w="med" len="med"/>
                      <a:tailEnd type="none" w="med" len="med"/>
                    </a:lnL>
                    <a:lnR w="9525" cap="flat" cmpd="sng" algn="ctr">
                      <a:solidFill>
                        <a:srgbClr val="DCD4E8"/>
                      </a:solidFill>
                      <a:prstDash val="solid"/>
                      <a:round/>
                      <a:headEnd type="none" w="med" len="med"/>
                      <a:tailEnd type="none" w="med" len="med"/>
                    </a:lnR>
                    <a:lnT w="9525" cap="flat" cmpd="sng" algn="ctr">
                      <a:solidFill>
                        <a:srgbClr val="DCD4E8"/>
                      </a:solidFill>
                      <a:prstDash val="solid"/>
                      <a:round/>
                      <a:headEnd type="none" w="med" len="med"/>
                      <a:tailEnd type="none" w="med" len="med"/>
                    </a:lnT>
                    <a:lnB w="9525" cap="flat" cmpd="sng" algn="ctr">
                      <a:solidFill>
                        <a:srgbClr val="DCD4E8"/>
                      </a:solidFill>
                      <a:prstDash val="solid"/>
                      <a:round/>
                      <a:headEnd type="none" w="med" len="med"/>
                      <a:tailEnd type="none" w="med" len="med"/>
                    </a:lnB>
                    <a:solidFill>
                      <a:srgbClr val="FFFFFF"/>
                    </a:solidFill>
                  </a:tcPr>
                </a:tc>
                <a:tc>
                  <a:txBody>
                    <a:bodyPr/>
                    <a:lstStyle/>
                    <a:p>
                      <a:pPr algn="r" indent="0" marL="0">
                        <a:buNone/>
                      </a:pPr>
                      <a:r>
                        <a:rPr lang="en-US" sz="1200" dirty="0">
                          <a:solidFill>
                            <a:srgbClr val="3A3838"/>
                          </a:solidFill>
                          <a:latin typeface="Calibri" pitchFamily="34" charset="0"/>
                          <a:ea typeface="Calibri" pitchFamily="34" charset="-122"/>
                          <a:cs typeface="Calibri" pitchFamily="34" charset="-120"/>
                        </a:rPr>
                        <a:t>95%</a:t>
                      </a:r>
                      <a:endParaRPr lang="en-US" sz="1200" dirty="0">
                        <a:latin typeface="Calibri" charset="0"/>
                        <a:ea typeface="Calibri" charset="0"/>
                        <a:cs typeface="Calibri" charset="0"/>
                      </a:endParaRPr>
                    </a:p>
                  </a:txBody>
                  <a:tcPr marL="36576" marR="36576" marT="36576" marB="36576" anchor="ctr">
                    <a:lnL w="9525" cap="flat" cmpd="sng" algn="ctr">
                      <a:solidFill>
                        <a:srgbClr val="DCD4E8"/>
                      </a:solidFill>
                      <a:prstDash val="solid"/>
                      <a:round/>
                      <a:headEnd type="none" w="med" len="med"/>
                      <a:tailEnd type="none" w="med" len="med"/>
                    </a:lnL>
                    <a:lnR w="9525" cap="flat" cmpd="sng" algn="ctr">
                      <a:solidFill>
                        <a:srgbClr val="DCD4E8"/>
                      </a:solidFill>
                      <a:prstDash val="solid"/>
                      <a:round/>
                      <a:headEnd type="none" w="med" len="med"/>
                      <a:tailEnd type="none" w="med" len="med"/>
                    </a:lnR>
                    <a:lnT w="9525" cap="flat" cmpd="sng" algn="ctr">
                      <a:solidFill>
                        <a:srgbClr val="DCD4E8"/>
                      </a:solidFill>
                      <a:prstDash val="solid"/>
                      <a:round/>
                      <a:headEnd type="none" w="med" len="med"/>
                      <a:tailEnd type="none" w="med" len="med"/>
                    </a:lnT>
                    <a:lnB w="9525" cap="flat" cmpd="sng" algn="ctr">
                      <a:solidFill>
                        <a:srgbClr val="DCD4E8"/>
                      </a:solidFill>
                      <a:prstDash val="solid"/>
                      <a:round/>
                      <a:headEnd type="none" w="med" len="med"/>
                      <a:tailEnd type="none" w="med" len="med"/>
                    </a:lnB>
                    <a:solidFill>
                      <a:srgbClr val="FFFFFF"/>
                    </a:solidFill>
                  </a:tcPr>
                </a:tc>
              </a:tr>
              <a:tr h="228600">
                <a:tc>
                  <a:txBody>
                    <a:bodyPr/>
                    <a:lstStyle/>
                    <a:p>
                      <a:pPr algn="l" indent="0" marL="0">
                        <a:buNone/>
                      </a:pPr>
                      <a:r>
                        <a:rPr lang="en-US" sz="1200" dirty="0">
                          <a:solidFill>
                            <a:srgbClr val="3A3838"/>
                          </a:solidFill>
                          <a:latin typeface="Calibri" pitchFamily="34" charset="0"/>
                          <a:ea typeface="Calibri" pitchFamily="34" charset="-122"/>
                          <a:cs typeface="Calibri" pitchFamily="34" charset="-120"/>
                        </a:rPr>
                        <a:t>First-contact fix</a:t>
                      </a:r>
                      <a:endParaRPr lang="en-US" sz="1200" dirty="0">
                        <a:latin typeface="Calibri" charset="0"/>
                        <a:ea typeface="Calibri" charset="0"/>
                        <a:cs typeface="Calibri" charset="0"/>
                      </a:endParaRPr>
                    </a:p>
                  </a:txBody>
                  <a:tcPr marL="36576" marR="36576" marT="36576" marB="36576" anchor="ctr">
                    <a:lnL w="9525" cap="flat" cmpd="sng" algn="ctr">
                      <a:solidFill>
                        <a:srgbClr val="DCD4E8"/>
                      </a:solidFill>
                      <a:prstDash val="solid"/>
                      <a:round/>
                      <a:headEnd type="none" w="med" len="med"/>
                      <a:tailEnd type="none" w="med" len="med"/>
                    </a:lnL>
                    <a:lnR w="9525" cap="flat" cmpd="sng" algn="ctr">
                      <a:solidFill>
                        <a:srgbClr val="DCD4E8"/>
                      </a:solidFill>
                      <a:prstDash val="solid"/>
                      <a:round/>
                      <a:headEnd type="none" w="med" len="med"/>
                      <a:tailEnd type="none" w="med" len="med"/>
                    </a:lnR>
                    <a:lnT w="9525" cap="flat" cmpd="sng" algn="ctr">
                      <a:solidFill>
                        <a:srgbClr val="DCD4E8"/>
                      </a:solidFill>
                      <a:prstDash val="solid"/>
                      <a:round/>
                      <a:headEnd type="none" w="med" len="med"/>
                      <a:tailEnd type="none" w="med" len="med"/>
                    </a:lnT>
                    <a:lnB w="9525" cap="flat" cmpd="sng" algn="ctr">
                      <a:solidFill>
                        <a:srgbClr val="DCD4E8"/>
                      </a:solidFill>
                      <a:prstDash val="solid"/>
                      <a:round/>
                      <a:headEnd type="none" w="med" len="med"/>
                      <a:tailEnd type="none" w="med" len="med"/>
                    </a:lnB>
                    <a:solidFill>
                      <a:srgbClr val="FBF8FE"/>
                    </a:solidFill>
                  </a:tcPr>
                </a:tc>
                <a:tc>
                  <a:txBody>
                    <a:bodyPr/>
                    <a:lstStyle/>
                    <a:p>
                      <a:pPr algn="r" indent="0" marL="0">
                        <a:buNone/>
                      </a:pPr>
                      <a:r>
                        <a:rPr lang="en-US" sz="1200" dirty="0">
                          <a:solidFill>
                            <a:srgbClr val="3A3838"/>
                          </a:solidFill>
                          <a:latin typeface="Calibri" pitchFamily="34" charset="0"/>
                          <a:ea typeface="Calibri" pitchFamily="34" charset="-122"/>
                          <a:cs typeface="Calibri" pitchFamily="34" charset="-120"/>
                        </a:rPr>
                        <a:t>66%</a:t>
                      </a:r>
                      <a:endParaRPr lang="en-US" sz="1200" dirty="0">
                        <a:latin typeface="Calibri" charset="0"/>
                        <a:ea typeface="Calibri" charset="0"/>
                        <a:cs typeface="Calibri" charset="0"/>
                      </a:endParaRPr>
                    </a:p>
                  </a:txBody>
                  <a:tcPr marL="36576" marR="36576" marT="36576" marB="36576" anchor="ctr">
                    <a:lnL w="9525" cap="flat" cmpd="sng" algn="ctr">
                      <a:solidFill>
                        <a:srgbClr val="DCD4E8"/>
                      </a:solidFill>
                      <a:prstDash val="solid"/>
                      <a:round/>
                      <a:headEnd type="none" w="med" len="med"/>
                      <a:tailEnd type="none" w="med" len="med"/>
                    </a:lnL>
                    <a:lnR w="9525" cap="flat" cmpd="sng" algn="ctr">
                      <a:solidFill>
                        <a:srgbClr val="DCD4E8"/>
                      </a:solidFill>
                      <a:prstDash val="solid"/>
                      <a:round/>
                      <a:headEnd type="none" w="med" len="med"/>
                      <a:tailEnd type="none" w="med" len="med"/>
                    </a:lnR>
                    <a:lnT w="9525" cap="flat" cmpd="sng" algn="ctr">
                      <a:solidFill>
                        <a:srgbClr val="DCD4E8"/>
                      </a:solidFill>
                      <a:prstDash val="solid"/>
                      <a:round/>
                      <a:headEnd type="none" w="med" len="med"/>
                      <a:tailEnd type="none" w="med" len="med"/>
                    </a:lnT>
                    <a:lnB w="9525" cap="flat" cmpd="sng" algn="ctr">
                      <a:solidFill>
                        <a:srgbClr val="DCD4E8"/>
                      </a:solidFill>
                      <a:prstDash val="solid"/>
                      <a:round/>
                      <a:headEnd type="none" w="med" len="med"/>
                      <a:tailEnd type="none" w="med" len="med"/>
                    </a:lnB>
                    <a:solidFill>
                      <a:srgbClr val="FBF8FE"/>
                    </a:solidFill>
                  </a:tcPr>
                </a:tc>
                <a:tc>
                  <a:txBody>
                    <a:bodyPr/>
                    <a:lstStyle/>
                    <a:p>
                      <a:pPr algn="r" indent="0" marL="0">
                        <a:buNone/>
                      </a:pPr>
                      <a:r>
                        <a:rPr lang="en-US" sz="1200" dirty="0">
                          <a:solidFill>
                            <a:srgbClr val="3A3838"/>
                          </a:solidFill>
                          <a:latin typeface="Calibri" pitchFamily="34" charset="0"/>
                          <a:ea typeface="Calibri" pitchFamily="34" charset="-122"/>
                          <a:cs typeface="Calibri" pitchFamily="34" charset="-120"/>
                        </a:rPr>
                        <a:t>72%</a:t>
                      </a:r>
                      <a:endParaRPr lang="en-US" sz="1200" dirty="0">
                        <a:latin typeface="Calibri" charset="0"/>
                        <a:ea typeface="Calibri" charset="0"/>
                        <a:cs typeface="Calibri" charset="0"/>
                      </a:endParaRPr>
                    </a:p>
                  </a:txBody>
                  <a:tcPr marL="36576" marR="36576" marT="36576" marB="36576" anchor="ctr">
                    <a:lnL w="9525" cap="flat" cmpd="sng" algn="ctr">
                      <a:solidFill>
                        <a:srgbClr val="DCD4E8"/>
                      </a:solidFill>
                      <a:prstDash val="solid"/>
                      <a:round/>
                      <a:headEnd type="none" w="med" len="med"/>
                      <a:tailEnd type="none" w="med" len="med"/>
                    </a:lnL>
                    <a:lnR w="9525" cap="flat" cmpd="sng" algn="ctr">
                      <a:solidFill>
                        <a:srgbClr val="DCD4E8"/>
                      </a:solidFill>
                      <a:prstDash val="solid"/>
                      <a:round/>
                      <a:headEnd type="none" w="med" len="med"/>
                      <a:tailEnd type="none" w="med" len="med"/>
                    </a:lnR>
                    <a:lnT w="9525" cap="flat" cmpd="sng" algn="ctr">
                      <a:solidFill>
                        <a:srgbClr val="DCD4E8"/>
                      </a:solidFill>
                      <a:prstDash val="solid"/>
                      <a:round/>
                      <a:headEnd type="none" w="med" len="med"/>
                      <a:tailEnd type="none" w="med" len="med"/>
                    </a:lnT>
                    <a:lnB w="9525" cap="flat" cmpd="sng" algn="ctr">
                      <a:solidFill>
                        <a:srgbClr val="DCD4E8"/>
                      </a:solidFill>
                      <a:prstDash val="solid"/>
                      <a:round/>
                      <a:headEnd type="none" w="med" len="med"/>
                      <a:tailEnd type="none" w="med" len="med"/>
                    </a:lnB>
                    <a:solidFill>
                      <a:srgbClr val="FBF8FE"/>
                    </a:solidFill>
                  </a:tcPr>
                </a:tc>
                <a:tc>
                  <a:txBody>
                    <a:bodyPr/>
                    <a:lstStyle/>
                    <a:p>
                      <a:pPr algn="r" indent="0" marL="0">
                        <a:buNone/>
                      </a:pPr>
                      <a:r>
                        <a:rPr lang="en-US" sz="1200" dirty="0">
                          <a:solidFill>
                            <a:srgbClr val="3A3838"/>
                          </a:solidFill>
                          <a:latin typeface="Calibri" pitchFamily="34" charset="0"/>
                          <a:ea typeface="Calibri" pitchFamily="34" charset="-122"/>
                          <a:cs typeface="Calibri" pitchFamily="34" charset="-120"/>
                        </a:rPr>
                        <a:t>77%</a:t>
                      </a:r>
                      <a:endParaRPr lang="en-US" sz="1200" dirty="0">
                        <a:latin typeface="Calibri" charset="0"/>
                        <a:ea typeface="Calibri" charset="0"/>
                        <a:cs typeface="Calibri" charset="0"/>
                      </a:endParaRPr>
                    </a:p>
                  </a:txBody>
                  <a:tcPr marL="36576" marR="36576" marT="36576" marB="36576" anchor="ctr">
                    <a:lnL w="9525" cap="flat" cmpd="sng" algn="ctr">
                      <a:solidFill>
                        <a:srgbClr val="DCD4E8"/>
                      </a:solidFill>
                      <a:prstDash val="solid"/>
                      <a:round/>
                      <a:headEnd type="none" w="med" len="med"/>
                      <a:tailEnd type="none" w="med" len="med"/>
                    </a:lnL>
                    <a:lnR w="9525" cap="flat" cmpd="sng" algn="ctr">
                      <a:solidFill>
                        <a:srgbClr val="DCD4E8"/>
                      </a:solidFill>
                      <a:prstDash val="solid"/>
                      <a:round/>
                      <a:headEnd type="none" w="med" len="med"/>
                      <a:tailEnd type="none" w="med" len="med"/>
                    </a:lnR>
                    <a:lnT w="9525" cap="flat" cmpd="sng" algn="ctr">
                      <a:solidFill>
                        <a:srgbClr val="DCD4E8"/>
                      </a:solidFill>
                      <a:prstDash val="solid"/>
                      <a:round/>
                      <a:headEnd type="none" w="med" len="med"/>
                      <a:tailEnd type="none" w="med" len="med"/>
                    </a:lnT>
                    <a:lnB w="9525" cap="flat" cmpd="sng" algn="ctr">
                      <a:solidFill>
                        <a:srgbClr val="DCD4E8"/>
                      </a:solidFill>
                      <a:prstDash val="solid"/>
                      <a:round/>
                      <a:headEnd type="none" w="med" len="med"/>
                      <a:tailEnd type="none" w="med" len="med"/>
                    </a:lnB>
                    <a:solidFill>
                      <a:srgbClr val="FBF8FE"/>
                    </a:solidFill>
                  </a:tcPr>
                </a:tc>
                <a:tc>
                  <a:txBody>
                    <a:bodyPr/>
                    <a:lstStyle/>
                    <a:p>
                      <a:pPr algn="r" indent="0" marL="0">
                        <a:buNone/>
                      </a:pPr>
                      <a:r>
                        <a:rPr lang="en-US" sz="1200" dirty="0">
                          <a:solidFill>
                            <a:srgbClr val="3A3838"/>
                          </a:solidFill>
                          <a:latin typeface="Calibri" pitchFamily="34" charset="0"/>
                          <a:ea typeface="Calibri" pitchFamily="34" charset="-122"/>
                          <a:cs typeface="Calibri" pitchFamily="34" charset="-120"/>
                        </a:rPr>
                        <a:t>80%</a:t>
                      </a:r>
                      <a:endParaRPr lang="en-US" sz="1200" dirty="0">
                        <a:latin typeface="Calibri" charset="0"/>
                        <a:ea typeface="Calibri" charset="0"/>
                        <a:cs typeface="Calibri" charset="0"/>
                      </a:endParaRPr>
                    </a:p>
                  </a:txBody>
                  <a:tcPr marL="36576" marR="36576" marT="36576" marB="36576" anchor="ctr">
                    <a:lnL w="9525" cap="flat" cmpd="sng" algn="ctr">
                      <a:solidFill>
                        <a:srgbClr val="DCD4E8"/>
                      </a:solidFill>
                      <a:prstDash val="solid"/>
                      <a:round/>
                      <a:headEnd type="none" w="med" len="med"/>
                      <a:tailEnd type="none" w="med" len="med"/>
                    </a:lnL>
                    <a:lnR w="9525" cap="flat" cmpd="sng" algn="ctr">
                      <a:solidFill>
                        <a:srgbClr val="DCD4E8"/>
                      </a:solidFill>
                      <a:prstDash val="solid"/>
                      <a:round/>
                      <a:headEnd type="none" w="med" len="med"/>
                      <a:tailEnd type="none" w="med" len="med"/>
                    </a:lnR>
                    <a:lnT w="9525" cap="flat" cmpd="sng" algn="ctr">
                      <a:solidFill>
                        <a:srgbClr val="DCD4E8"/>
                      </a:solidFill>
                      <a:prstDash val="solid"/>
                      <a:round/>
                      <a:headEnd type="none" w="med" len="med"/>
                      <a:tailEnd type="none" w="med" len="med"/>
                    </a:lnT>
                    <a:lnB w="9525" cap="flat" cmpd="sng" algn="ctr">
                      <a:solidFill>
                        <a:srgbClr val="DCD4E8"/>
                      </a:solidFill>
                      <a:prstDash val="solid"/>
                      <a:round/>
                      <a:headEnd type="none" w="med" len="med"/>
                      <a:tailEnd type="none" w="med" len="med"/>
                    </a:lnB>
                    <a:solidFill>
                      <a:srgbClr val="FBF8FE"/>
                    </a:solidFill>
                  </a:tcPr>
                </a:tc>
              </a:tr>
              <a:tr h="228600">
                <a:tc>
                  <a:txBody>
                    <a:bodyPr/>
                    <a:lstStyle/>
                    <a:p>
                      <a:pPr algn="l" indent="0" marL="0">
                        <a:buNone/>
                      </a:pPr>
                      <a:r>
                        <a:rPr lang="en-US" sz="1200" dirty="0">
                          <a:solidFill>
                            <a:srgbClr val="3A3838"/>
                          </a:solidFill>
                          <a:latin typeface="Calibri" pitchFamily="34" charset="0"/>
                          <a:ea typeface="Calibri" pitchFamily="34" charset="-122"/>
                          <a:cs typeface="Calibri" pitchFamily="34" charset="-120"/>
                        </a:rPr>
                        <a:t>24-hr SLA · NPS</a:t>
                      </a:r>
                      <a:endParaRPr lang="en-US" sz="1200" dirty="0">
                        <a:latin typeface="Calibri" charset="0"/>
                        <a:ea typeface="Calibri" charset="0"/>
                        <a:cs typeface="Calibri" charset="0"/>
                      </a:endParaRPr>
                    </a:p>
                  </a:txBody>
                  <a:tcPr marL="36576" marR="36576" marT="36576" marB="36576" anchor="ctr">
                    <a:lnL w="9525" cap="flat" cmpd="sng" algn="ctr">
                      <a:solidFill>
                        <a:srgbClr val="DCD4E8"/>
                      </a:solidFill>
                      <a:prstDash val="solid"/>
                      <a:round/>
                      <a:headEnd type="none" w="med" len="med"/>
                      <a:tailEnd type="none" w="med" len="med"/>
                    </a:lnL>
                    <a:lnR w="9525" cap="flat" cmpd="sng" algn="ctr">
                      <a:solidFill>
                        <a:srgbClr val="DCD4E8"/>
                      </a:solidFill>
                      <a:prstDash val="solid"/>
                      <a:round/>
                      <a:headEnd type="none" w="med" len="med"/>
                      <a:tailEnd type="none" w="med" len="med"/>
                    </a:lnR>
                    <a:lnT w="9525" cap="flat" cmpd="sng" algn="ctr">
                      <a:solidFill>
                        <a:srgbClr val="DCD4E8"/>
                      </a:solidFill>
                      <a:prstDash val="solid"/>
                      <a:round/>
                      <a:headEnd type="none" w="med" len="med"/>
                      <a:tailEnd type="none" w="med" len="med"/>
                    </a:lnT>
                    <a:lnB w="9525" cap="flat" cmpd="sng" algn="ctr">
                      <a:solidFill>
                        <a:srgbClr val="DCD4E8"/>
                      </a:solidFill>
                      <a:prstDash val="solid"/>
                      <a:round/>
                      <a:headEnd type="none" w="med" len="med"/>
                      <a:tailEnd type="none" w="med" len="med"/>
                    </a:lnB>
                    <a:solidFill>
                      <a:srgbClr val="FFFFFF"/>
                    </a:solidFill>
                  </a:tcPr>
                </a:tc>
                <a:tc>
                  <a:txBody>
                    <a:bodyPr/>
                    <a:lstStyle/>
                    <a:p>
                      <a:pPr algn="r" indent="0" marL="0">
                        <a:buNone/>
                      </a:pPr>
                      <a:r>
                        <a:rPr lang="en-US" sz="1200" dirty="0">
                          <a:solidFill>
                            <a:srgbClr val="3A3838"/>
                          </a:solidFill>
                          <a:latin typeface="Calibri" pitchFamily="34" charset="0"/>
                          <a:ea typeface="Calibri" pitchFamily="34" charset="-122"/>
                          <a:cs typeface="Calibri" pitchFamily="34" charset="-120"/>
                        </a:rPr>
                        <a:t>68·24</a:t>
                      </a:r>
                      <a:endParaRPr lang="en-US" sz="1200" dirty="0">
                        <a:latin typeface="Calibri" charset="0"/>
                        <a:ea typeface="Calibri" charset="0"/>
                        <a:cs typeface="Calibri" charset="0"/>
                      </a:endParaRPr>
                    </a:p>
                  </a:txBody>
                  <a:tcPr marL="36576" marR="36576" marT="36576" marB="36576" anchor="ctr">
                    <a:lnL w="9525" cap="flat" cmpd="sng" algn="ctr">
                      <a:solidFill>
                        <a:srgbClr val="DCD4E8"/>
                      </a:solidFill>
                      <a:prstDash val="solid"/>
                      <a:round/>
                      <a:headEnd type="none" w="med" len="med"/>
                      <a:tailEnd type="none" w="med" len="med"/>
                    </a:lnL>
                    <a:lnR w="9525" cap="flat" cmpd="sng" algn="ctr">
                      <a:solidFill>
                        <a:srgbClr val="DCD4E8"/>
                      </a:solidFill>
                      <a:prstDash val="solid"/>
                      <a:round/>
                      <a:headEnd type="none" w="med" len="med"/>
                      <a:tailEnd type="none" w="med" len="med"/>
                    </a:lnR>
                    <a:lnT w="9525" cap="flat" cmpd="sng" algn="ctr">
                      <a:solidFill>
                        <a:srgbClr val="DCD4E8"/>
                      </a:solidFill>
                      <a:prstDash val="solid"/>
                      <a:round/>
                      <a:headEnd type="none" w="med" len="med"/>
                      <a:tailEnd type="none" w="med" len="med"/>
                    </a:lnT>
                    <a:lnB w="9525" cap="flat" cmpd="sng" algn="ctr">
                      <a:solidFill>
                        <a:srgbClr val="DCD4E8"/>
                      </a:solidFill>
                      <a:prstDash val="solid"/>
                      <a:round/>
                      <a:headEnd type="none" w="med" len="med"/>
                      <a:tailEnd type="none" w="med" len="med"/>
                    </a:lnB>
                    <a:solidFill>
                      <a:srgbClr val="FFFFFF"/>
                    </a:solidFill>
                  </a:tcPr>
                </a:tc>
                <a:tc>
                  <a:txBody>
                    <a:bodyPr/>
                    <a:lstStyle/>
                    <a:p>
                      <a:pPr algn="r" indent="0" marL="0">
                        <a:buNone/>
                      </a:pPr>
                      <a:r>
                        <a:rPr lang="en-US" sz="1200" dirty="0">
                          <a:solidFill>
                            <a:srgbClr val="3A3838"/>
                          </a:solidFill>
                          <a:latin typeface="Calibri" pitchFamily="34" charset="0"/>
                          <a:ea typeface="Calibri" pitchFamily="34" charset="-122"/>
                          <a:cs typeface="Calibri" pitchFamily="34" charset="-120"/>
                        </a:rPr>
                        <a:t>90·28</a:t>
                      </a:r>
                      <a:endParaRPr lang="en-US" sz="1200" dirty="0">
                        <a:latin typeface="Calibri" charset="0"/>
                        <a:ea typeface="Calibri" charset="0"/>
                        <a:cs typeface="Calibri" charset="0"/>
                      </a:endParaRPr>
                    </a:p>
                  </a:txBody>
                  <a:tcPr marL="36576" marR="36576" marT="36576" marB="36576" anchor="ctr">
                    <a:lnL w="9525" cap="flat" cmpd="sng" algn="ctr">
                      <a:solidFill>
                        <a:srgbClr val="DCD4E8"/>
                      </a:solidFill>
                      <a:prstDash val="solid"/>
                      <a:round/>
                      <a:headEnd type="none" w="med" len="med"/>
                      <a:tailEnd type="none" w="med" len="med"/>
                    </a:lnL>
                    <a:lnR w="9525" cap="flat" cmpd="sng" algn="ctr">
                      <a:solidFill>
                        <a:srgbClr val="DCD4E8"/>
                      </a:solidFill>
                      <a:prstDash val="solid"/>
                      <a:round/>
                      <a:headEnd type="none" w="med" len="med"/>
                      <a:tailEnd type="none" w="med" len="med"/>
                    </a:lnR>
                    <a:lnT w="9525" cap="flat" cmpd="sng" algn="ctr">
                      <a:solidFill>
                        <a:srgbClr val="DCD4E8"/>
                      </a:solidFill>
                      <a:prstDash val="solid"/>
                      <a:round/>
                      <a:headEnd type="none" w="med" len="med"/>
                      <a:tailEnd type="none" w="med" len="med"/>
                    </a:lnT>
                    <a:lnB w="9525" cap="flat" cmpd="sng" algn="ctr">
                      <a:solidFill>
                        <a:srgbClr val="DCD4E8"/>
                      </a:solidFill>
                      <a:prstDash val="solid"/>
                      <a:round/>
                      <a:headEnd type="none" w="med" len="med"/>
                      <a:tailEnd type="none" w="med" len="med"/>
                    </a:lnB>
                    <a:solidFill>
                      <a:srgbClr val="FFFFFF"/>
                    </a:solidFill>
                  </a:tcPr>
                </a:tc>
                <a:tc>
                  <a:txBody>
                    <a:bodyPr/>
                    <a:lstStyle/>
                    <a:p>
                      <a:pPr algn="r" indent="0" marL="0">
                        <a:buNone/>
                      </a:pPr>
                      <a:r>
                        <a:rPr lang="en-US" sz="1200" dirty="0">
                          <a:solidFill>
                            <a:srgbClr val="3A3838"/>
                          </a:solidFill>
                          <a:latin typeface="Calibri" pitchFamily="34" charset="0"/>
                          <a:ea typeface="Calibri" pitchFamily="34" charset="-122"/>
                          <a:cs typeface="Calibri" pitchFamily="34" charset="-120"/>
                        </a:rPr>
                        <a:t>98·32</a:t>
                      </a:r>
                      <a:endParaRPr lang="en-US" sz="1200" dirty="0">
                        <a:latin typeface="Calibri" charset="0"/>
                        <a:ea typeface="Calibri" charset="0"/>
                        <a:cs typeface="Calibri" charset="0"/>
                      </a:endParaRPr>
                    </a:p>
                  </a:txBody>
                  <a:tcPr marL="36576" marR="36576" marT="36576" marB="36576" anchor="ctr">
                    <a:lnL w="9525" cap="flat" cmpd="sng" algn="ctr">
                      <a:solidFill>
                        <a:srgbClr val="DCD4E8"/>
                      </a:solidFill>
                      <a:prstDash val="solid"/>
                      <a:round/>
                      <a:headEnd type="none" w="med" len="med"/>
                      <a:tailEnd type="none" w="med" len="med"/>
                    </a:lnL>
                    <a:lnR w="9525" cap="flat" cmpd="sng" algn="ctr">
                      <a:solidFill>
                        <a:srgbClr val="DCD4E8"/>
                      </a:solidFill>
                      <a:prstDash val="solid"/>
                      <a:round/>
                      <a:headEnd type="none" w="med" len="med"/>
                      <a:tailEnd type="none" w="med" len="med"/>
                    </a:lnR>
                    <a:lnT w="9525" cap="flat" cmpd="sng" algn="ctr">
                      <a:solidFill>
                        <a:srgbClr val="DCD4E8"/>
                      </a:solidFill>
                      <a:prstDash val="solid"/>
                      <a:round/>
                      <a:headEnd type="none" w="med" len="med"/>
                      <a:tailEnd type="none" w="med" len="med"/>
                    </a:lnT>
                    <a:lnB w="9525" cap="flat" cmpd="sng" algn="ctr">
                      <a:solidFill>
                        <a:srgbClr val="DCD4E8"/>
                      </a:solidFill>
                      <a:prstDash val="solid"/>
                      <a:round/>
                      <a:headEnd type="none" w="med" len="med"/>
                      <a:tailEnd type="none" w="med" len="med"/>
                    </a:lnB>
                    <a:solidFill>
                      <a:srgbClr val="FFFFFF"/>
                    </a:solidFill>
                  </a:tcPr>
                </a:tc>
                <a:tc>
                  <a:txBody>
                    <a:bodyPr/>
                    <a:lstStyle/>
                    <a:p>
                      <a:pPr algn="r" indent="0" marL="0">
                        <a:buNone/>
                      </a:pPr>
                      <a:r>
                        <a:rPr lang="en-US" sz="1200" dirty="0">
                          <a:solidFill>
                            <a:srgbClr val="3A3838"/>
                          </a:solidFill>
                          <a:latin typeface="Calibri" pitchFamily="34" charset="0"/>
                          <a:ea typeface="Calibri" pitchFamily="34" charset="-122"/>
                          <a:cs typeface="Calibri" pitchFamily="34" charset="-120"/>
                        </a:rPr>
                        <a:t>98·36</a:t>
                      </a:r>
                      <a:endParaRPr lang="en-US" sz="1200" dirty="0">
                        <a:latin typeface="Calibri" charset="0"/>
                        <a:ea typeface="Calibri" charset="0"/>
                        <a:cs typeface="Calibri" charset="0"/>
                      </a:endParaRPr>
                    </a:p>
                  </a:txBody>
                  <a:tcPr marL="36576" marR="36576" marT="36576" marB="36576" anchor="ctr">
                    <a:lnL w="9525" cap="flat" cmpd="sng" algn="ctr">
                      <a:solidFill>
                        <a:srgbClr val="DCD4E8"/>
                      </a:solidFill>
                      <a:prstDash val="solid"/>
                      <a:round/>
                      <a:headEnd type="none" w="med" len="med"/>
                      <a:tailEnd type="none" w="med" len="med"/>
                    </a:lnL>
                    <a:lnR w="9525" cap="flat" cmpd="sng" algn="ctr">
                      <a:solidFill>
                        <a:srgbClr val="DCD4E8"/>
                      </a:solidFill>
                      <a:prstDash val="solid"/>
                      <a:round/>
                      <a:headEnd type="none" w="med" len="med"/>
                      <a:tailEnd type="none" w="med" len="med"/>
                    </a:lnR>
                    <a:lnT w="9525" cap="flat" cmpd="sng" algn="ctr">
                      <a:solidFill>
                        <a:srgbClr val="DCD4E8"/>
                      </a:solidFill>
                      <a:prstDash val="solid"/>
                      <a:round/>
                      <a:headEnd type="none" w="med" len="med"/>
                      <a:tailEnd type="none" w="med" len="med"/>
                    </a:lnT>
                    <a:lnB w="9525" cap="flat" cmpd="sng" algn="ctr">
                      <a:solidFill>
                        <a:srgbClr val="DCD4E8"/>
                      </a:solidFill>
                      <a:prstDash val="solid"/>
                      <a:round/>
                      <a:headEnd type="none" w="med" len="med"/>
                      <a:tailEnd type="none" w="med" len="med"/>
                    </a:lnB>
                    <a:solidFill>
                      <a:srgbClr val="FFFFFF"/>
                    </a:solidFill>
                  </a:tcPr>
                </a:tc>
              </a:tr>
              <a:tr h="228600">
                <a:tc>
                  <a:txBody>
                    <a:bodyPr/>
                    <a:lstStyle/>
                    <a:p>
                      <a:pPr algn="l" indent="0" marL="0">
                        <a:buNone/>
                      </a:pPr>
                      <a:r>
                        <a:rPr lang="en-US" sz="1200" dirty="0">
                          <a:solidFill>
                            <a:srgbClr val="3A3838"/>
                          </a:solidFill>
                          <a:latin typeface="Calibri" pitchFamily="34" charset="0"/>
                          <a:ea typeface="Calibri" pitchFamily="34" charset="-122"/>
                          <a:cs typeface="Calibri" pitchFamily="34" charset="-120"/>
                        </a:rPr>
                        <a:t>Retention · repeat</a:t>
                      </a:r>
                      <a:endParaRPr lang="en-US" sz="1200" dirty="0">
                        <a:latin typeface="Calibri" charset="0"/>
                        <a:ea typeface="Calibri" charset="0"/>
                        <a:cs typeface="Calibri" charset="0"/>
                      </a:endParaRPr>
                    </a:p>
                  </a:txBody>
                  <a:tcPr marL="36576" marR="36576" marT="36576" marB="36576" anchor="ctr">
                    <a:lnL w="9525" cap="flat" cmpd="sng" algn="ctr">
                      <a:solidFill>
                        <a:srgbClr val="DCD4E8"/>
                      </a:solidFill>
                      <a:prstDash val="solid"/>
                      <a:round/>
                      <a:headEnd type="none" w="med" len="med"/>
                      <a:tailEnd type="none" w="med" len="med"/>
                    </a:lnL>
                    <a:lnR w="9525" cap="flat" cmpd="sng" algn="ctr">
                      <a:solidFill>
                        <a:srgbClr val="DCD4E8"/>
                      </a:solidFill>
                      <a:prstDash val="solid"/>
                      <a:round/>
                      <a:headEnd type="none" w="med" len="med"/>
                      <a:tailEnd type="none" w="med" len="med"/>
                    </a:lnR>
                    <a:lnT w="9525" cap="flat" cmpd="sng" algn="ctr">
                      <a:solidFill>
                        <a:srgbClr val="DCD4E8"/>
                      </a:solidFill>
                      <a:prstDash val="solid"/>
                      <a:round/>
                      <a:headEnd type="none" w="med" len="med"/>
                      <a:tailEnd type="none" w="med" len="med"/>
                    </a:lnT>
                    <a:lnB w="9525" cap="flat" cmpd="sng" algn="ctr">
                      <a:solidFill>
                        <a:srgbClr val="DCD4E8"/>
                      </a:solidFill>
                      <a:prstDash val="solid"/>
                      <a:round/>
                      <a:headEnd type="none" w="med" len="med"/>
                      <a:tailEnd type="none" w="med" len="med"/>
                    </a:lnB>
                    <a:solidFill>
                      <a:srgbClr val="FBF8FE"/>
                    </a:solidFill>
                  </a:tcPr>
                </a:tc>
                <a:tc>
                  <a:txBody>
                    <a:bodyPr/>
                    <a:lstStyle/>
                    <a:p>
                      <a:pPr algn="r" indent="0" marL="0">
                        <a:buNone/>
                      </a:pPr>
                      <a:r>
                        <a:rPr lang="en-US" sz="1200" dirty="0">
                          <a:solidFill>
                            <a:srgbClr val="3A3838"/>
                          </a:solidFill>
                          <a:latin typeface="Calibri" pitchFamily="34" charset="0"/>
                          <a:ea typeface="Calibri" pitchFamily="34" charset="-122"/>
                          <a:cs typeface="Calibri" pitchFamily="34" charset="-120"/>
                        </a:rPr>
                        <a:t>46·27%</a:t>
                      </a:r>
                      <a:endParaRPr lang="en-US" sz="1200" dirty="0">
                        <a:latin typeface="Calibri" charset="0"/>
                        <a:ea typeface="Calibri" charset="0"/>
                        <a:cs typeface="Calibri" charset="0"/>
                      </a:endParaRPr>
                    </a:p>
                  </a:txBody>
                  <a:tcPr marL="36576" marR="36576" marT="36576" marB="36576" anchor="ctr">
                    <a:lnL w="9525" cap="flat" cmpd="sng" algn="ctr">
                      <a:solidFill>
                        <a:srgbClr val="DCD4E8"/>
                      </a:solidFill>
                      <a:prstDash val="solid"/>
                      <a:round/>
                      <a:headEnd type="none" w="med" len="med"/>
                      <a:tailEnd type="none" w="med" len="med"/>
                    </a:lnL>
                    <a:lnR w="9525" cap="flat" cmpd="sng" algn="ctr">
                      <a:solidFill>
                        <a:srgbClr val="DCD4E8"/>
                      </a:solidFill>
                      <a:prstDash val="solid"/>
                      <a:round/>
                      <a:headEnd type="none" w="med" len="med"/>
                      <a:tailEnd type="none" w="med" len="med"/>
                    </a:lnR>
                    <a:lnT w="9525" cap="flat" cmpd="sng" algn="ctr">
                      <a:solidFill>
                        <a:srgbClr val="DCD4E8"/>
                      </a:solidFill>
                      <a:prstDash val="solid"/>
                      <a:round/>
                      <a:headEnd type="none" w="med" len="med"/>
                      <a:tailEnd type="none" w="med" len="med"/>
                    </a:lnT>
                    <a:lnB w="9525" cap="flat" cmpd="sng" algn="ctr">
                      <a:solidFill>
                        <a:srgbClr val="DCD4E8"/>
                      </a:solidFill>
                      <a:prstDash val="solid"/>
                      <a:round/>
                      <a:headEnd type="none" w="med" len="med"/>
                      <a:tailEnd type="none" w="med" len="med"/>
                    </a:lnB>
                    <a:solidFill>
                      <a:srgbClr val="FBF8FE"/>
                    </a:solidFill>
                  </a:tcPr>
                </a:tc>
                <a:tc>
                  <a:txBody>
                    <a:bodyPr/>
                    <a:lstStyle/>
                    <a:p>
                      <a:pPr algn="r" indent="0" marL="0">
                        <a:buNone/>
                      </a:pPr>
                      <a:r>
                        <a:rPr lang="en-US" sz="1200" dirty="0">
                          <a:solidFill>
                            <a:srgbClr val="3A3838"/>
                          </a:solidFill>
                          <a:latin typeface="Calibri" pitchFamily="34" charset="0"/>
                          <a:ea typeface="Calibri" pitchFamily="34" charset="-122"/>
                          <a:cs typeface="Calibri" pitchFamily="34" charset="-120"/>
                        </a:rPr>
                        <a:t>52·28%</a:t>
                      </a:r>
                      <a:endParaRPr lang="en-US" sz="1200" dirty="0">
                        <a:latin typeface="Calibri" charset="0"/>
                        <a:ea typeface="Calibri" charset="0"/>
                        <a:cs typeface="Calibri" charset="0"/>
                      </a:endParaRPr>
                    </a:p>
                  </a:txBody>
                  <a:tcPr marL="36576" marR="36576" marT="36576" marB="36576" anchor="ctr">
                    <a:lnL w="9525" cap="flat" cmpd="sng" algn="ctr">
                      <a:solidFill>
                        <a:srgbClr val="DCD4E8"/>
                      </a:solidFill>
                      <a:prstDash val="solid"/>
                      <a:round/>
                      <a:headEnd type="none" w="med" len="med"/>
                      <a:tailEnd type="none" w="med" len="med"/>
                    </a:lnL>
                    <a:lnR w="9525" cap="flat" cmpd="sng" algn="ctr">
                      <a:solidFill>
                        <a:srgbClr val="DCD4E8"/>
                      </a:solidFill>
                      <a:prstDash val="solid"/>
                      <a:round/>
                      <a:headEnd type="none" w="med" len="med"/>
                      <a:tailEnd type="none" w="med" len="med"/>
                    </a:lnR>
                    <a:lnT w="9525" cap="flat" cmpd="sng" algn="ctr">
                      <a:solidFill>
                        <a:srgbClr val="DCD4E8"/>
                      </a:solidFill>
                      <a:prstDash val="solid"/>
                      <a:round/>
                      <a:headEnd type="none" w="med" len="med"/>
                      <a:tailEnd type="none" w="med" len="med"/>
                    </a:lnT>
                    <a:lnB w="9525" cap="flat" cmpd="sng" algn="ctr">
                      <a:solidFill>
                        <a:srgbClr val="DCD4E8"/>
                      </a:solidFill>
                      <a:prstDash val="solid"/>
                      <a:round/>
                      <a:headEnd type="none" w="med" len="med"/>
                      <a:tailEnd type="none" w="med" len="med"/>
                    </a:lnB>
                    <a:solidFill>
                      <a:srgbClr val="FBF8FE"/>
                    </a:solidFill>
                  </a:tcPr>
                </a:tc>
                <a:tc>
                  <a:txBody>
                    <a:bodyPr/>
                    <a:lstStyle/>
                    <a:p>
                      <a:pPr algn="r" indent="0" marL="0">
                        <a:buNone/>
                      </a:pPr>
                      <a:r>
                        <a:rPr lang="en-US" sz="1200" dirty="0">
                          <a:solidFill>
                            <a:srgbClr val="3A3838"/>
                          </a:solidFill>
                          <a:latin typeface="Calibri" pitchFamily="34" charset="0"/>
                          <a:ea typeface="Calibri" pitchFamily="34" charset="-122"/>
                          <a:cs typeface="Calibri" pitchFamily="34" charset="-120"/>
                        </a:rPr>
                        <a:t>58·31%</a:t>
                      </a:r>
                      <a:endParaRPr lang="en-US" sz="1200" dirty="0">
                        <a:latin typeface="Calibri" charset="0"/>
                        <a:ea typeface="Calibri" charset="0"/>
                        <a:cs typeface="Calibri" charset="0"/>
                      </a:endParaRPr>
                    </a:p>
                  </a:txBody>
                  <a:tcPr marL="36576" marR="36576" marT="36576" marB="36576" anchor="ctr">
                    <a:lnL w="9525" cap="flat" cmpd="sng" algn="ctr">
                      <a:solidFill>
                        <a:srgbClr val="DCD4E8"/>
                      </a:solidFill>
                      <a:prstDash val="solid"/>
                      <a:round/>
                      <a:headEnd type="none" w="med" len="med"/>
                      <a:tailEnd type="none" w="med" len="med"/>
                    </a:lnL>
                    <a:lnR w="9525" cap="flat" cmpd="sng" algn="ctr">
                      <a:solidFill>
                        <a:srgbClr val="DCD4E8"/>
                      </a:solidFill>
                      <a:prstDash val="solid"/>
                      <a:round/>
                      <a:headEnd type="none" w="med" len="med"/>
                      <a:tailEnd type="none" w="med" len="med"/>
                    </a:lnR>
                    <a:lnT w="9525" cap="flat" cmpd="sng" algn="ctr">
                      <a:solidFill>
                        <a:srgbClr val="DCD4E8"/>
                      </a:solidFill>
                      <a:prstDash val="solid"/>
                      <a:round/>
                      <a:headEnd type="none" w="med" len="med"/>
                      <a:tailEnd type="none" w="med" len="med"/>
                    </a:lnT>
                    <a:lnB w="9525" cap="flat" cmpd="sng" algn="ctr">
                      <a:solidFill>
                        <a:srgbClr val="DCD4E8"/>
                      </a:solidFill>
                      <a:prstDash val="solid"/>
                      <a:round/>
                      <a:headEnd type="none" w="med" len="med"/>
                      <a:tailEnd type="none" w="med" len="med"/>
                    </a:lnB>
                    <a:solidFill>
                      <a:srgbClr val="FBF8FE"/>
                    </a:solidFill>
                  </a:tcPr>
                </a:tc>
                <a:tc>
                  <a:txBody>
                    <a:bodyPr/>
                    <a:lstStyle/>
                    <a:p>
                      <a:pPr algn="r" indent="0" marL="0">
                        <a:buNone/>
                      </a:pPr>
                      <a:r>
                        <a:rPr lang="en-US" sz="1200" dirty="0">
                          <a:solidFill>
                            <a:srgbClr val="3A3838"/>
                          </a:solidFill>
                          <a:latin typeface="Calibri" pitchFamily="34" charset="0"/>
                          <a:ea typeface="Calibri" pitchFamily="34" charset="-122"/>
                          <a:cs typeface="Calibri" pitchFamily="34" charset="-120"/>
                        </a:rPr>
                        <a:t>64·35%</a:t>
                      </a:r>
                      <a:endParaRPr lang="en-US" sz="1200" dirty="0">
                        <a:latin typeface="Calibri" charset="0"/>
                        <a:ea typeface="Calibri" charset="0"/>
                        <a:cs typeface="Calibri" charset="0"/>
                      </a:endParaRPr>
                    </a:p>
                  </a:txBody>
                  <a:tcPr marL="36576" marR="36576" marT="36576" marB="36576" anchor="ctr">
                    <a:lnL w="9525" cap="flat" cmpd="sng" algn="ctr">
                      <a:solidFill>
                        <a:srgbClr val="DCD4E8"/>
                      </a:solidFill>
                      <a:prstDash val="solid"/>
                      <a:round/>
                      <a:headEnd type="none" w="med" len="med"/>
                      <a:tailEnd type="none" w="med" len="med"/>
                    </a:lnL>
                    <a:lnR w="9525" cap="flat" cmpd="sng" algn="ctr">
                      <a:solidFill>
                        <a:srgbClr val="DCD4E8"/>
                      </a:solidFill>
                      <a:prstDash val="solid"/>
                      <a:round/>
                      <a:headEnd type="none" w="med" len="med"/>
                      <a:tailEnd type="none" w="med" len="med"/>
                    </a:lnR>
                    <a:lnT w="9525" cap="flat" cmpd="sng" algn="ctr">
                      <a:solidFill>
                        <a:srgbClr val="DCD4E8"/>
                      </a:solidFill>
                      <a:prstDash val="solid"/>
                      <a:round/>
                      <a:headEnd type="none" w="med" len="med"/>
                      <a:tailEnd type="none" w="med" len="med"/>
                    </a:lnT>
                    <a:lnB w="9525" cap="flat" cmpd="sng" algn="ctr">
                      <a:solidFill>
                        <a:srgbClr val="DCD4E8"/>
                      </a:solidFill>
                      <a:prstDash val="solid"/>
                      <a:round/>
                      <a:headEnd type="none" w="med" len="med"/>
                      <a:tailEnd type="none" w="med" len="med"/>
                    </a:lnB>
                    <a:solidFill>
                      <a:srgbClr val="FBF8FE"/>
                    </a:solidFill>
                  </a:tcPr>
                </a:tc>
              </a:tr>
              <a:tr h="228600">
                <a:tc>
                  <a:txBody>
                    <a:bodyPr/>
                    <a:lstStyle/>
                    <a:p>
                      <a:pPr algn="l" indent="0" marL="0">
                        <a:buNone/>
                      </a:pPr>
                      <a:r>
                        <a:rPr lang="en-US" sz="1200" dirty="0">
                          <a:solidFill>
                            <a:srgbClr val="3A3838"/>
                          </a:solidFill>
                          <a:latin typeface="Calibri" pitchFamily="34" charset="0"/>
                          <a:ea typeface="Calibri" pitchFamily="34" charset="-122"/>
                          <a:cs typeface="Calibri" pitchFamily="34" charset="-120"/>
                        </a:rPr>
                        <a:t>Initiatives verified</a:t>
                      </a:r>
                      <a:endParaRPr lang="en-US" sz="1200" dirty="0">
                        <a:latin typeface="Calibri" charset="0"/>
                        <a:ea typeface="Calibri" charset="0"/>
                        <a:cs typeface="Calibri" charset="0"/>
                      </a:endParaRPr>
                    </a:p>
                  </a:txBody>
                  <a:tcPr marL="36576" marR="36576" marT="36576" marB="36576" anchor="ctr">
                    <a:lnL w="9525" cap="flat" cmpd="sng" algn="ctr">
                      <a:solidFill>
                        <a:srgbClr val="DCD4E8"/>
                      </a:solidFill>
                      <a:prstDash val="solid"/>
                      <a:round/>
                      <a:headEnd type="none" w="med" len="med"/>
                      <a:tailEnd type="none" w="med" len="med"/>
                    </a:lnL>
                    <a:lnR w="9525" cap="flat" cmpd="sng" algn="ctr">
                      <a:solidFill>
                        <a:srgbClr val="DCD4E8"/>
                      </a:solidFill>
                      <a:prstDash val="solid"/>
                      <a:round/>
                      <a:headEnd type="none" w="med" len="med"/>
                      <a:tailEnd type="none" w="med" len="med"/>
                    </a:lnR>
                    <a:lnT w="9525" cap="flat" cmpd="sng" algn="ctr">
                      <a:solidFill>
                        <a:srgbClr val="DCD4E8"/>
                      </a:solidFill>
                      <a:prstDash val="solid"/>
                      <a:round/>
                      <a:headEnd type="none" w="med" len="med"/>
                      <a:tailEnd type="none" w="med" len="med"/>
                    </a:lnT>
                    <a:lnB w="9525" cap="flat" cmpd="sng" algn="ctr">
                      <a:solidFill>
                        <a:srgbClr val="DCD4E8"/>
                      </a:solidFill>
                      <a:prstDash val="solid"/>
                      <a:round/>
                      <a:headEnd type="none" w="med" len="med"/>
                      <a:tailEnd type="none" w="med" len="med"/>
                    </a:lnB>
                    <a:solidFill>
                      <a:srgbClr val="FFFFFF"/>
                    </a:solidFill>
                  </a:tcPr>
                </a:tc>
                <a:tc>
                  <a:txBody>
                    <a:bodyPr/>
                    <a:lstStyle/>
                    <a:p>
                      <a:pPr algn="r" indent="0" marL="0">
                        <a:buNone/>
                      </a:pPr>
                      <a:r>
                        <a:rPr lang="en-US" sz="1200" dirty="0">
                          <a:solidFill>
                            <a:srgbClr val="3A3838"/>
                          </a:solidFill>
                          <a:latin typeface="Calibri" pitchFamily="34" charset="0"/>
                          <a:ea typeface="Calibri" pitchFamily="34" charset="-122"/>
                          <a:cs typeface="Calibri" pitchFamily="34" charset="-120"/>
                        </a:rPr>
                        <a:t>12.5%</a:t>
                      </a:r>
                      <a:endParaRPr lang="en-US" sz="1200" dirty="0">
                        <a:latin typeface="Calibri" charset="0"/>
                        <a:ea typeface="Calibri" charset="0"/>
                        <a:cs typeface="Calibri" charset="0"/>
                      </a:endParaRPr>
                    </a:p>
                  </a:txBody>
                  <a:tcPr marL="36576" marR="36576" marT="36576" marB="36576" anchor="ctr">
                    <a:lnL w="9525" cap="flat" cmpd="sng" algn="ctr">
                      <a:solidFill>
                        <a:srgbClr val="DCD4E8"/>
                      </a:solidFill>
                      <a:prstDash val="solid"/>
                      <a:round/>
                      <a:headEnd type="none" w="med" len="med"/>
                      <a:tailEnd type="none" w="med" len="med"/>
                    </a:lnL>
                    <a:lnR w="9525" cap="flat" cmpd="sng" algn="ctr">
                      <a:solidFill>
                        <a:srgbClr val="DCD4E8"/>
                      </a:solidFill>
                      <a:prstDash val="solid"/>
                      <a:round/>
                      <a:headEnd type="none" w="med" len="med"/>
                      <a:tailEnd type="none" w="med" len="med"/>
                    </a:lnR>
                    <a:lnT w="9525" cap="flat" cmpd="sng" algn="ctr">
                      <a:solidFill>
                        <a:srgbClr val="DCD4E8"/>
                      </a:solidFill>
                      <a:prstDash val="solid"/>
                      <a:round/>
                      <a:headEnd type="none" w="med" len="med"/>
                      <a:tailEnd type="none" w="med" len="med"/>
                    </a:lnT>
                    <a:lnB w="9525" cap="flat" cmpd="sng" algn="ctr">
                      <a:solidFill>
                        <a:srgbClr val="DCD4E8"/>
                      </a:solidFill>
                      <a:prstDash val="solid"/>
                      <a:round/>
                      <a:headEnd type="none" w="med" len="med"/>
                      <a:tailEnd type="none" w="med" len="med"/>
                    </a:lnB>
                    <a:solidFill>
                      <a:srgbClr val="FFFFFF"/>
                    </a:solidFill>
                  </a:tcPr>
                </a:tc>
                <a:tc>
                  <a:txBody>
                    <a:bodyPr/>
                    <a:lstStyle/>
                    <a:p>
                      <a:pPr algn="r" indent="0" marL="0">
                        <a:buNone/>
                      </a:pPr>
                      <a:r>
                        <a:rPr lang="en-US" sz="1200" dirty="0">
                          <a:solidFill>
                            <a:srgbClr val="3A3838"/>
                          </a:solidFill>
                          <a:latin typeface="Calibri" pitchFamily="34" charset="0"/>
                          <a:ea typeface="Calibri" pitchFamily="34" charset="-122"/>
                          <a:cs typeface="Calibri" pitchFamily="34" charset="-120"/>
                        </a:rPr>
                        <a:t>35%</a:t>
                      </a:r>
                      <a:endParaRPr lang="en-US" sz="1200" dirty="0">
                        <a:latin typeface="Calibri" charset="0"/>
                        <a:ea typeface="Calibri" charset="0"/>
                        <a:cs typeface="Calibri" charset="0"/>
                      </a:endParaRPr>
                    </a:p>
                  </a:txBody>
                  <a:tcPr marL="36576" marR="36576" marT="36576" marB="36576" anchor="ctr">
                    <a:lnL w="9525" cap="flat" cmpd="sng" algn="ctr">
                      <a:solidFill>
                        <a:srgbClr val="DCD4E8"/>
                      </a:solidFill>
                      <a:prstDash val="solid"/>
                      <a:round/>
                      <a:headEnd type="none" w="med" len="med"/>
                      <a:tailEnd type="none" w="med" len="med"/>
                    </a:lnL>
                    <a:lnR w="9525" cap="flat" cmpd="sng" algn="ctr">
                      <a:solidFill>
                        <a:srgbClr val="DCD4E8"/>
                      </a:solidFill>
                      <a:prstDash val="solid"/>
                      <a:round/>
                      <a:headEnd type="none" w="med" len="med"/>
                      <a:tailEnd type="none" w="med" len="med"/>
                    </a:lnR>
                    <a:lnT w="9525" cap="flat" cmpd="sng" algn="ctr">
                      <a:solidFill>
                        <a:srgbClr val="DCD4E8"/>
                      </a:solidFill>
                      <a:prstDash val="solid"/>
                      <a:round/>
                      <a:headEnd type="none" w="med" len="med"/>
                      <a:tailEnd type="none" w="med" len="med"/>
                    </a:lnT>
                    <a:lnB w="9525" cap="flat" cmpd="sng" algn="ctr">
                      <a:solidFill>
                        <a:srgbClr val="DCD4E8"/>
                      </a:solidFill>
                      <a:prstDash val="solid"/>
                      <a:round/>
                      <a:headEnd type="none" w="med" len="med"/>
                      <a:tailEnd type="none" w="med" len="med"/>
                    </a:lnB>
                    <a:solidFill>
                      <a:srgbClr val="FFFFFF"/>
                    </a:solidFill>
                  </a:tcPr>
                </a:tc>
                <a:tc>
                  <a:txBody>
                    <a:bodyPr/>
                    <a:lstStyle/>
                    <a:p>
                      <a:pPr algn="r" indent="0" marL="0">
                        <a:buNone/>
                      </a:pPr>
                      <a:r>
                        <a:rPr lang="en-US" sz="1200" dirty="0">
                          <a:solidFill>
                            <a:srgbClr val="3A3838"/>
                          </a:solidFill>
                          <a:latin typeface="Calibri" pitchFamily="34" charset="0"/>
                          <a:ea typeface="Calibri" pitchFamily="34" charset="-122"/>
                          <a:cs typeface="Calibri" pitchFamily="34" charset="-120"/>
                        </a:rPr>
                        <a:t>50%</a:t>
                      </a:r>
                      <a:endParaRPr lang="en-US" sz="1200" dirty="0">
                        <a:latin typeface="Calibri" charset="0"/>
                        <a:ea typeface="Calibri" charset="0"/>
                        <a:cs typeface="Calibri" charset="0"/>
                      </a:endParaRPr>
                    </a:p>
                  </a:txBody>
                  <a:tcPr marL="36576" marR="36576" marT="36576" marB="36576" anchor="ctr">
                    <a:lnL w="9525" cap="flat" cmpd="sng" algn="ctr">
                      <a:solidFill>
                        <a:srgbClr val="DCD4E8"/>
                      </a:solidFill>
                      <a:prstDash val="solid"/>
                      <a:round/>
                      <a:headEnd type="none" w="med" len="med"/>
                      <a:tailEnd type="none" w="med" len="med"/>
                    </a:lnL>
                    <a:lnR w="9525" cap="flat" cmpd="sng" algn="ctr">
                      <a:solidFill>
                        <a:srgbClr val="DCD4E8"/>
                      </a:solidFill>
                      <a:prstDash val="solid"/>
                      <a:round/>
                      <a:headEnd type="none" w="med" len="med"/>
                      <a:tailEnd type="none" w="med" len="med"/>
                    </a:lnR>
                    <a:lnT w="9525" cap="flat" cmpd="sng" algn="ctr">
                      <a:solidFill>
                        <a:srgbClr val="DCD4E8"/>
                      </a:solidFill>
                      <a:prstDash val="solid"/>
                      <a:round/>
                      <a:headEnd type="none" w="med" len="med"/>
                      <a:tailEnd type="none" w="med" len="med"/>
                    </a:lnT>
                    <a:lnB w="9525" cap="flat" cmpd="sng" algn="ctr">
                      <a:solidFill>
                        <a:srgbClr val="DCD4E8"/>
                      </a:solidFill>
                      <a:prstDash val="solid"/>
                      <a:round/>
                      <a:headEnd type="none" w="med" len="med"/>
                      <a:tailEnd type="none" w="med" len="med"/>
                    </a:lnB>
                    <a:solidFill>
                      <a:srgbClr val="FFFFFF"/>
                    </a:solidFill>
                  </a:tcPr>
                </a:tc>
                <a:tc>
                  <a:txBody>
                    <a:bodyPr/>
                    <a:lstStyle/>
                    <a:p>
                      <a:pPr algn="r" indent="0" marL="0">
                        <a:buNone/>
                      </a:pPr>
                      <a:r>
                        <a:rPr lang="en-US" sz="1200" dirty="0">
                          <a:solidFill>
                            <a:srgbClr val="3A3838"/>
                          </a:solidFill>
                          <a:latin typeface="Calibri" pitchFamily="34" charset="0"/>
                          <a:ea typeface="Calibri" pitchFamily="34" charset="-122"/>
                          <a:cs typeface="Calibri" pitchFamily="34" charset="-120"/>
                        </a:rPr>
                        <a:t>60%</a:t>
                      </a:r>
                      <a:endParaRPr lang="en-US" sz="1200" dirty="0">
                        <a:latin typeface="Calibri" charset="0"/>
                        <a:ea typeface="Calibri" charset="0"/>
                        <a:cs typeface="Calibri" charset="0"/>
                      </a:endParaRPr>
                    </a:p>
                  </a:txBody>
                  <a:tcPr marL="36576" marR="36576" marT="36576" marB="36576" anchor="ctr">
                    <a:lnL w="9525" cap="flat" cmpd="sng" algn="ctr">
                      <a:solidFill>
                        <a:srgbClr val="DCD4E8"/>
                      </a:solidFill>
                      <a:prstDash val="solid"/>
                      <a:round/>
                      <a:headEnd type="none" w="med" len="med"/>
                      <a:tailEnd type="none" w="med" len="med"/>
                    </a:lnL>
                    <a:lnR w="9525" cap="flat" cmpd="sng" algn="ctr">
                      <a:solidFill>
                        <a:srgbClr val="DCD4E8"/>
                      </a:solidFill>
                      <a:prstDash val="solid"/>
                      <a:round/>
                      <a:headEnd type="none" w="med" len="med"/>
                      <a:tailEnd type="none" w="med" len="med"/>
                    </a:lnR>
                    <a:lnT w="9525" cap="flat" cmpd="sng" algn="ctr">
                      <a:solidFill>
                        <a:srgbClr val="DCD4E8"/>
                      </a:solidFill>
                      <a:prstDash val="solid"/>
                      <a:round/>
                      <a:headEnd type="none" w="med" len="med"/>
                      <a:tailEnd type="none" w="med" len="med"/>
                    </a:lnT>
                    <a:lnB w="9525" cap="flat" cmpd="sng" algn="ctr">
                      <a:solidFill>
                        <a:srgbClr val="DCD4E8"/>
                      </a:solidFill>
                      <a:prstDash val="solid"/>
                      <a:round/>
                      <a:headEnd type="none" w="med" len="med"/>
                      <a:tailEnd type="none" w="med" len="med"/>
                    </a:lnB>
                    <a:solidFill>
                      <a:srgbClr val="FFFFFF"/>
                    </a:solidFill>
                  </a:tcPr>
                </a:tc>
              </a:tr>
            </a:tbl>
          </a:graphicData>
        </a:graphic>
      </p:graphicFrame>
      <p:sp>
        <p:nvSpPr>
          <p:cNvPr id="34" name="Text 30"/>
          <p:cNvSpPr/>
          <p:nvPr/>
        </p:nvSpPr>
        <p:spPr>
          <a:xfrm>
            <a:off x="137160" y="4645152"/>
            <a:ext cx="3904488" cy="201168"/>
          </a:xfrm>
          <a:prstGeom prst="rect">
            <a:avLst/>
          </a:prstGeom>
          <a:noFill/>
          <a:ln/>
        </p:spPr>
        <p:txBody>
          <a:bodyPr wrap="square" lIns="0" tIns="0" rIns="0" bIns="0" rtlCol="0" anchor="ctr"/>
          <a:lstStyle/>
          <a:p>
            <a:pPr indent="0" marL="0">
              <a:lnSpc>
                <a:spcPct val="90000"/>
              </a:lnSpc>
              <a:buNone/>
            </a:pPr>
            <a:r>
              <a:rPr lang="en-US" sz="1200" i="1" dirty="0">
                <a:solidFill>
                  <a:srgbClr val="6E6875"/>
                </a:solidFill>
                <a:latin typeface="Calibri" pitchFamily="34" charset="0"/>
                <a:ea typeface="Calibri" pitchFamily="34" charset="-122"/>
                <a:cs typeface="Calibri" pitchFamily="34" charset="-120"/>
              </a:rPr>
              <a:t>* Of onboarded outlets — network-wide active is onboarded% × this row (~12%/46%/95% Y1–Y3); see notes.</a:t>
            </a:r>
            <a:endParaRPr lang="en-US" sz="1200" dirty="0"/>
          </a:p>
        </p:txBody>
      </p:sp>
      <p:sp>
        <p:nvSpPr>
          <p:cNvPr id="35" name="Text 31"/>
          <p:cNvSpPr/>
          <p:nvPr/>
        </p:nvSpPr>
        <p:spPr>
          <a:xfrm>
            <a:off x="137160" y="4882896"/>
            <a:ext cx="3904488" cy="182880"/>
          </a:xfrm>
          <a:prstGeom prst="rect">
            <a:avLst/>
          </a:prstGeom>
          <a:noFill/>
          <a:ln/>
        </p:spPr>
        <p:txBody>
          <a:bodyPr wrap="square" lIns="0" tIns="0" rIns="0" bIns="0" rtlCol="0" anchor="ctr"/>
          <a:lstStyle/>
          <a:p>
            <a:pPr indent="0" marL="0">
              <a:buNone/>
            </a:pPr>
            <a:r>
              <a:rPr lang="en-US" sz="1200" b="1" dirty="0">
                <a:solidFill>
                  <a:srgbClr val="2A0A45"/>
                </a:solidFill>
                <a:latin typeface="Calibri" pitchFamily="34" charset="0"/>
                <a:ea typeface="Calibri" pitchFamily="34" charset="-122"/>
                <a:cs typeface="Calibri" pitchFamily="34" charset="-120"/>
              </a:rPr>
              <a:t>Where the deck's numbers come from</a:t>
            </a:r>
            <a:endParaRPr lang="en-US" sz="1200" dirty="0"/>
          </a:p>
        </p:txBody>
      </p:sp>
      <p:graphicFrame>
        <p:nvGraphicFramePr>
          <p:cNvPr id="15" name="Table 1"/>
          <p:cNvGraphicFramePr>
            <a:graphicFrameLocks noGrp="1"/>
          </p:cNvGraphicFramePr>
          <p:nvPr>
            <p:extLst>
              <p:ext uri="{D42A27DB-BD31-4B8C-83A1-F6EECF244321}">
                <p14:modId xmlns:p14="http://schemas.microsoft.com/office/powerpoint/2010/main" val="1579011935"/>
              </p:ext>
            </p:extLst>
          </p:nvPr>
        </p:nvGraphicFramePr>
        <p:xfrm>
          <a:off x="137160" y="5084064"/>
          <a:ext cx="3904488" cy="914400"/>
        </p:xfrm>
        <a:graphic>
          <a:graphicData uri="http://schemas.openxmlformats.org/drawingml/2006/table">
            <a:tbl>
              <a:tblPr/>
              <a:tblGrid>
                <a:gridCol w="1051560"/>
                <a:gridCol w="2852928"/>
              </a:tblGrid>
              <a:tr h="228600">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Figure</a:t>
                      </a:r>
                      <a:endParaRPr lang="en-US" sz="1200" dirty="0">
                        <a:latin typeface="Calibri" charset="0"/>
                        <a:ea typeface="Calibri" charset="0"/>
                        <a:cs typeface="Calibri" charset="0"/>
                      </a:endParaRPr>
                    </a:p>
                  </a:txBody>
                  <a:tcPr marL="36576" marR="36576" marT="36576" marB="36576" anchor="ctr">
                    <a:lnL w="9525" cap="flat" cmpd="sng" algn="ctr">
                      <a:solidFill>
                        <a:srgbClr val="DCD4E8"/>
                      </a:solidFill>
                      <a:prstDash val="solid"/>
                      <a:round/>
                      <a:headEnd type="none" w="med" len="med"/>
                      <a:tailEnd type="none" w="med" len="med"/>
                    </a:lnL>
                    <a:lnR w="9525" cap="flat" cmpd="sng" algn="ctr">
                      <a:solidFill>
                        <a:srgbClr val="DCD4E8"/>
                      </a:solidFill>
                      <a:prstDash val="solid"/>
                      <a:round/>
                      <a:headEnd type="none" w="med" len="med"/>
                      <a:tailEnd type="none" w="med" len="med"/>
                    </a:lnR>
                    <a:lnT w="9525" cap="flat" cmpd="sng" algn="ctr">
                      <a:solidFill>
                        <a:srgbClr val="DCD4E8"/>
                      </a:solidFill>
                      <a:prstDash val="solid"/>
                      <a:round/>
                      <a:headEnd type="none" w="med" len="med"/>
                      <a:tailEnd type="none" w="med" len="med"/>
                    </a:lnT>
                    <a:lnB w="9525" cap="flat" cmpd="sng" algn="ctr">
                      <a:solidFill>
                        <a:srgbClr val="DCD4E8"/>
                      </a:solidFill>
                      <a:prstDash val="solid"/>
                      <a:round/>
                      <a:headEnd type="none" w="med" len="med"/>
                      <a:tailEnd type="none" w="med" len="med"/>
                    </a:lnB>
                    <a:solidFill>
                      <a:srgbClr val="2A0A45"/>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Basis</a:t>
                      </a:r>
                      <a:endParaRPr lang="en-US" sz="1200" dirty="0">
                        <a:latin typeface="Calibri" charset="0"/>
                        <a:ea typeface="Calibri" charset="0"/>
                        <a:cs typeface="Calibri" charset="0"/>
                      </a:endParaRPr>
                    </a:p>
                  </a:txBody>
                  <a:tcPr marL="36576" marR="36576" marT="36576" marB="36576" anchor="ctr">
                    <a:lnL w="9525" cap="flat" cmpd="sng" algn="ctr">
                      <a:solidFill>
                        <a:srgbClr val="DCD4E8"/>
                      </a:solidFill>
                      <a:prstDash val="solid"/>
                      <a:round/>
                      <a:headEnd type="none" w="med" len="med"/>
                      <a:tailEnd type="none" w="med" len="med"/>
                    </a:lnL>
                    <a:lnR w="9525" cap="flat" cmpd="sng" algn="ctr">
                      <a:solidFill>
                        <a:srgbClr val="DCD4E8"/>
                      </a:solidFill>
                      <a:prstDash val="solid"/>
                      <a:round/>
                      <a:headEnd type="none" w="med" len="med"/>
                      <a:tailEnd type="none" w="med" len="med"/>
                    </a:lnR>
                    <a:lnT w="9525" cap="flat" cmpd="sng" algn="ctr">
                      <a:solidFill>
                        <a:srgbClr val="DCD4E8"/>
                      </a:solidFill>
                      <a:prstDash val="solid"/>
                      <a:round/>
                      <a:headEnd type="none" w="med" len="med"/>
                      <a:tailEnd type="none" w="med" len="med"/>
                    </a:lnT>
                    <a:lnB w="9525" cap="flat" cmpd="sng" algn="ctr">
                      <a:solidFill>
                        <a:srgbClr val="DCD4E8"/>
                      </a:solidFill>
                      <a:prstDash val="solid"/>
                      <a:round/>
                      <a:headEnd type="none" w="med" len="med"/>
                      <a:tailEnd type="none" w="med" len="med"/>
                    </a:lnB>
                    <a:solidFill>
                      <a:srgbClr val="2A0A45"/>
                    </a:solidFill>
                  </a:tcPr>
                </a:tc>
              </a:tr>
              <a:tr h="228600">
                <a:tc>
                  <a:txBody>
                    <a:bodyPr/>
                    <a:lstStyle/>
                    <a:p>
                      <a:pPr algn="l" indent="0" marL="0">
                        <a:buNone/>
                      </a:pPr>
                      <a:r>
                        <a:rPr lang="en-US" sz="1200" dirty="0">
                          <a:solidFill>
                            <a:srgbClr val="3A3838"/>
                          </a:solidFill>
                          <a:latin typeface="Calibri" pitchFamily="34" charset="0"/>
                          <a:ea typeface="Calibri" pitchFamily="34" charset="-122"/>
                          <a:cs typeface="Calibri" pitchFamily="34" charset="-120"/>
                        </a:rPr>
                        <a:t>50,400 units/pp</a:t>
                      </a:r>
                      <a:endParaRPr lang="en-US" sz="1200" dirty="0">
                        <a:latin typeface="Calibri" charset="0"/>
                        <a:ea typeface="Calibri" charset="0"/>
                        <a:cs typeface="Calibri" charset="0"/>
                      </a:endParaRPr>
                    </a:p>
                  </a:txBody>
                  <a:tcPr marL="36576" marR="36576" marT="36576" marB="36576" anchor="ctr">
                    <a:lnL w="9525" cap="flat" cmpd="sng" algn="ctr">
                      <a:solidFill>
                        <a:srgbClr val="DCD4E8"/>
                      </a:solidFill>
                      <a:prstDash val="solid"/>
                      <a:round/>
                      <a:headEnd type="none" w="med" len="med"/>
                      <a:tailEnd type="none" w="med" len="med"/>
                    </a:lnL>
                    <a:lnR w="9525" cap="flat" cmpd="sng" algn="ctr">
                      <a:solidFill>
                        <a:srgbClr val="DCD4E8"/>
                      </a:solidFill>
                      <a:prstDash val="solid"/>
                      <a:round/>
                      <a:headEnd type="none" w="med" len="med"/>
                      <a:tailEnd type="none" w="med" len="med"/>
                    </a:lnR>
                    <a:lnT w="9525" cap="flat" cmpd="sng" algn="ctr">
                      <a:solidFill>
                        <a:srgbClr val="DCD4E8"/>
                      </a:solidFill>
                      <a:prstDash val="solid"/>
                      <a:round/>
                      <a:headEnd type="none" w="med" len="med"/>
                      <a:tailEnd type="none" w="med" len="med"/>
                    </a:lnT>
                    <a:lnB w="9525" cap="flat" cmpd="sng" algn="ctr">
                      <a:solidFill>
                        <a:srgbClr val="DCD4E8"/>
                      </a:solidFill>
                      <a:prstDash val="solid"/>
                      <a:round/>
                      <a:headEnd type="none" w="med" len="med"/>
                      <a:tailEnd type="none" w="med" len="med"/>
                    </a:lnB>
                    <a:solidFill>
                      <a:srgbClr val="FBF8FE"/>
                    </a:solidFill>
                  </a:tcPr>
                </a:tc>
                <a:tc>
                  <a:txBody>
                    <a:bodyPr/>
                    <a:lstStyle/>
                    <a:p>
                      <a:pPr algn="l" indent="0" marL="0">
                        <a:buNone/>
                      </a:pPr>
                      <a:r>
                        <a:rPr lang="en-US" sz="1200" dirty="0">
                          <a:solidFill>
                            <a:srgbClr val="3A3838"/>
                          </a:solidFill>
                          <a:latin typeface="Calibri" pitchFamily="34" charset="0"/>
                          <a:ea typeface="Calibri" pitchFamily="34" charset="-122"/>
                          <a:cs typeface="Calibri" pitchFamily="34" charset="-120"/>
                        </a:rPr>
                        <a:t>1pp of share = 5,65,000 ÷ 11.2%</a:t>
                      </a:r>
                      <a:endParaRPr lang="en-US" sz="1200" dirty="0">
                        <a:latin typeface="Calibri" charset="0"/>
                        <a:ea typeface="Calibri" charset="0"/>
                        <a:cs typeface="Calibri" charset="0"/>
                      </a:endParaRPr>
                    </a:p>
                  </a:txBody>
                  <a:tcPr marL="36576" marR="36576" marT="36576" marB="36576" anchor="ctr">
                    <a:lnL w="9525" cap="flat" cmpd="sng" algn="ctr">
                      <a:solidFill>
                        <a:srgbClr val="DCD4E8"/>
                      </a:solidFill>
                      <a:prstDash val="solid"/>
                      <a:round/>
                      <a:headEnd type="none" w="med" len="med"/>
                      <a:tailEnd type="none" w="med" len="med"/>
                    </a:lnL>
                    <a:lnR w="9525" cap="flat" cmpd="sng" algn="ctr">
                      <a:solidFill>
                        <a:srgbClr val="DCD4E8"/>
                      </a:solidFill>
                      <a:prstDash val="solid"/>
                      <a:round/>
                      <a:headEnd type="none" w="med" len="med"/>
                      <a:tailEnd type="none" w="med" len="med"/>
                    </a:lnR>
                    <a:lnT w="9525" cap="flat" cmpd="sng" algn="ctr">
                      <a:solidFill>
                        <a:srgbClr val="DCD4E8"/>
                      </a:solidFill>
                      <a:prstDash val="solid"/>
                      <a:round/>
                      <a:headEnd type="none" w="med" len="med"/>
                      <a:tailEnd type="none" w="med" len="med"/>
                    </a:lnT>
                    <a:lnB w="9525" cap="flat" cmpd="sng" algn="ctr">
                      <a:solidFill>
                        <a:srgbClr val="DCD4E8"/>
                      </a:solidFill>
                      <a:prstDash val="solid"/>
                      <a:round/>
                      <a:headEnd type="none" w="med" len="med"/>
                      <a:tailEnd type="none" w="med" len="med"/>
                    </a:lnB>
                    <a:solidFill>
                      <a:srgbClr val="FBF8FE"/>
                    </a:solidFill>
                  </a:tcPr>
                </a:tc>
              </a:tr>
              <a:tr h="228600">
                <a:tc>
                  <a:txBody>
                    <a:bodyPr/>
                    <a:lstStyle/>
                    <a:p>
                      <a:pPr algn="l" indent="0" marL="0">
                        <a:buNone/>
                      </a:pPr>
                      <a:r>
                        <a:rPr lang="en-US" sz="1200" dirty="0">
                          <a:solidFill>
                            <a:srgbClr val="3A3838"/>
                          </a:solidFill>
                          <a:latin typeface="Calibri" pitchFamily="34" charset="0"/>
                          <a:ea typeface="Calibri" pitchFamily="34" charset="-122"/>
                          <a:cs typeface="Calibri" pitchFamily="34" charset="-120"/>
                        </a:rPr>
                        <a:t>Vega +15,720 u</a:t>
                      </a:r>
                      <a:endParaRPr lang="en-US" sz="1200" dirty="0">
                        <a:latin typeface="Calibri" charset="0"/>
                        <a:ea typeface="Calibri" charset="0"/>
                        <a:cs typeface="Calibri" charset="0"/>
                      </a:endParaRPr>
                    </a:p>
                  </a:txBody>
                  <a:tcPr marL="36576" marR="36576" marT="36576" marB="36576" anchor="ctr">
                    <a:lnL w="9525" cap="flat" cmpd="sng" algn="ctr">
                      <a:solidFill>
                        <a:srgbClr val="DCD4E8"/>
                      </a:solidFill>
                      <a:prstDash val="solid"/>
                      <a:round/>
                      <a:headEnd type="none" w="med" len="med"/>
                      <a:tailEnd type="none" w="med" len="med"/>
                    </a:lnL>
                    <a:lnR w="9525" cap="flat" cmpd="sng" algn="ctr">
                      <a:solidFill>
                        <a:srgbClr val="DCD4E8"/>
                      </a:solidFill>
                      <a:prstDash val="solid"/>
                      <a:round/>
                      <a:headEnd type="none" w="med" len="med"/>
                      <a:tailEnd type="none" w="med" len="med"/>
                    </a:lnR>
                    <a:lnT w="9525" cap="flat" cmpd="sng" algn="ctr">
                      <a:solidFill>
                        <a:srgbClr val="DCD4E8"/>
                      </a:solidFill>
                      <a:prstDash val="solid"/>
                      <a:round/>
                      <a:headEnd type="none" w="med" len="med"/>
                      <a:tailEnd type="none" w="med" len="med"/>
                    </a:lnT>
                    <a:lnB w="9525" cap="flat" cmpd="sng" algn="ctr">
                      <a:solidFill>
                        <a:srgbClr val="DCD4E8"/>
                      </a:solidFill>
                      <a:prstDash val="solid"/>
                      <a:round/>
                      <a:headEnd type="none" w="med" len="med"/>
                      <a:tailEnd type="none" w="med" len="med"/>
                    </a:lnB>
                    <a:solidFill>
                      <a:srgbClr val="FFFFFF"/>
                    </a:solidFill>
                  </a:tcPr>
                </a:tc>
                <a:tc>
                  <a:txBody>
                    <a:bodyPr/>
                    <a:lstStyle/>
                    <a:p>
                      <a:pPr algn="l" indent="0" marL="0">
                        <a:buNone/>
                      </a:pPr>
                      <a:r>
                        <a:rPr lang="en-US" sz="1200" dirty="0">
                          <a:solidFill>
                            <a:srgbClr val="3A3838"/>
                          </a:solidFill>
                          <a:latin typeface="Calibri" pitchFamily="34" charset="0"/>
                          <a:ea typeface="Calibri" pitchFamily="34" charset="-122"/>
                          <a:cs typeface="Calibri" pitchFamily="34" charset="-120"/>
                        </a:rPr>
                        <a:t>+40% on 39,550 EV base (7% of 5,65,000)</a:t>
                      </a:r>
                      <a:endParaRPr lang="en-US" sz="1200" dirty="0">
                        <a:latin typeface="Calibri" charset="0"/>
                        <a:ea typeface="Calibri" charset="0"/>
                        <a:cs typeface="Calibri" charset="0"/>
                      </a:endParaRPr>
                    </a:p>
                  </a:txBody>
                  <a:tcPr marL="36576" marR="36576" marT="36576" marB="36576" anchor="ctr">
                    <a:lnL w="9525" cap="flat" cmpd="sng" algn="ctr">
                      <a:solidFill>
                        <a:srgbClr val="DCD4E8"/>
                      </a:solidFill>
                      <a:prstDash val="solid"/>
                      <a:round/>
                      <a:headEnd type="none" w="med" len="med"/>
                      <a:tailEnd type="none" w="med" len="med"/>
                    </a:lnL>
                    <a:lnR w="9525" cap="flat" cmpd="sng" algn="ctr">
                      <a:solidFill>
                        <a:srgbClr val="DCD4E8"/>
                      </a:solidFill>
                      <a:prstDash val="solid"/>
                      <a:round/>
                      <a:headEnd type="none" w="med" len="med"/>
                      <a:tailEnd type="none" w="med" len="med"/>
                    </a:lnR>
                    <a:lnT w="9525" cap="flat" cmpd="sng" algn="ctr">
                      <a:solidFill>
                        <a:srgbClr val="DCD4E8"/>
                      </a:solidFill>
                      <a:prstDash val="solid"/>
                      <a:round/>
                      <a:headEnd type="none" w="med" len="med"/>
                      <a:tailEnd type="none" w="med" len="med"/>
                    </a:lnT>
                    <a:lnB w="9525" cap="flat" cmpd="sng" algn="ctr">
                      <a:solidFill>
                        <a:srgbClr val="DCD4E8"/>
                      </a:solidFill>
                      <a:prstDash val="solid"/>
                      <a:round/>
                      <a:headEnd type="none" w="med" len="med"/>
                      <a:tailEnd type="none" w="med" len="med"/>
                    </a:lnB>
                    <a:solidFill>
                      <a:srgbClr val="FFFFFF"/>
                    </a:solidFill>
                  </a:tcPr>
                </a:tc>
              </a:tr>
              <a:tr h="228600">
                <a:tc>
                  <a:txBody>
                    <a:bodyPr/>
                    <a:lstStyle/>
                    <a:p>
                      <a:pPr algn="l" indent="0" marL="0">
                        <a:buNone/>
                      </a:pPr>
                      <a:r>
                        <a:rPr lang="en-US" sz="1200" dirty="0">
                          <a:solidFill>
                            <a:srgbClr val="3A3838"/>
                          </a:solidFill>
                          <a:latin typeface="Calibri" pitchFamily="34" charset="0"/>
                          <a:ea typeface="Calibri" pitchFamily="34" charset="-122"/>
                          <a:cs typeface="Calibri" pitchFamily="34" charset="-120"/>
                        </a:rPr>
                        <a:t>Repeat 35%; scope</a:t>
                      </a:r>
                      <a:endParaRPr lang="en-US" sz="1200" dirty="0">
                        <a:latin typeface="Calibri" charset="0"/>
                        <a:ea typeface="Calibri" charset="0"/>
                        <a:cs typeface="Calibri" charset="0"/>
                      </a:endParaRPr>
                    </a:p>
                  </a:txBody>
                  <a:tcPr marL="36576" marR="36576" marT="36576" marB="36576" anchor="ctr">
                    <a:lnL w="9525" cap="flat" cmpd="sng" algn="ctr">
                      <a:solidFill>
                        <a:srgbClr val="DCD4E8"/>
                      </a:solidFill>
                      <a:prstDash val="solid"/>
                      <a:round/>
                      <a:headEnd type="none" w="med" len="med"/>
                      <a:tailEnd type="none" w="med" len="med"/>
                    </a:lnL>
                    <a:lnR w="9525" cap="flat" cmpd="sng" algn="ctr">
                      <a:solidFill>
                        <a:srgbClr val="DCD4E8"/>
                      </a:solidFill>
                      <a:prstDash val="solid"/>
                      <a:round/>
                      <a:headEnd type="none" w="med" len="med"/>
                      <a:tailEnd type="none" w="med" len="med"/>
                    </a:lnR>
                    <a:lnT w="9525" cap="flat" cmpd="sng" algn="ctr">
                      <a:solidFill>
                        <a:srgbClr val="DCD4E8"/>
                      </a:solidFill>
                      <a:prstDash val="solid"/>
                      <a:round/>
                      <a:headEnd type="none" w="med" len="med"/>
                      <a:tailEnd type="none" w="med" len="med"/>
                    </a:lnT>
                    <a:lnB w="9525" cap="flat" cmpd="sng" algn="ctr">
                      <a:solidFill>
                        <a:srgbClr val="DCD4E8"/>
                      </a:solidFill>
                      <a:prstDash val="solid"/>
                      <a:round/>
                      <a:headEnd type="none" w="med" len="med"/>
                      <a:tailEnd type="none" w="med" len="med"/>
                    </a:lnB>
                    <a:solidFill>
                      <a:srgbClr val="FBF8FE"/>
                    </a:solidFill>
                  </a:tcPr>
                </a:tc>
                <a:tc>
                  <a:txBody>
                    <a:bodyPr/>
                    <a:lstStyle/>
                    <a:p>
                      <a:pPr algn="l" indent="0" marL="0">
                        <a:buNone/>
                      </a:pPr>
                      <a:r>
                        <a:rPr lang="en-US" sz="1200" dirty="0">
                          <a:solidFill>
                            <a:srgbClr val="3A3838"/>
                          </a:solidFill>
                          <a:latin typeface="Calibri" pitchFamily="34" charset="0"/>
                          <a:ea typeface="Calibri" pitchFamily="34" charset="-122"/>
                          <a:cs typeface="Calibri" pitchFamily="34" charset="-120"/>
                        </a:rPr>
                        <a:t>~1.9L Y3-cycle owners; 75,000 exports + 3.48L untracked excluded</a:t>
                      </a:r>
                      <a:endParaRPr lang="en-US" sz="1200" dirty="0">
                        <a:latin typeface="Calibri" charset="0"/>
                        <a:ea typeface="Calibri" charset="0"/>
                        <a:cs typeface="Calibri" charset="0"/>
                      </a:endParaRPr>
                    </a:p>
                  </a:txBody>
                  <a:tcPr marL="36576" marR="36576" marT="36576" marB="36576" anchor="ctr">
                    <a:lnL w="9525" cap="flat" cmpd="sng" algn="ctr">
                      <a:solidFill>
                        <a:srgbClr val="DCD4E8"/>
                      </a:solidFill>
                      <a:prstDash val="solid"/>
                      <a:round/>
                      <a:headEnd type="none" w="med" len="med"/>
                      <a:tailEnd type="none" w="med" len="med"/>
                    </a:lnL>
                    <a:lnR w="9525" cap="flat" cmpd="sng" algn="ctr">
                      <a:solidFill>
                        <a:srgbClr val="DCD4E8"/>
                      </a:solidFill>
                      <a:prstDash val="solid"/>
                      <a:round/>
                      <a:headEnd type="none" w="med" len="med"/>
                      <a:tailEnd type="none" w="med" len="med"/>
                    </a:lnR>
                    <a:lnT w="9525" cap="flat" cmpd="sng" algn="ctr">
                      <a:solidFill>
                        <a:srgbClr val="DCD4E8"/>
                      </a:solidFill>
                      <a:prstDash val="solid"/>
                      <a:round/>
                      <a:headEnd type="none" w="med" len="med"/>
                      <a:tailEnd type="none" w="med" len="med"/>
                    </a:lnT>
                    <a:lnB w="9525" cap="flat" cmpd="sng" algn="ctr">
                      <a:solidFill>
                        <a:srgbClr val="DCD4E8"/>
                      </a:solidFill>
                      <a:prstDash val="solid"/>
                      <a:round/>
                      <a:headEnd type="none" w="med" len="med"/>
                      <a:tailEnd type="none" w="med" len="med"/>
                    </a:lnB>
                    <a:solidFill>
                      <a:srgbClr val="FBF8FE"/>
                    </a:solidFill>
                  </a:tcPr>
                </a:tc>
              </a:tr>
            </a:tbl>
          </a:graphicData>
        </a:graphic>
      </p:graphicFrame>
      <p:sp>
        <p:nvSpPr>
          <p:cNvPr id="37" name="Shape 32"/>
          <p:cNvSpPr/>
          <p:nvPr/>
        </p:nvSpPr>
        <p:spPr>
          <a:xfrm>
            <a:off x="4224528" y="1920240"/>
            <a:ext cx="292608" cy="292608"/>
          </a:xfrm>
          <a:prstGeom prst="ellipse">
            <a:avLst/>
          </a:prstGeom>
          <a:solidFill>
            <a:srgbClr val="A100FF"/>
          </a:solidFill>
          <a:ln w="12700">
            <a:solidFill>
              <a:srgbClr val="333333"/>
            </a:solidFill>
            <a:prstDash val="solid"/>
          </a:ln>
        </p:spPr>
      </p:sp>
      <p:sp>
        <p:nvSpPr>
          <p:cNvPr id="38" name="Text 33"/>
          <p:cNvSpPr/>
          <p:nvPr/>
        </p:nvSpPr>
        <p:spPr>
          <a:xfrm>
            <a:off x="4224528" y="1920240"/>
            <a:ext cx="292608" cy="29260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39" name="Text 34"/>
          <p:cNvSpPr/>
          <p:nvPr/>
        </p:nvSpPr>
        <p:spPr>
          <a:xfrm>
            <a:off x="4608576" y="1929384"/>
            <a:ext cx="3474720" cy="292608"/>
          </a:xfrm>
          <a:prstGeom prst="rect">
            <a:avLst/>
          </a:prstGeom>
          <a:noFill/>
          <a:ln/>
        </p:spPr>
        <p:txBody>
          <a:bodyPr wrap="square" lIns="0" tIns="0" rIns="0" bIns="0" rtlCol="0" anchor="ctr"/>
          <a:lstStyle/>
          <a:p>
            <a:pPr indent="0" marL="0">
              <a:buNone/>
            </a:pPr>
            <a:r>
              <a:rPr lang="en-US" sz="1350" b="1" dirty="0">
                <a:solidFill>
                  <a:srgbClr val="2A0A45"/>
                </a:solidFill>
                <a:latin typeface="Calibri" pitchFamily="34" charset="0"/>
                <a:ea typeface="Calibri" pitchFamily="34" charset="-122"/>
                <a:cs typeface="Calibri" pitchFamily="34" charset="-120"/>
              </a:rPr>
              <a:t>From theoretical to banked</a:t>
            </a:r>
            <a:endParaRPr lang="en-US" sz="1350" dirty="0"/>
          </a:p>
        </p:txBody>
      </p:sp>
      <p:graphicFrame>
        <p:nvGraphicFramePr>
          <p:cNvPr id="22" name="Table 2"/>
          <p:cNvGraphicFramePr>
            <a:graphicFrameLocks noGrp="1"/>
          </p:cNvGraphicFramePr>
          <p:nvPr>
            <p:extLst>
              <p:ext uri="{D42A27DB-BD31-4B8C-83A1-F6EECF244321}">
                <p14:modId xmlns:p14="http://schemas.microsoft.com/office/powerpoint/2010/main" val="1579011935"/>
              </p:ext>
            </p:extLst>
          </p:nvPr>
        </p:nvGraphicFramePr>
        <p:xfrm>
          <a:off x="4224528" y="2304288"/>
          <a:ext cx="3867912" cy="914400"/>
        </p:xfrm>
        <a:graphic>
          <a:graphicData uri="http://schemas.openxmlformats.org/drawingml/2006/table">
            <a:tbl>
              <a:tblPr/>
              <a:tblGrid>
                <a:gridCol w="2862072"/>
                <a:gridCol w="1005840"/>
              </a:tblGrid>
              <a:tr h="228600">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Step</a:t>
                      </a:r>
                      <a:endParaRPr lang="en-US" sz="1200" dirty="0">
                        <a:latin typeface="Calibri" charset="0"/>
                        <a:ea typeface="Calibri" charset="0"/>
                        <a:cs typeface="Calibri" charset="0"/>
                      </a:endParaRPr>
                    </a:p>
                  </a:txBody>
                  <a:tcPr marL="36576" marR="36576" marT="36576" marB="36576" anchor="ctr">
                    <a:lnL w="9525" cap="flat" cmpd="sng" algn="ctr">
                      <a:solidFill>
                        <a:srgbClr val="DCD4E8"/>
                      </a:solidFill>
                      <a:prstDash val="solid"/>
                      <a:round/>
                      <a:headEnd type="none" w="med" len="med"/>
                      <a:tailEnd type="none" w="med" len="med"/>
                    </a:lnL>
                    <a:lnR w="9525" cap="flat" cmpd="sng" algn="ctr">
                      <a:solidFill>
                        <a:srgbClr val="DCD4E8"/>
                      </a:solidFill>
                      <a:prstDash val="solid"/>
                      <a:round/>
                      <a:headEnd type="none" w="med" len="med"/>
                      <a:tailEnd type="none" w="med" len="med"/>
                    </a:lnR>
                    <a:lnT w="9525" cap="flat" cmpd="sng" algn="ctr">
                      <a:solidFill>
                        <a:srgbClr val="DCD4E8"/>
                      </a:solidFill>
                      <a:prstDash val="solid"/>
                      <a:round/>
                      <a:headEnd type="none" w="med" len="med"/>
                      <a:tailEnd type="none" w="med" len="med"/>
                    </a:lnT>
                    <a:lnB w="9525" cap="flat" cmpd="sng" algn="ctr">
                      <a:solidFill>
                        <a:srgbClr val="DCD4E8"/>
                      </a:solidFill>
                      <a:prstDash val="solid"/>
                      <a:round/>
                      <a:headEnd type="none" w="med" len="med"/>
                      <a:tailEnd type="none" w="med" len="med"/>
                    </a:lnB>
                    <a:solidFill>
                      <a:srgbClr val="2A0A45"/>
                    </a:solidFill>
                  </a:tcPr>
                </a:tc>
                <a:tc>
                  <a:txBody>
                    <a:bodyPr/>
                    <a:lstStyle/>
                    <a:p>
                      <a:pPr algn="r" indent="0" marL="0">
                        <a:buNone/>
                      </a:pPr>
                      <a:r>
                        <a:rPr lang="en-US" sz="1200" b="1" dirty="0">
                          <a:solidFill>
                            <a:srgbClr val="FFFFFF"/>
                          </a:solidFill>
                          <a:latin typeface="Calibri" pitchFamily="34" charset="0"/>
                          <a:ea typeface="Calibri" pitchFamily="34" charset="-122"/>
                          <a:cs typeface="Calibri" pitchFamily="34" charset="-120"/>
                        </a:rPr>
                        <a:t>Units</a:t>
                      </a:r>
                      <a:endParaRPr lang="en-US" sz="1200" dirty="0">
                        <a:latin typeface="Calibri" charset="0"/>
                        <a:ea typeface="Calibri" charset="0"/>
                        <a:cs typeface="Calibri" charset="0"/>
                      </a:endParaRPr>
                    </a:p>
                  </a:txBody>
                  <a:tcPr marL="36576" marR="36576" marT="36576" marB="36576" anchor="ctr">
                    <a:lnL w="9525" cap="flat" cmpd="sng" algn="ctr">
                      <a:solidFill>
                        <a:srgbClr val="DCD4E8"/>
                      </a:solidFill>
                      <a:prstDash val="solid"/>
                      <a:round/>
                      <a:headEnd type="none" w="med" len="med"/>
                      <a:tailEnd type="none" w="med" len="med"/>
                    </a:lnL>
                    <a:lnR w="9525" cap="flat" cmpd="sng" algn="ctr">
                      <a:solidFill>
                        <a:srgbClr val="DCD4E8"/>
                      </a:solidFill>
                      <a:prstDash val="solid"/>
                      <a:round/>
                      <a:headEnd type="none" w="med" len="med"/>
                      <a:tailEnd type="none" w="med" len="med"/>
                    </a:lnR>
                    <a:lnT w="9525" cap="flat" cmpd="sng" algn="ctr">
                      <a:solidFill>
                        <a:srgbClr val="DCD4E8"/>
                      </a:solidFill>
                      <a:prstDash val="solid"/>
                      <a:round/>
                      <a:headEnd type="none" w="med" len="med"/>
                      <a:tailEnd type="none" w="med" len="med"/>
                    </a:lnT>
                    <a:lnB w="9525" cap="flat" cmpd="sng" algn="ctr">
                      <a:solidFill>
                        <a:srgbClr val="DCD4E8"/>
                      </a:solidFill>
                      <a:prstDash val="solid"/>
                      <a:round/>
                      <a:headEnd type="none" w="med" len="med"/>
                      <a:tailEnd type="none" w="med" len="med"/>
                    </a:lnB>
                    <a:solidFill>
                      <a:srgbClr val="2A0A45"/>
                    </a:solidFill>
                  </a:tcPr>
                </a:tc>
              </a:tr>
              <a:tr h="228600">
                <a:tc>
                  <a:txBody>
                    <a:bodyPr/>
                    <a:lstStyle/>
                    <a:p>
                      <a:pPr algn="l" indent="0" marL="0">
                        <a:buNone/>
                      </a:pPr>
                      <a:r>
                        <a:rPr lang="en-US" sz="1200" dirty="0">
                          <a:solidFill>
                            <a:srgbClr val="3A3838"/>
                          </a:solidFill>
                          <a:latin typeface="Calibri" pitchFamily="34" charset="0"/>
                          <a:ea typeface="Calibri" pitchFamily="34" charset="-122"/>
                          <a:cs typeface="Calibri" pitchFamily="34" charset="-120"/>
                        </a:rPr>
                        <a:t>Test drive → booking, 38% → 44%</a:t>
                      </a:r>
                      <a:endParaRPr lang="en-US" sz="1200" dirty="0">
                        <a:latin typeface="Calibri" charset="0"/>
                        <a:ea typeface="Calibri" charset="0"/>
                        <a:cs typeface="Calibri" charset="0"/>
                      </a:endParaRPr>
                    </a:p>
                  </a:txBody>
                  <a:tcPr marL="36576" marR="36576" marT="36576" marB="36576" anchor="ctr">
                    <a:lnL w="9525" cap="flat" cmpd="sng" algn="ctr">
                      <a:solidFill>
                        <a:srgbClr val="DCD4E8"/>
                      </a:solidFill>
                      <a:prstDash val="solid"/>
                      <a:round/>
                      <a:headEnd type="none" w="med" len="med"/>
                      <a:tailEnd type="none" w="med" len="med"/>
                    </a:lnL>
                    <a:lnR w="9525" cap="flat" cmpd="sng" algn="ctr">
                      <a:solidFill>
                        <a:srgbClr val="DCD4E8"/>
                      </a:solidFill>
                      <a:prstDash val="solid"/>
                      <a:round/>
                      <a:headEnd type="none" w="med" len="med"/>
                      <a:tailEnd type="none" w="med" len="med"/>
                    </a:lnR>
                    <a:lnT w="9525" cap="flat" cmpd="sng" algn="ctr">
                      <a:solidFill>
                        <a:srgbClr val="DCD4E8"/>
                      </a:solidFill>
                      <a:prstDash val="solid"/>
                      <a:round/>
                      <a:headEnd type="none" w="med" len="med"/>
                      <a:tailEnd type="none" w="med" len="med"/>
                    </a:lnT>
                    <a:lnB w="9525" cap="flat" cmpd="sng" algn="ctr">
                      <a:solidFill>
                        <a:srgbClr val="DCD4E8"/>
                      </a:solidFill>
                      <a:prstDash val="solid"/>
                      <a:round/>
                      <a:headEnd type="none" w="med" len="med"/>
                      <a:tailEnd type="none" w="med" len="med"/>
                    </a:lnB>
                    <a:solidFill>
                      <a:srgbClr val="FBF8FE"/>
                    </a:solidFill>
                  </a:tcPr>
                </a:tc>
                <a:tc>
                  <a:txBody>
                    <a:bodyPr/>
                    <a:lstStyle/>
                    <a:p>
                      <a:pPr algn="r" indent="0" marL="0">
                        <a:buNone/>
                      </a:pPr>
                      <a:r>
                        <a:rPr lang="en-US" sz="1200" dirty="0">
                          <a:solidFill>
                            <a:srgbClr val="3A3838"/>
                          </a:solidFill>
                          <a:latin typeface="Calibri" pitchFamily="34" charset="0"/>
                          <a:ea typeface="Calibri" pitchFamily="34" charset="-122"/>
                          <a:cs typeface="Calibri" pitchFamily="34" charset="-120"/>
                        </a:rPr>
                        <a:t>+34,300</a:t>
                      </a:r>
                      <a:endParaRPr lang="en-US" sz="1200" dirty="0">
                        <a:latin typeface="Calibri" charset="0"/>
                        <a:ea typeface="Calibri" charset="0"/>
                        <a:cs typeface="Calibri" charset="0"/>
                      </a:endParaRPr>
                    </a:p>
                  </a:txBody>
                  <a:tcPr marL="36576" marR="36576" marT="36576" marB="36576" anchor="ctr">
                    <a:lnL w="9525" cap="flat" cmpd="sng" algn="ctr">
                      <a:solidFill>
                        <a:srgbClr val="DCD4E8"/>
                      </a:solidFill>
                      <a:prstDash val="solid"/>
                      <a:round/>
                      <a:headEnd type="none" w="med" len="med"/>
                      <a:tailEnd type="none" w="med" len="med"/>
                    </a:lnL>
                    <a:lnR w="9525" cap="flat" cmpd="sng" algn="ctr">
                      <a:solidFill>
                        <a:srgbClr val="DCD4E8"/>
                      </a:solidFill>
                      <a:prstDash val="solid"/>
                      <a:round/>
                      <a:headEnd type="none" w="med" len="med"/>
                      <a:tailEnd type="none" w="med" len="med"/>
                    </a:lnR>
                    <a:lnT w="9525" cap="flat" cmpd="sng" algn="ctr">
                      <a:solidFill>
                        <a:srgbClr val="DCD4E8"/>
                      </a:solidFill>
                      <a:prstDash val="solid"/>
                      <a:round/>
                      <a:headEnd type="none" w="med" len="med"/>
                      <a:tailEnd type="none" w="med" len="med"/>
                    </a:lnT>
                    <a:lnB w="9525" cap="flat" cmpd="sng" algn="ctr">
                      <a:solidFill>
                        <a:srgbClr val="DCD4E8"/>
                      </a:solidFill>
                      <a:prstDash val="solid"/>
                      <a:round/>
                      <a:headEnd type="none" w="med" len="med"/>
                      <a:tailEnd type="none" w="med" len="med"/>
                    </a:lnB>
                    <a:solidFill>
                      <a:srgbClr val="FBF8FE"/>
                    </a:solidFill>
                  </a:tcPr>
                </a:tc>
              </a:tr>
              <a:tr h="228600">
                <a:tc>
                  <a:txBody>
                    <a:bodyPr/>
                    <a:lstStyle/>
                    <a:p>
                      <a:pPr algn="l" indent="0" marL="0">
                        <a:buNone/>
                      </a:pPr>
                      <a:r>
                        <a:rPr lang="en-US" sz="1200" dirty="0">
                          <a:solidFill>
                            <a:srgbClr val="3A3838"/>
                          </a:solidFill>
                          <a:latin typeface="Calibri" pitchFamily="34" charset="0"/>
                          <a:ea typeface="Calibri" pitchFamily="34" charset="-122"/>
                          <a:cs typeface="Calibri" pitchFamily="34" charset="-120"/>
                        </a:rPr>
                        <a:t>Showroom visit, 58% → 65%</a:t>
                      </a:r>
                      <a:endParaRPr lang="en-US" sz="1200" dirty="0">
                        <a:latin typeface="Calibri" charset="0"/>
                        <a:ea typeface="Calibri" charset="0"/>
                        <a:cs typeface="Calibri" charset="0"/>
                      </a:endParaRPr>
                    </a:p>
                  </a:txBody>
                  <a:tcPr marL="36576" marR="36576" marT="36576" marB="36576" anchor="ctr">
                    <a:lnL w="9525" cap="flat" cmpd="sng" algn="ctr">
                      <a:solidFill>
                        <a:srgbClr val="DCD4E8"/>
                      </a:solidFill>
                      <a:prstDash val="solid"/>
                      <a:round/>
                      <a:headEnd type="none" w="med" len="med"/>
                      <a:tailEnd type="none" w="med" len="med"/>
                    </a:lnL>
                    <a:lnR w="9525" cap="flat" cmpd="sng" algn="ctr">
                      <a:solidFill>
                        <a:srgbClr val="DCD4E8"/>
                      </a:solidFill>
                      <a:prstDash val="solid"/>
                      <a:round/>
                      <a:headEnd type="none" w="med" len="med"/>
                      <a:tailEnd type="none" w="med" len="med"/>
                    </a:lnR>
                    <a:lnT w="9525" cap="flat" cmpd="sng" algn="ctr">
                      <a:solidFill>
                        <a:srgbClr val="DCD4E8"/>
                      </a:solidFill>
                      <a:prstDash val="solid"/>
                      <a:round/>
                      <a:headEnd type="none" w="med" len="med"/>
                      <a:tailEnd type="none" w="med" len="med"/>
                    </a:lnT>
                    <a:lnB w="9525" cap="flat" cmpd="sng" algn="ctr">
                      <a:solidFill>
                        <a:srgbClr val="DCD4E8"/>
                      </a:solidFill>
                      <a:prstDash val="solid"/>
                      <a:round/>
                      <a:headEnd type="none" w="med" len="med"/>
                      <a:tailEnd type="none" w="med" len="med"/>
                    </a:lnB>
                    <a:solidFill>
                      <a:srgbClr val="FFFFFF"/>
                    </a:solidFill>
                  </a:tcPr>
                </a:tc>
                <a:tc>
                  <a:txBody>
                    <a:bodyPr/>
                    <a:lstStyle/>
                    <a:p>
                      <a:pPr algn="r" indent="0" marL="0">
                        <a:buNone/>
                      </a:pPr>
                      <a:r>
                        <a:rPr lang="en-US" sz="1200" dirty="0">
                          <a:solidFill>
                            <a:srgbClr val="3A3838"/>
                          </a:solidFill>
                          <a:latin typeface="Calibri" pitchFamily="34" charset="0"/>
                          <a:ea typeface="Calibri" pitchFamily="34" charset="-122"/>
                          <a:cs typeface="Calibri" pitchFamily="34" charset="-120"/>
                        </a:rPr>
                        <a:t>+26,200</a:t>
                      </a:r>
                      <a:endParaRPr lang="en-US" sz="1200" dirty="0">
                        <a:latin typeface="Calibri" charset="0"/>
                        <a:ea typeface="Calibri" charset="0"/>
                        <a:cs typeface="Calibri" charset="0"/>
                      </a:endParaRPr>
                    </a:p>
                  </a:txBody>
                  <a:tcPr marL="36576" marR="36576" marT="36576" marB="36576" anchor="ctr">
                    <a:lnL w="9525" cap="flat" cmpd="sng" algn="ctr">
                      <a:solidFill>
                        <a:srgbClr val="DCD4E8"/>
                      </a:solidFill>
                      <a:prstDash val="solid"/>
                      <a:round/>
                      <a:headEnd type="none" w="med" len="med"/>
                      <a:tailEnd type="none" w="med" len="med"/>
                    </a:lnL>
                    <a:lnR w="9525" cap="flat" cmpd="sng" algn="ctr">
                      <a:solidFill>
                        <a:srgbClr val="DCD4E8"/>
                      </a:solidFill>
                      <a:prstDash val="solid"/>
                      <a:round/>
                      <a:headEnd type="none" w="med" len="med"/>
                      <a:tailEnd type="none" w="med" len="med"/>
                    </a:lnR>
                    <a:lnT w="9525" cap="flat" cmpd="sng" algn="ctr">
                      <a:solidFill>
                        <a:srgbClr val="DCD4E8"/>
                      </a:solidFill>
                      <a:prstDash val="solid"/>
                      <a:round/>
                      <a:headEnd type="none" w="med" len="med"/>
                      <a:tailEnd type="none" w="med" len="med"/>
                    </a:lnT>
                    <a:lnB w="9525" cap="flat" cmpd="sng" algn="ctr">
                      <a:solidFill>
                        <a:srgbClr val="DCD4E8"/>
                      </a:solidFill>
                      <a:prstDash val="solid"/>
                      <a:round/>
                      <a:headEnd type="none" w="med" len="med"/>
                      <a:tailEnd type="none" w="med" len="med"/>
                    </a:lnB>
                    <a:solidFill>
                      <a:srgbClr val="FFFFFF"/>
                    </a:solidFill>
                  </a:tcPr>
                </a:tc>
              </a:tr>
              <a:tr h="228600">
                <a:tc>
                  <a:txBody>
                    <a:bodyPr/>
                    <a:lstStyle/>
                    <a:p>
                      <a:pPr algn="l" indent="0" marL="0">
                        <a:buNone/>
                      </a:pPr>
                      <a:r>
                        <a:rPr lang="en-US" sz="1200" dirty="0">
                          <a:solidFill>
                            <a:srgbClr val="3A3838"/>
                          </a:solidFill>
                          <a:latin typeface="Calibri" pitchFamily="34" charset="0"/>
                          <a:ea typeface="Calibri" pitchFamily="34" charset="-122"/>
                          <a:cs typeface="Calibri" pitchFamily="34" charset="-120"/>
                        </a:rPr>
                        <a:t>Contact rate, 88% → 95%</a:t>
                      </a:r>
                      <a:endParaRPr lang="en-US" sz="1200" dirty="0">
                        <a:latin typeface="Calibri" charset="0"/>
                        <a:ea typeface="Calibri" charset="0"/>
                        <a:cs typeface="Calibri" charset="0"/>
                      </a:endParaRPr>
                    </a:p>
                  </a:txBody>
                  <a:tcPr marL="36576" marR="36576" marT="36576" marB="36576" anchor="ctr">
                    <a:lnL w="9525" cap="flat" cmpd="sng" algn="ctr">
                      <a:solidFill>
                        <a:srgbClr val="DCD4E8"/>
                      </a:solidFill>
                      <a:prstDash val="solid"/>
                      <a:round/>
                      <a:headEnd type="none" w="med" len="med"/>
                      <a:tailEnd type="none" w="med" len="med"/>
                    </a:lnL>
                    <a:lnR w="9525" cap="flat" cmpd="sng" algn="ctr">
                      <a:solidFill>
                        <a:srgbClr val="DCD4E8"/>
                      </a:solidFill>
                      <a:prstDash val="solid"/>
                      <a:round/>
                      <a:headEnd type="none" w="med" len="med"/>
                      <a:tailEnd type="none" w="med" len="med"/>
                    </a:lnR>
                    <a:lnT w="9525" cap="flat" cmpd="sng" algn="ctr">
                      <a:solidFill>
                        <a:srgbClr val="DCD4E8"/>
                      </a:solidFill>
                      <a:prstDash val="solid"/>
                      <a:round/>
                      <a:headEnd type="none" w="med" len="med"/>
                      <a:tailEnd type="none" w="med" len="med"/>
                    </a:lnT>
                    <a:lnB w="9525" cap="flat" cmpd="sng" algn="ctr">
                      <a:solidFill>
                        <a:srgbClr val="DCD4E8"/>
                      </a:solidFill>
                      <a:prstDash val="solid"/>
                      <a:round/>
                      <a:headEnd type="none" w="med" len="med"/>
                      <a:tailEnd type="none" w="med" len="med"/>
                    </a:lnB>
                    <a:solidFill>
                      <a:srgbClr val="FBF8FE"/>
                    </a:solidFill>
                  </a:tcPr>
                </a:tc>
                <a:tc>
                  <a:txBody>
                    <a:bodyPr/>
                    <a:lstStyle/>
                    <a:p>
                      <a:pPr algn="r" indent="0" marL="0">
                        <a:buNone/>
                      </a:pPr>
                      <a:r>
                        <a:rPr lang="en-US" sz="1200" dirty="0">
                          <a:solidFill>
                            <a:srgbClr val="3A3838"/>
                          </a:solidFill>
                          <a:latin typeface="Calibri" pitchFamily="34" charset="0"/>
                          <a:ea typeface="Calibri" pitchFamily="34" charset="-122"/>
                          <a:cs typeface="Calibri" pitchFamily="34" charset="-120"/>
                        </a:rPr>
                        <a:t>+17,300</a:t>
                      </a:r>
                      <a:endParaRPr lang="en-US" sz="1200" dirty="0">
                        <a:latin typeface="Calibri" charset="0"/>
                        <a:ea typeface="Calibri" charset="0"/>
                        <a:cs typeface="Calibri" charset="0"/>
                      </a:endParaRPr>
                    </a:p>
                  </a:txBody>
                  <a:tcPr marL="36576" marR="36576" marT="36576" marB="36576" anchor="ctr">
                    <a:lnL w="9525" cap="flat" cmpd="sng" algn="ctr">
                      <a:solidFill>
                        <a:srgbClr val="DCD4E8"/>
                      </a:solidFill>
                      <a:prstDash val="solid"/>
                      <a:round/>
                      <a:headEnd type="none" w="med" len="med"/>
                      <a:tailEnd type="none" w="med" len="med"/>
                    </a:lnL>
                    <a:lnR w="9525" cap="flat" cmpd="sng" algn="ctr">
                      <a:solidFill>
                        <a:srgbClr val="DCD4E8"/>
                      </a:solidFill>
                      <a:prstDash val="solid"/>
                      <a:round/>
                      <a:headEnd type="none" w="med" len="med"/>
                      <a:tailEnd type="none" w="med" len="med"/>
                    </a:lnR>
                    <a:lnT w="9525" cap="flat" cmpd="sng" algn="ctr">
                      <a:solidFill>
                        <a:srgbClr val="DCD4E8"/>
                      </a:solidFill>
                      <a:prstDash val="solid"/>
                      <a:round/>
                      <a:headEnd type="none" w="med" len="med"/>
                      <a:tailEnd type="none" w="med" len="med"/>
                    </a:lnT>
                    <a:lnB w="9525" cap="flat" cmpd="sng" algn="ctr">
                      <a:solidFill>
                        <a:srgbClr val="DCD4E8"/>
                      </a:solidFill>
                      <a:prstDash val="solid"/>
                      <a:round/>
                      <a:headEnd type="none" w="med" len="med"/>
                      <a:tailEnd type="none" w="med" len="med"/>
                    </a:lnB>
                    <a:solidFill>
                      <a:srgbClr val="FBF8FE"/>
                    </a:solidFill>
                  </a:tcPr>
                </a:tc>
              </a:tr>
              <a:tr h="228600">
                <a:tc>
                  <a:txBody>
                    <a:bodyPr/>
                    <a:lstStyle/>
                    <a:p>
                      <a:pPr algn="l" indent="0" marL="0">
                        <a:buNone/>
                      </a:pPr>
                      <a:r>
                        <a:rPr lang="en-US" sz="1200" dirty="0">
                          <a:solidFill>
                            <a:srgbClr val="3A3838"/>
                          </a:solidFill>
                          <a:latin typeface="Calibri" pitchFamily="34" charset="0"/>
                          <a:ea typeface="Calibri" pitchFamily="34" charset="-122"/>
                          <a:cs typeface="Calibri" pitchFamily="34" charset="-120"/>
                        </a:rPr>
                        <a:t>Theoretical, whole network</a:t>
                      </a:r>
                      <a:endParaRPr lang="en-US" sz="1200" dirty="0">
                        <a:latin typeface="Calibri" charset="0"/>
                        <a:ea typeface="Calibri" charset="0"/>
                        <a:cs typeface="Calibri" charset="0"/>
                      </a:endParaRPr>
                    </a:p>
                  </a:txBody>
                  <a:tcPr marL="36576" marR="36576" marT="36576" marB="36576" anchor="ctr">
                    <a:lnL w="9525" cap="flat" cmpd="sng" algn="ctr">
                      <a:solidFill>
                        <a:srgbClr val="DCD4E8"/>
                      </a:solidFill>
                      <a:prstDash val="solid"/>
                      <a:round/>
                      <a:headEnd type="none" w="med" len="med"/>
                      <a:tailEnd type="none" w="med" len="med"/>
                    </a:lnL>
                    <a:lnR w="9525" cap="flat" cmpd="sng" algn="ctr">
                      <a:solidFill>
                        <a:srgbClr val="DCD4E8"/>
                      </a:solidFill>
                      <a:prstDash val="solid"/>
                      <a:round/>
                      <a:headEnd type="none" w="med" len="med"/>
                      <a:tailEnd type="none" w="med" len="med"/>
                    </a:lnR>
                    <a:lnT w="9525" cap="flat" cmpd="sng" algn="ctr">
                      <a:solidFill>
                        <a:srgbClr val="DCD4E8"/>
                      </a:solidFill>
                      <a:prstDash val="solid"/>
                      <a:round/>
                      <a:headEnd type="none" w="med" len="med"/>
                      <a:tailEnd type="none" w="med" len="med"/>
                    </a:lnT>
                    <a:lnB w="9525" cap="flat" cmpd="sng" algn="ctr">
                      <a:solidFill>
                        <a:srgbClr val="DCD4E8"/>
                      </a:solidFill>
                      <a:prstDash val="solid"/>
                      <a:round/>
                      <a:headEnd type="none" w="med" len="med"/>
                      <a:tailEnd type="none" w="med" len="med"/>
                    </a:lnB>
                    <a:solidFill>
                      <a:srgbClr val="FFFFFF"/>
                    </a:solidFill>
                  </a:tcPr>
                </a:tc>
                <a:tc>
                  <a:txBody>
                    <a:bodyPr/>
                    <a:lstStyle/>
                    <a:p>
                      <a:pPr algn="r" indent="0" marL="0">
                        <a:buNone/>
                      </a:pPr>
                      <a:r>
                        <a:rPr lang="en-US" sz="1200" dirty="0">
                          <a:solidFill>
                            <a:srgbClr val="3A3838"/>
                          </a:solidFill>
                          <a:latin typeface="Calibri" pitchFamily="34" charset="0"/>
                          <a:ea typeface="Calibri" pitchFamily="34" charset="-122"/>
                          <a:cs typeface="Calibri" pitchFamily="34" charset="-120"/>
                        </a:rPr>
                        <a:t>+77,800</a:t>
                      </a:r>
                      <a:endParaRPr lang="en-US" sz="1200" dirty="0">
                        <a:latin typeface="Calibri" charset="0"/>
                        <a:ea typeface="Calibri" charset="0"/>
                        <a:cs typeface="Calibri" charset="0"/>
                      </a:endParaRPr>
                    </a:p>
                  </a:txBody>
                  <a:tcPr marL="36576" marR="36576" marT="36576" marB="36576" anchor="ctr">
                    <a:lnL w="9525" cap="flat" cmpd="sng" algn="ctr">
                      <a:solidFill>
                        <a:srgbClr val="DCD4E8"/>
                      </a:solidFill>
                      <a:prstDash val="solid"/>
                      <a:round/>
                      <a:headEnd type="none" w="med" len="med"/>
                      <a:tailEnd type="none" w="med" len="med"/>
                    </a:lnL>
                    <a:lnR w="9525" cap="flat" cmpd="sng" algn="ctr">
                      <a:solidFill>
                        <a:srgbClr val="DCD4E8"/>
                      </a:solidFill>
                      <a:prstDash val="solid"/>
                      <a:round/>
                      <a:headEnd type="none" w="med" len="med"/>
                      <a:tailEnd type="none" w="med" len="med"/>
                    </a:lnR>
                    <a:lnT w="9525" cap="flat" cmpd="sng" algn="ctr">
                      <a:solidFill>
                        <a:srgbClr val="DCD4E8"/>
                      </a:solidFill>
                      <a:prstDash val="solid"/>
                      <a:round/>
                      <a:headEnd type="none" w="med" len="med"/>
                      <a:tailEnd type="none" w="med" len="med"/>
                    </a:lnT>
                    <a:lnB w="9525" cap="flat" cmpd="sng" algn="ctr">
                      <a:solidFill>
                        <a:srgbClr val="DCD4E8"/>
                      </a:solidFill>
                      <a:prstDash val="solid"/>
                      <a:round/>
                      <a:headEnd type="none" w="med" len="med"/>
                      <a:tailEnd type="none" w="med" len="med"/>
                    </a:lnB>
                    <a:solidFill>
                      <a:srgbClr val="FFFFFF"/>
                    </a:solidFill>
                  </a:tcPr>
                </a:tc>
              </a:tr>
              <a:tr h="228600">
                <a:tc>
                  <a:txBody>
                    <a:bodyPr/>
                    <a:lstStyle/>
                    <a:p>
                      <a:pPr algn="l" indent="0" marL="0">
                        <a:buNone/>
                      </a:pPr>
                      <a:r>
                        <a:rPr lang="en-US" sz="1200" dirty="0">
                          <a:solidFill>
                            <a:srgbClr val="3A3838"/>
                          </a:solidFill>
                          <a:latin typeface="Calibri" pitchFamily="34" charset="0"/>
                          <a:ea typeface="Calibri" pitchFamily="34" charset="-122"/>
                          <a:cs typeface="Calibri" pitchFamily="34" charset="-120"/>
                        </a:rPr>
                        <a:t>Metro at full effect, rest at ~40%</a:t>
                      </a:r>
                      <a:endParaRPr lang="en-US" sz="1200" dirty="0">
                        <a:latin typeface="Calibri" charset="0"/>
                        <a:ea typeface="Calibri" charset="0"/>
                        <a:cs typeface="Calibri" charset="0"/>
                      </a:endParaRPr>
                    </a:p>
                  </a:txBody>
                  <a:tcPr marL="36576" marR="36576" marT="36576" marB="36576" anchor="ctr">
                    <a:lnL w="9525" cap="flat" cmpd="sng" algn="ctr">
                      <a:solidFill>
                        <a:srgbClr val="DCD4E8"/>
                      </a:solidFill>
                      <a:prstDash val="solid"/>
                      <a:round/>
                      <a:headEnd type="none" w="med" len="med"/>
                      <a:tailEnd type="none" w="med" len="med"/>
                    </a:lnL>
                    <a:lnR w="9525" cap="flat" cmpd="sng" algn="ctr">
                      <a:solidFill>
                        <a:srgbClr val="DCD4E8"/>
                      </a:solidFill>
                      <a:prstDash val="solid"/>
                      <a:round/>
                      <a:headEnd type="none" w="med" len="med"/>
                      <a:tailEnd type="none" w="med" len="med"/>
                    </a:lnR>
                    <a:lnT w="9525" cap="flat" cmpd="sng" algn="ctr">
                      <a:solidFill>
                        <a:srgbClr val="DCD4E8"/>
                      </a:solidFill>
                      <a:prstDash val="solid"/>
                      <a:round/>
                      <a:headEnd type="none" w="med" len="med"/>
                      <a:tailEnd type="none" w="med" len="med"/>
                    </a:lnT>
                    <a:lnB w="9525" cap="flat" cmpd="sng" algn="ctr">
                      <a:solidFill>
                        <a:srgbClr val="DCD4E8"/>
                      </a:solidFill>
                      <a:prstDash val="solid"/>
                      <a:round/>
                      <a:headEnd type="none" w="med" len="med"/>
                      <a:tailEnd type="none" w="med" len="med"/>
                    </a:lnB>
                    <a:solidFill>
                      <a:srgbClr val="FBF8FE"/>
                    </a:solidFill>
                  </a:tcPr>
                </a:tc>
                <a:tc>
                  <a:txBody>
                    <a:bodyPr/>
                    <a:lstStyle/>
                    <a:p>
                      <a:pPr algn="r" indent="0" marL="0">
                        <a:buNone/>
                      </a:pPr>
                      <a:r>
                        <a:rPr lang="en-US" sz="1200" dirty="0">
                          <a:solidFill>
                            <a:srgbClr val="3A3838"/>
                          </a:solidFill>
                          <a:latin typeface="Calibri" pitchFamily="34" charset="0"/>
                          <a:ea typeface="Calibri" pitchFamily="34" charset="-122"/>
                          <a:cs typeface="Calibri" pitchFamily="34" charset="-120"/>
                        </a:rPr>
                        <a:t>−28,900</a:t>
                      </a:r>
                      <a:endParaRPr lang="en-US" sz="1200" dirty="0">
                        <a:latin typeface="Calibri" charset="0"/>
                        <a:ea typeface="Calibri" charset="0"/>
                        <a:cs typeface="Calibri" charset="0"/>
                      </a:endParaRPr>
                    </a:p>
                  </a:txBody>
                  <a:tcPr marL="36576" marR="36576" marT="36576" marB="36576" anchor="ctr">
                    <a:lnL w="9525" cap="flat" cmpd="sng" algn="ctr">
                      <a:solidFill>
                        <a:srgbClr val="DCD4E8"/>
                      </a:solidFill>
                      <a:prstDash val="solid"/>
                      <a:round/>
                      <a:headEnd type="none" w="med" len="med"/>
                      <a:tailEnd type="none" w="med" len="med"/>
                    </a:lnL>
                    <a:lnR w="9525" cap="flat" cmpd="sng" algn="ctr">
                      <a:solidFill>
                        <a:srgbClr val="DCD4E8"/>
                      </a:solidFill>
                      <a:prstDash val="solid"/>
                      <a:round/>
                      <a:headEnd type="none" w="med" len="med"/>
                      <a:tailEnd type="none" w="med" len="med"/>
                    </a:lnR>
                    <a:lnT w="9525" cap="flat" cmpd="sng" algn="ctr">
                      <a:solidFill>
                        <a:srgbClr val="DCD4E8"/>
                      </a:solidFill>
                      <a:prstDash val="solid"/>
                      <a:round/>
                      <a:headEnd type="none" w="med" len="med"/>
                      <a:tailEnd type="none" w="med" len="med"/>
                    </a:lnT>
                    <a:lnB w="9525" cap="flat" cmpd="sng" algn="ctr">
                      <a:solidFill>
                        <a:srgbClr val="DCD4E8"/>
                      </a:solidFill>
                      <a:prstDash val="solid"/>
                      <a:round/>
                      <a:headEnd type="none" w="med" len="med"/>
                      <a:tailEnd type="none" w="med" len="med"/>
                    </a:lnB>
                    <a:solidFill>
                      <a:srgbClr val="FBF8FE"/>
                    </a:solidFill>
                  </a:tcPr>
                </a:tc>
              </a:tr>
              <a:tr h="228600">
                <a:tc>
                  <a:txBody>
                    <a:bodyPr/>
                    <a:lstStyle/>
                    <a:p>
                      <a:pPr algn="l" indent="0" marL="0">
                        <a:buNone/>
                      </a:pPr>
                      <a:r>
                        <a:rPr lang="en-US" sz="1200" dirty="0">
                          <a:solidFill>
                            <a:srgbClr val="3A3838"/>
                          </a:solidFill>
                          <a:latin typeface="Calibri" pitchFamily="34" charset="0"/>
                          <a:ea typeface="Calibri" pitchFamily="34" charset="-122"/>
                          <a:cs typeface="Calibri" pitchFamily="34" charset="-120"/>
                        </a:rPr>
                        <a:t>Adoption at 95%, not 100%</a:t>
                      </a:r>
                      <a:endParaRPr lang="en-US" sz="1200" dirty="0">
                        <a:latin typeface="Calibri" charset="0"/>
                        <a:ea typeface="Calibri" charset="0"/>
                        <a:cs typeface="Calibri" charset="0"/>
                      </a:endParaRPr>
                    </a:p>
                  </a:txBody>
                  <a:tcPr marL="36576" marR="36576" marT="36576" marB="36576" anchor="ctr">
                    <a:lnL w="9525" cap="flat" cmpd="sng" algn="ctr">
                      <a:solidFill>
                        <a:srgbClr val="DCD4E8"/>
                      </a:solidFill>
                      <a:prstDash val="solid"/>
                      <a:round/>
                      <a:headEnd type="none" w="med" len="med"/>
                      <a:tailEnd type="none" w="med" len="med"/>
                    </a:lnL>
                    <a:lnR w="9525" cap="flat" cmpd="sng" algn="ctr">
                      <a:solidFill>
                        <a:srgbClr val="DCD4E8"/>
                      </a:solidFill>
                      <a:prstDash val="solid"/>
                      <a:round/>
                      <a:headEnd type="none" w="med" len="med"/>
                      <a:tailEnd type="none" w="med" len="med"/>
                    </a:lnR>
                    <a:lnT w="9525" cap="flat" cmpd="sng" algn="ctr">
                      <a:solidFill>
                        <a:srgbClr val="DCD4E8"/>
                      </a:solidFill>
                      <a:prstDash val="solid"/>
                      <a:round/>
                      <a:headEnd type="none" w="med" len="med"/>
                      <a:tailEnd type="none" w="med" len="med"/>
                    </a:lnT>
                    <a:lnB w="9525" cap="flat" cmpd="sng" algn="ctr">
                      <a:solidFill>
                        <a:srgbClr val="DCD4E8"/>
                      </a:solidFill>
                      <a:prstDash val="solid"/>
                      <a:round/>
                      <a:headEnd type="none" w="med" len="med"/>
                      <a:tailEnd type="none" w="med" len="med"/>
                    </a:lnB>
                    <a:solidFill>
                      <a:srgbClr val="FFFFFF"/>
                    </a:solidFill>
                  </a:tcPr>
                </a:tc>
                <a:tc>
                  <a:txBody>
                    <a:bodyPr/>
                    <a:lstStyle/>
                    <a:p>
                      <a:pPr algn="r" indent="0" marL="0">
                        <a:buNone/>
                      </a:pPr>
                      <a:r>
                        <a:rPr lang="en-US" sz="1200" dirty="0">
                          <a:solidFill>
                            <a:srgbClr val="3A3838"/>
                          </a:solidFill>
                          <a:latin typeface="Calibri" pitchFamily="34" charset="0"/>
                          <a:ea typeface="Calibri" pitchFamily="34" charset="-122"/>
                          <a:cs typeface="Calibri" pitchFamily="34" charset="-120"/>
                        </a:rPr>
                        <a:t>−2,400</a:t>
                      </a:r>
                      <a:endParaRPr lang="en-US" sz="1200" dirty="0">
                        <a:latin typeface="Calibri" charset="0"/>
                        <a:ea typeface="Calibri" charset="0"/>
                        <a:cs typeface="Calibri" charset="0"/>
                      </a:endParaRPr>
                    </a:p>
                  </a:txBody>
                  <a:tcPr marL="36576" marR="36576" marT="36576" marB="36576" anchor="ctr">
                    <a:lnL w="9525" cap="flat" cmpd="sng" algn="ctr">
                      <a:solidFill>
                        <a:srgbClr val="DCD4E8"/>
                      </a:solidFill>
                      <a:prstDash val="solid"/>
                      <a:round/>
                      <a:headEnd type="none" w="med" len="med"/>
                      <a:tailEnd type="none" w="med" len="med"/>
                    </a:lnL>
                    <a:lnR w="9525" cap="flat" cmpd="sng" algn="ctr">
                      <a:solidFill>
                        <a:srgbClr val="DCD4E8"/>
                      </a:solidFill>
                      <a:prstDash val="solid"/>
                      <a:round/>
                      <a:headEnd type="none" w="med" len="med"/>
                      <a:tailEnd type="none" w="med" len="med"/>
                    </a:lnR>
                    <a:lnT w="9525" cap="flat" cmpd="sng" algn="ctr">
                      <a:solidFill>
                        <a:srgbClr val="DCD4E8"/>
                      </a:solidFill>
                      <a:prstDash val="solid"/>
                      <a:round/>
                      <a:headEnd type="none" w="med" len="med"/>
                      <a:tailEnd type="none" w="med" len="med"/>
                    </a:lnT>
                    <a:lnB w="9525" cap="flat" cmpd="sng" algn="ctr">
                      <a:solidFill>
                        <a:srgbClr val="DCD4E8"/>
                      </a:solidFill>
                      <a:prstDash val="solid"/>
                      <a:round/>
                      <a:headEnd type="none" w="med" len="med"/>
                      <a:tailEnd type="none" w="med" len="med"/>
                    </a:lnB>
                    <a:solidFill>
                      <a:srgbClr val="FFFFFF"/>
                    </a:solidFill>
                  </a:tcPr>
                </a:tc>
              </a:tr>
              <a:tr h="228600">
                <a:tc>
                  <a:txBody>
                    <a:bodyPr/>
                    <a:lstStyle/>
                    <a:p>
                      <a:pPr algn="l" indent="0" marL="0">
                        <a:buNone/>
                      </a:pPr>
                      <a:r>
                        <a:rPr lang="en-US" sz="1200" dirty="0">
                          <a:solidFill>
                            <a:srgbClr val="3A3838"/>
                          </a:solidFill>
                          <a:latin typeface="Calibri" pitchFamily="34" charset="0"/>
                          <a:ea typeface="Calibri" pitchFamily="34" charset="-122"/>
                          <a:cs typeface="Calibri" pitchFamily="34" charset="-120"/>
                        </a:rPr>
                        <a:t>Conversion realisation</a:t>
                      </a:r>
                      <a:endParaRPr lang="en-US" sz="1200" dirty="0">
                        <a:latin typeface="Calibri" charset="0"/>
                        <a:ea typeface="Calibri" charset="0"/>
                        <a:cs typeface="Calibri" charset="0"/>
                      </a:endParaRPr>
                    </a:p>
                  </a:txBody>
                  <a:tcPr marL="36576" marR="36576" marT="36576" marB="36576" anchor="ctr">
                    <a:lnL w="9525" cap="flat" cmpd="sng" algn="ctr">
                      <a:solidFill>
                        <a:srgbClr val="DCD4E8"/>
                      </a:solidFill>
                      <a:prstDash val="solid"/>
                      <a:round/>
                      <a:headEnd type="none" w="med" len="med"/>
                      <a:tailEnd type="none" w="med" len="med"/>
                    </a:lnL>
                    <a:lnR w="9525" cap="flat" cmpd="sng" algn="ctr">
                      <a:solidFill>
                        <a:srgbClr val="DCD4E8"/>
                      </a:solidFill>
                      <a:prstDash val="solid"/>
                      <a:round/>
                      <a:headEnd type="none" w="med" len="med"/>
                      <a:tailEnd type="none" w="med" len="med"/>
                    </a:lnR>
                    <a:lnT w="9525" cap="flat" cmpd="sng" algn="ctr">
                      <a:solidFill>
                        <a:srgbClr val="DCD4E8"/>
                      </a:solidFill>
                      <a:prstDash val="solid"/>
                      <a:round/>
                      <a:headEnd type="none" w="med" len="med"/>
                      <a:tailEnd type="none" w="med" len="med"/>
                    </a:lnT>
                    <a:lnB w="9525" cap="flat" cmpd="sng" algn="ctr">
                      <a:solidFill>
                        <a:srgbClr val="DCD4E8"/>
                      </a:solidFill>
                      <a:prstDash val="solid"/>
                      <a:round/>
                      <a:headEnd type="none" w="med" len="med"/>
                      <a:tailEnd type="none" w="med" len="med"/>
                    </a:lnB>
                    <a:solidFill>
                      <a:srgbClr val="FBF8FE"/>
                    </a:solidFill>
                  </a:tcPr>
                </a:tc>
                <a:tc>
                  <a:txBody>
                    <a:bodyPr/>
                    <a:lstStyle/>
                    <a:p>
                      <a:pPr algn="r" indent="0" marL="0">
                        <a:buNone/>
                      </a:pPr>
                      <a:r>
                        <a:rPr lang="en-US" sz="1200" dirty="0">
                          <a:solidFill>
                            <a:srgbClr val="3A3838"/>
                          </a:solidFill>
                          <a:latin typeface="Calibri" pitchFamily="34" charset="0"/>
                          <a:ea typeface="Calibri" pitchFamily="34" charset="-122"/>
                          <a:cs typeface="Calibri" pitchFamily="34" charset="-120"/>
                        </a:rPr>
                        <a:t>−1,500</a:t>
                      </a:r>
                      <a:endParaRPr lang="en-US" sz="1200" dirty="0">
                        <a:latin typeface="Calibri" charset="0"/>
                        <a:ea typeface="Calibri" charset="0"/>
                        <a:cs typeface="Calibri" charset="0"/>
                      </a:endParaRPr>
                    </a:p>
                  </a:txBody>
                  <a:tcPr marL="36576" marR="36576" marT="36576" marB="36576" anchor="ctr">
                    <a:lnL w="9525" cap="flat" cmpd="sng" algn="ctr">
                      <a:solidFill>
                        <a:srgbClr val="DCD4E8"/>
                      </a:solidFill>
                      <a:prstDash val="solid"/>
                      <a:round/>
                      <a:headEnd type="none" w="med" len="med"/>
                      <a:tailEnd type="none" w="med" len="med"/>
                    </a:lnL>
                    <a:lnR w="9525" cap="flat" cmpd="sng" algn="ctr">
                      <a:solidFill>
                        <a:srgbClr val="DCD4E8"/>
                      </a:solidFill>
                      <a:prstDash val="solid"/>
                      <a:round/>
                      <a:headEnd type="none" w="med" len="med"/>
                      <a:tailEnd type="none" w="med" len="med"/>
                    </a:lnR>
                    <a:lnT w="9525" cap="flat" cmpd="sng" algn="ctr">
                      <a:solidFill>
                        <a:srgbClr val="DCD4E8"/>
                      </a:solidFill>
                      <a:prstDash val="solid"/>
                      <a:round/>
                      <a:headEnd type="none" w="med" len="med"/>
                      <a:tailEnd type="none" w="med" len="med"/>
                    </a:lnT>
                    <a:lnB w="9525" cap="flat" cmpd="sng" algn="ctr">
                      <a:solidFill>
                        <a:srgbClr val="DCD4E8"/>
                      </a:solidFill>
                      <a:prstDash val="solid"/>
                      <a:round/>
                      <a:headEnd type="none" w="med" len="med"/>
                      <a:tailEnd type="none" w="med" len="med"/>
                    </a:lnB>
                    <a:solidFill>
                      <a:srgbClr val="FBF8FE"/>
                    </a:solidFill>
                  </a:tcPr>
                </a:tc>
              </a:tr>
              <a:tr h="228600">
                <a:tc>
                  <a:txBody>
                    <a:bodyPr/>
                    <a:lstStyle/>
                    <a:p>
                      <a:pPr algn="l" indent="0" marL="0">
                        <a:buNone/>
                      </a:pPr>
                      <a:r>
                        <a:rPr lang="en-US" sz="1200" dirty="0">
                          <a:solidFill>
                            <a:srgbClr val="3A3838"/>
                          </a:solidFill>
                          <a:latin typeface="Calibri" pitchFamily="34" charset="0"/>
                          <a:ea typeface="Calibri" pitchFamily="34" charset="-122"/>
                          <a:cs typeface="Calibri" pitchFamily="34" charset="-120"/>
                        </a:rPr>
                        <a:t>WE BANK</a:t>
                      </a:r>
                      <a:endParaRPr lang="en-US" sz="1200" dirty="0">
                        <a:latin typeface="Calibri" charset="0"/>
                        <a:ea typeface="Calibri" charset="0"/>
                        <a:cs typeface="Calibri" charset="0"/>
                      </a:endParaRPr>
                    </a:p>
                  </a:txBody>
                  <a:tcPr marL="36576" marR="36576" marT="36576" marB="36576" anchor="ctr">
                    <a:lnL w="9525" cap="flat" cmpd="sng" algn="ctr">
                      <a:solidFill>
                        <a:srgbClr val="DCD4E8"/>
                      </a:solidFill>
                      <a:prstDash val="solid"/>
                      <a:round/>
                      <a:headEnd type="none" w="med" len="med"/>
                      <a:tailEnd type="none" w="med" len="med"/>
                    </a:lnL>
                    <a:lnR w="9525" cap="flat" cmpd="sng" algn="ctr">
                      <a:solidFill>
                        <a:srgbClr val="DCD4E8"/>
                      </a:solidFill>
                      <a:prstDash val="solid"/>
                      <a:round/>
                      <a:headEnd type="none" w="med" len="med"/>
                      <a:tailEnd type="none" w="med" len="med"/>
                    </a:lnR>
                    <a:lnT w="9525" cap="flat" cmpd="sng" algn="ctr">
                      <a:solidFill>
                        <a:srgbClr val="DCD4E8"/>
                      </a:solidFill>
                      <a:prstDash val="solid"/>
                      <a:round/>
                      <a:headEnd type="none" w="med" len="med"/>
                      <a:tailEnd type="none" w="med" len="med"/>
                    </a:lnT>
                    <a:lnB w="9525" cap="flat" cmpd="sng" algn="ctr">
                      <a:solidFill>
                        <a:srgbClr val="DCD4E8"/>
                      </a:solidFill>
                      <a:prstDash val="solid"/>
                      <a:round/>
                      <a:headEnd type="none" w="med" len="med"/>
                      <a:tailEnd type="none" w="med" len="med"/>
                    </a:lnB>
                    <a:solidFill>
                      <a:srgbClr val="FFFFFF"/>
                    </a:solidFill>
                  </a:tcPr>
                </a:tc>
                <a:tc>
                  <a:txBody>
                    <a:bodyPr/>
                    <a:lstStyle/>
                    <a:p>
                      <a:pPr algn="r" indent="0" marL="0">
                        <a:buNone/>
                      </a:pPr>
                      <a:r>
                        <a:rPr lang="en-US" sz="1200" dirty="0">
                          <a:solidFill>
                            <a:srgbClr val="3A3838"/>
                          </a:solidFill>
                          <a:latin typeface="Calibri" pitchFamily="34" charset="0"/>
                          <a:ea typeface="Calibri" pitchFamily="34" charset="-122"/>
                          <a:cs typeface="Calibri" pitchFamily="34" charset="-120"/>
                        </a:rPr>
                        <a:t>+45,000</a:t>
                      </a:r>
                      <a:endParaRPr lang="en-US" sz="1200" dirty="0">
                        <a:latin typeface="Calibri" charset="0"/>
                        <a:ea typeface="Calibri" charset="0"/>
                        <a:cs typeface="Calibri" charset="0"/>
                      </a:endParaRPr>
                    </a:p>
                  </a:txBody>
                  <a:tcPr marL="36576" marR="36576" marT="36576" marB="36576" anchor="ctr">
                    <a:lnL w="9525" cap="flat" cmpd="sng" algn="ctr">
                      <a:solidFill>
                        <a:srgbClr val="DCD4E8"/>
                      </a:solidFill>
                      <a:prstDash val="solid"/>
                      <a:round/>
                      <a:headEnd type="none" w="med" len="med"/>
                      <a:tailEnd type="none" w="med" len="med"/>
                    </a:lnL>
                    <a:lnR w="9525" cap="flat" cmpd="sng" algn="ctr">
                      <a:solidFill>
                        <a:srgbClr val="DCD4E8"/>
                      </a:solidFill>
                      <a:prstDash val="solid"/>
                      <a:round/>
                      <a:headEnd type="none" w="med" len="med"/>
                      <a:tailEnd type="none" w="med" len="med"/>
                    </a:lnR>
                    <a:lnT w="9525" cap="flat" cmpd="sng" algn="ctr">
                      <a:solidFill>
                        <a:srgbClr val="DCD4E8"/>
                      </a:solidFill>
                      <a:prstDash val="solid"/>
                      <a:round/>
                      <a:headEnd type="none" w="med" len="med"/>
                      <a:tailEnd type="none" w="med" len="med"/>
                    </a:lnT>
                    <a:lnB w="9525" cap="flat" cmpd="sng" algn="ctr">
                      <a:solidFill>
                        <a:srgbClr val="DCD4E8"/>
                      </a:solidFill>
                      <a:prstDash val="solid"/>
                      <a:round/>
                      <a:headEnd type="none" w="med" len="med"/>
                      <a:tailEnd type="none" w="med" len="med"/>
                    </a:lnB>
                    <a:solidFill>
                      <a:srgbClr val="FFFFFF"/>
                    </a:solidFill>
                  </a:tcPr>
                </a:tc>
              </a:tr>
            </a:tbl>
          </a:graphicData>
        </a:graphic>
      </p:graphicFrame>
      <p:sp>
        <p:nvSpPr>
          <p:cNvPr id="41" name="Text 35"/>
          <p:cNvSpPr/>
          <p:nvPr/>
        </p:nvSpPr>
        <p:spPr>
          <a:xfrm>
            <a:off x="4224528" y="4846320"/>
            <a:ext cx="3867912" cy="859536"/>
          </a:xfrm>
          <a:prstGeom prst="rect">
            <a:avLst/>
          </a:prstGeom>
          <a:solidFill>
            <a:srgbClr val="2A0A45"/>
          </a:solidFill>
          <a:ln/>
        </p:spPr>
        <p:txBody>
          <a:bodyPr wrap="square" lIns="762" tIns="762" rIns="762" bIns="762" rtlCol="0" anchor="ctr"/>
          <a:lstStyle/>
          <a:p>
            <a:pPr indent="0" marL="0">
              <a:lnSpc>
                <a:spcPct val="98000"/>
              </a:lnSpc>
              <a:buNone/>
            </a:pPr>
            <a:r>
              <a:rPr lang="en-US" sz="1200" dirty="0">
                <a:solidFill>
                  <a:srgbClr val="FFFFFF"/>
                </a:solidFill>
                <a:latin typeface="Calibri" pitchFamily="34" charset="0"/>
                <a:ea typeface="Calibri" pitchFamily="34" charset="-122"/>
                <a:cs typeface="Calibri" pitchFamily="34" charset="-120"/>
              </a:rPr>
              <a:t>We show the number our own maths produces and </a:t>
            </a:r>
            <a:pPr indent="0" marL="0">
              <a:lnSpc>
                <a:spcPct val="98000"/>
              </a:lnSpc>
              <a:buNone/>
            </a:pPr>
            <a:r>
              <a:rPr lang="en-US" sz="1200" b="1" dirty="0">
                <a:solidFill>
                  <a:srgbClr val="C98CFF"/>
                </a:solidFill>
                <a:latin typeface="Calibri" pitchFamily="34" charset="0"/>
                <a:ea typeface="Calibri" pitchFamily="34" charset="-122"/>
                <a:cs typeface="Calibri" pitchFamily="34" charset="-120"/>
              </a:rPr>
              <a:t>refuse to claim it</a:t>
            </a:r>
            <a:pPr indent="0" marL="0">
              <a:lnSpc>
                <a:spcPct val="98000"/>
              </a:lnSpc>
              <a:buNone/>
            </a:pPr>
            <a:r>
              <a:rPr lang="en-US" sz="1200" dirty="0">
                <a:solidFill>
                  <a:srgbClr val="FFFFFF"/>
                </a:solidFill>
                <a:latin typeface="Calibri" pitchFamily="34" charset="0"/>
                <a:ea typeface="Calibri" pitchFamily="34" charset="-122"/>
                <a:cs typeface="Calibri" pitchFamily="34" charset="-120"/>
              </a:rPr>
              <a:t> — the −32,800 is the honest price of concentrating on 20 cities.</a:t>
            </a:r>
            <a:endParaRPr lang="en-US" sz="1200" dirty="0"/>
          </a:p>
        </p:txBody>
      </p:sp>
      <p:sp>
        <p:nvSpPr>
          <p:cNvPr id="42" name="Text 36"/>
          <p:cNvSpPr/>
          <p:nvPr/>
        </p:nvSpPr>
        <p:spPr>
          <a:xfrm>
            <a:off x="4224528" y="5779008"/>
            <a:ext cx="3867912" cy="658368"/>
          </a:xfrm>
          <a:prstGeom prst="rect">
            <a:avLst/>
          </a:prstGeom>
          <a:noFill/>
          <a:ln/>
        </p:spPr>
        <p:txBody>
          <a:bodyPr wrap="square" lIns="0" tIns="0" rIns="0" bIns="0" rtlCol="0" anchor="ctr"/>
          <a:lstStyle/>
          <a:p>
            <a:pPr indent="0" marL="0">
              <a:lnSpc>
                <a:spcPct val="98000"/>
              </a:lnSpc>
              <a:buNone/>
            </a:pPr>
            <a:r>
              <a:rPr lang="en-US" sz="1200" dirty="0">
                <a:solidFill>
                  <a:srgbClr val="3A3838"/>
                </a:solidFill>
                <a:latin typeface="Calibri" pitchFamily="34" charset="0"/>
                <a:ea typeface="Calibri" pitchFamily="34" charset="-122"/>
                <a:cs typeface="Calibri" pitchFamily="34" charset="-120"/>
              </a:rPr>
              <a:t>Return: </a:t>
            </a:r>
            <a:pPr indent="0" marL="0">
              <a:lnSpc>
                <a:spcPct val="98000"/>
              </a:lnSpc>
              <a:buNone/>
            </a:pPr>
            <a:r>
              <a:rPr lang="en-US" sz="1200" b="1" dirty="0">
                <a:solidFill>
                  <a:srgbClr val="3A3838"/>
                </a:solidFill>
                <a:latin typeface="Calibri" pitchFamily="34" charset="0"/>
                <a:ea typeface="Calibri" pitchFamily="34" charset="-122"/>
                <a:cs typeface="Calibri" pitchFamily="34" charset="-120"/>
              </a:rPr>
              <a:t>₹210 + ₹524 + ₹943 cr = ₹1,677 cr cumulative vs ₹750 cr</a:t>
            </a:r>
            <a:pPr indent="0" marL="0">
              <a:lnSpc>
                <a:spcPct val="98000"/>
              </a:lnSpc>
              <a:buNone/>
            </a:pPr>
            <a:r>
              <a:rPr lang="en-US" sz="1200" dirty="0">
                <a:solidFill>
                  <a:srgbClr val="3A3838"/>
                </a:solidFill>
                <a:latin typeface="Calibri" pitchFamily="34" charset="0"/>
                <a:ea typeface="Calibri" pitchFamily="34" charset="-122"/>
                <a:cs typeface="Calibri" pitchFamily="34" charset="-120"/>
              </a:rPr>
              <a:t> — and the ₹943 cr run-rate continues past Year 3.</a:t>
            </a:r>
            <a:endParaRPr lang="en-US" sz="1200" dirty="0"/>
          </a:p>
        </p:txBody>
      </p:sp>
      <p:sp>
        <p:nvSpPr>
          <p:cNvPr id="43" name="Shape 37"/>
          <p:cNvSpPr/>
          <p:nvPr/>
        </p:nvSpPr>
        <p:spPr>
          <a:xfrm>
            <a:off x="8275320" y="1920240"/>
            <a:ext cx="292608" cy="292608"/>
          </a:xfrm>
          <a:prstGeom prst="ellipse">
            <a:avLst/>
          </a:prstGeom>
          <a:solidFill>
            <a:srgbClr val="A100FF"/>
          </a:solidFill>
          <a:ln w="12700">
            <a:solidFill>
              <a:srgbClr val="333333"/>
            </a:solidFill>
            <a:prstDash val="solid"/>
          </a:ln>
        </p:spPr>
      </p:sp>
      <p:sp>
        <p:nvSpPr>
          <p:cNvPr id="44" name="Text 38"/>
          <p:cNvSpPr/>
          <p:nvPr/>
        </p:nvSpPr>
        <p:spPr>
          <a:xfrm>
            <a:off x="8275320" y="1920240"/>
            <a:ext cx="292608" cy="29260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45" name="Text 39"/>
          <p:cNvSpPr/>
          <p:nvPr/>
        </p:nvSpPr>
        <p:spPr>
          <a:xfrm>
            <a:off x="8659368" y="1929384"/>
            <a:ext cx="3474720" cy="292608"/>
          </a:xfrm>
          <a:prstGeom prst="rect">
            <a:avLst/>
          </a:prstGeom>
          <a:noFill/>
          <a:ln/>
        </p:spPr>
        <p:txBody>
          <a:bodyPr wrap="square" lIns="0" tIns="0" rIns="0" bIns="0" rtlCol="0" anchor="ctr"/>
          <a:lstStyle/>
          <a:p>
            <a:pPr indent="0" marL="0">
              <a:buNone/>
            </a:pPr>
            <a:r>
              <a:rPr lang="en-US" sz="1350" b="1" dirty="0">
                <a:solidFill>
                  <a:srgbClr val="2A0A45"/>
                </a:solidFill>
                <a:latin typeface="Calibri" pitchFamily="34" charset="0"/>
                <a:ea typeface="Calibri" pitchFamily="34" charset="-122"/>
                <a:cs typeface="Calibri" pitchFamily="34" charset="-120"/>
              </a:rPr>
              <a:t>If we are wrong</a:t>
            </a:r>
            <a:endParaRPr lang="en-US" sz="1350" dirty="0"/>
          </a:p>
        </p:txBody>
      </p:sp>
      <p:graphicFrame>
        <p:nvGraphicFramePr>
          <p:cNvPr id="46" name="Chart 0" descr=""/>
          <p:cNvGraphicFramePr/>
          <p:nvPr/>
        </p:nvGraphicFramePr>
        <p:xfrm>
          <a:off x="8275320" y="2249424"/>
          <a:ext cx="3776472" cy="1691640"/>
        </p:xfrm>
        <a:graphic xmlns:a="http://schemas.openxmlformats.org/drawingml/2006/main">
          <a:graphicData uri="http://schemas.openxmlformats.org/drawingml/2006/chart">
            <c:chart xmlns:c="http://schemas.openxmlformats.org/drawingml/2006/chart" r:id="rId2"/>
          </a:graphicData>
        </a:graphic>
      </p:graphicFrame>
      <p:sp>
        <p:nvSpPr>
          <p:cNvPr id="47" name="Text 40"/>
          <p:cNvSpPr/>
          <p:nvPr/>
        </p:nvSpPr>
        <p:spPr>
          <a:xfrm>
            <a:off x="8275320" y="4023360"/>
            <a:ext cx="3776472" cy="822960"/>
          </a:xfrm>
          <a:prstGeom prst="rect">
            <a:avLst/>
          </a:prstGeom>
          <a:noFill/>
          <a:ln/>
        </p:spPr>
        <p:txBody>
          <a:bodyPr wrap="square" lIns="0" tIns="0" rIns="0" bIns="0" rtlCol="0" anchor="ctr"/>
          <a:lstStyle/>
          <a:p>
            <a:pPr indent="0" marL="0">
              <a:lnSpc>
                <a:spcPct val="98000"/>
              </a:lnSpc>
              <a:buNone/>
            </a:pPr>
            <a:r>
              <a:rPr lang="en-US" sz="1200" dirty="0">
                <a:solidFill>
                  <a:srgbClr val="3A3838"/>
                </a:solidFill>
                <a:latin typeface="Calibri" pitchFamily="34" charset="0"/>
                <a:ea typeface="Calibri" pitchFamily="34" charset="-122"/>
                <a:cs typeface="Calibri" pitchFamily="34" charset="-120"/>
              </a:rPr>
              <a:t>Even at 80% adoption the programme clears its ₹750 cr cost. If rivals also grow, the commitment is </a:t>
            </a:r>
            <a:pPr indent="0" marL="0">
              <a:lnSpc>
                <a:spcPct val="98000"/>
              </a:lnSpc>
              <a:buNone/>
            </a:pPr>
            <a:r>
              <a:rPr lang="en-US" sz="1200" b="1" dirty="0">
                <a:solidFill>
                  <a:srgbClr val="3A3838"/>
                </a:solidFill>
                <a:latin typeface="Calibri" pitchFamily="34" charset="0"/>
                <a:ea typeface="Calibri" pitchFamily="34" charset="-122"/>
                <a:cs typeface="Calibri" pitchFamily="34" charset="-120"/>
              </a:rPr>
              <a:t>absolute +1.8pp</a:t>
            </a:r>
            <a:pPr indent="0" marL="0">
              <a:lnSpc>
                <a:spcPct val="98000"/>
              </a:lnSpc>
              <a:buNone/>
            </a:pPr>
            <a:r>
              <a:rPr lang="en-US" sz="1200" dirty="0">
                <a:solidFill>
                  <a:srgbClr val="3A3838"/>
                </a:solidFill>
                <a:latin typeface="Calibri" pitchFamily="34" charset="0"/>
                <a:ea typeface="Calibri" pitchFamily="34" charset="-122"/>
                <a:cs typeface="Calibri" pitchFamily="34" charset="-120"/>
              </a:rPr>
              <a:t>, not a rank we do not control.</a:t>
            </a:r>
            <a:endParaRPr lang="en-US" sz="1200" dirty="0"/>
          </a:p>
        </p:txBody>
      </p:sp>
      <p:sp>
        <p:nvSpPr>
          <p:cNvPr id="48" name="Text 41"/>
          <p:cNvSpPr/>
          <p:nvPr/>
        </p:nvSpPr>
        <p:spPr>
          <a:xfrm>
            <a:off x="8275320" y="4937760"/>
            <a:ext cx="3776472" cy="1188720"/>
          </a:xfrm>
          <a:prstGeom prst="rect">
            <a:avLst/>
          </a:prstGeom>
          <a:solidFill>
            <a:srgbClr val="F6F1FC"/>
          </a:solidFill>
          <a:ln w="19050">
            <a:solidFill>
              <a:srgbClr val="A100FF"/>
            </a:solidFill>
          </a:ln>
        </p:spPr>
        <p:txBody>
          <a:bodyPr wrap="square" lIns="1270" tIns="1270" rIns="1270" bIns="1270" rtlCol="0" anchor="ctr"/>
          <a:lstStyle/>
          <a:p>
            <a:pPr indent="0" marL="0">
              <a:lnSpc>
                <a:spcPct val="98000"/>
              </a:lnSpc>
              <a:buNone/>
            </a:pPr>
            <a:r>
              <a:rPr lang="en-US" sz="1200" dirty="0">
                <a:solidFill>
                  <a:srgbClr val="000000"/>
                </a:solidFill>
                <a:latin typeface="Calibri" pitchFamily="34" charset="0"/>
                <a:ea typeface="Calibri" pitchFamily="34" charset="-122"/>
                <a:cs typeface="Calibri" pitchFamily="34" charset="-120"/>
              </a:rPr>
              <a:t>The largest risk is </a:t>
            </a:r>
            <a:pPr indent="0" marL="0">
              <a:lnSpc>
                <a:spcPct val="98000"/>
              </a:lnSpc>
              <a:buNone/>
            </a:pPr>
            <a:r>
              <a:rPr lang="en-US" sz="1200" b="1" dirty="0">
                <a:solidFill>
                  <a:srgbClr val="A100FF"/>
                </a:solidFill>
                <a:latin typeface="Calibri" pitchFamily="34" charset="0"/>
                <a:ea typeface="Calibri" pitchFamily="34" charset="-122"/>
                <a:cs typeface="Calibri" pitchFamily="34" charset="-120"/>
              </a:rPr>
              <a:t>repeating the last programme</a:t>
            </a:r>
            <a:pPr indent="0" marL="0">
              <a:lnSpc>
                <a:spcPct val="98000"/>
              </a:lnSpc>
              <a:buNone/>
            </a:pPr>
            <a:r>
              <a:rPr lang="en-US" sz="1200" dirty="0">
                <a:solidFill>
                  <a:srgbClr val="000000"/>
                </a:solidFill>
                <a:latin typeface="Calibri" pitchFamily="34" charset="0"/>
                <a:ea typeface="Calibri" pitchFamily="34" charset="-122"/>
                <a:cs typeface="Calibri" pitchFamily="34" charset="-120"/>
              </a:rPr>
              <a:t> — many initiatives, no proven value. Gates, matched controls and a CFO-owned ledger exist to prevent exactly that. </a:t>
            </a:r>
            <a:pPr indent="0" marL="0">
              <a:lnSpc>
                <a:spcPct val="98000"/>
              </a:lnSpc>
              <a:buNone/>
            </a:pPr>
            <a:r>
              <a:rPr lang="en-US" sz="1200" b="1" dirty="0">
                <a:solidFill>
                  <a:srgbClr val="3A3838"/>
                </a:solidFill>
                <a:latin typeface="Calibri" pitchFamily="34" charset="0"/>
                <a:ea typeface="Calibri" pitchFamily="34" charset="-122"/>
                <a:cs typeface="Calibri" pitchFamily="34" charset="-120"/>
              </a:rPr>
              <a:t>That is the deck's final claim, and its first design principle.</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2026-08-06T20:33:33Z</dcterms:created>
  <dcterms:modified xsi:type="dcterms:W3CDTF">2026-08-06T20:33:33Z</dcterms:modified>
</cp:coreProperties>
</file>